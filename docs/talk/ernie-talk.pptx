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Readmissions</c:v>
                </c:pt>
              </c:strCache>
            </c:strRef>
          </c:tx>
          <c:spPr>
            <a:solidFill>
              <a:srgbClr val="1E40AF"/>
            </a:solidFill>
            <a:effectLst/>
          </c:spPr>
          <c:invertIfNegative val="0"/>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cat>
            <c:multiLvlStrRef>
              <c:f>Sheet1!$A$2:$A$6</c:f>
              <c:multiLvlStrCache>
                <c:ptCount val="5"/>
                <c:lvl>
                  <c:pt idx="0">
                    <c:v>Septicemia</c:v>
                  </c:pt>
                  <c:pt idx="1">
                    <c:v>Heart failure</c:v>
                  </c:pt>
                  <c:pt idx="2">
                    <c:v>Kidney failure</c:v>
                  </c:pt>
                  <c:pt idx="3">
                    <c:v>Pneumonia</c:v>
                  </c:pt>
                  <c:pt idx="4">
                    <c:v>Diabetes with complications</c:v>
                  </c:pt>
                </c:lvl>
              </c:multiLvlStrCache>
            </c:multiLvlStrRef>
          </c:cat>
          <c:val>
            <c:numRef>
              <c:f>Sheet1!$B$2:$B$6</c:f>
              <c:numCache>
                <c:formatCode>General</c:formatCode>
                <c:ptCount val="5"/>
                <c:pt idx="0">
                  <c:v>207.3</c:v>
                </c:pt>
                <c:pt idx="1">
                  <c:v>147.8</c:v>
                </c:pt>
                <c:pt idx="2">
                  <c:v>60</c:v>
                </c:pt>
                <c:pt idx="3">
                  <c:v>58.9</c:v>
                </c:pt>
                <c:pt idx="4">
                  <c:v>58.7</c:v>
                </c:pt>
              </c:numCache>
            </c:numRef>
          </c:val>
        </c:ser>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breath: "This is ernie, a daily visit for someone like Margaret. Five minutes: who she is, what is missing in her care, what we built, how it was built,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Unrecognised in 60 to 75 percent of cases even where clinicians are looking, and nothing at home looks at all. The thesis in one line: delirium is a change from your own baseline, and the home never had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cost of coming back onto the hospital: a readmission penalty is a haircut on every Medicare inpatient payment for a year, up to three percent. Sepsis and heart failure send the most people back; delirium is not a category, it rides inside those stays and more than doubles the odds of returning. A stay with delirium bills about eight thousand dollars more. A quarter of readmissions are judged avoidable, and a third of delirium is preventable with cheap measures. The outcome is decided at home, between visits, and nobody is there. So: a daily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3:30. Play the 75-second clip, or click through. She signs in (a motor baseline; the date is the orientation item). She answers a nurse's questions in her own words; a model reads what she meant and never advises. She does a puzzle and her granddaughter joins (attention, visuospatial, and the reason to open the app). Goodbye. Nothing on her screen is ever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Same visit, real numbers. Five ordinary signings form her baseline; today she took 4.5 seconds against her usual 3.1 and paused four times longer between strokes. To the eye the two look the same. Nine features, robust z against her own usual. The family gets one plain sentence; she gets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 Built as a pipeline, not a one-off. A research agent produced the insight map and the 80+ criteria. Nine sketches on one doc template, product and engineering together. A component kit with the criteria baked in, synced to Claude Design. One small web service; Claude reads her replies as data and never advises. And a reviewer in the loop: before any UI change merges, a senior-centred critic drives the real page and blocks anything an 84-year-old could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spoken. Left in the deck so every number on slides 2 and 3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3035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Margaret is 84.</a:t>
            </a:r>
            <a:endParaRPr lang="en-US" sz="3200" dirty="0"/>
          </a:p>
        </p:txBody>
      </p:sp>
      <p:sp>
        <p:nvSpPr>
          <p:cNvPr id="3" name="Text 1"/>
          <p:cNvSpPr txBox="1"/>
          <p:nvPr/>
        </p:nvSpPr>
        <p:spPr>
          <a:xfrm>
            <a:off x="548640" y="1051560"/>
            <a:ext cx="5120640" cy="1005840"/>
          </a:xfrm>
          <a:prstGeom prst="rect">
            <a:avLst/>
          </a:prstGeom>
          <a:noFill/>
          <a:ln/>
        </p:spPr>
        <p:txBody>
          <a:bodyPr wrap="square" lIns="0" tIns="0" rIns="0" bIns="0" rtlCol="0" anchor="ctr"/>
          <a:lstStyle/>
          <a:p>
            <a:pPr indent="0" marL="0">
              <a:buNone/>
            </a:pPr>
            <a:r>
              <a:rPr lang="en-US" sz="2100" dirty="0">
                <a:solidFill>
                  <a:srgbClr val="111827"/>
                </a:solidFill>
                <a:latin typeface="Arial" pitchFamily="34" charset="0"/>
                <a:ea typeface="Arial" pitchFamily="34" charset="-122"/>
                <a:cs typeface="Arial" pitchFamily="34" charset="-120"/>
              </a:rPr>
              <a:t>Every morning she signs Ernie’s book. This morning she was slower, and nobody was there to notice.</a:t>
            </a:r>
            <a:endParaRPr lang="en-US" sz="2100" dirty="0"/>
          </a:p>
        </p:txBody>
      </p:sp>
      <p:sp>
        <p:nvSpPr>
          <p:cNvPr id="4" name="Text 2"/>
          <p:cNvSpPr txBox="1"/>
          <p:nvPr/>
        </p:nvSpPr>
        <p:spPr>
          <a:xfrm>
            <a:off x="548640" y="2103120"/>
            <a:ext cx="5120640" cy="105156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The cause is usually cheap to fix on the day: an infection, dehydration, a new tablet. Missed, it ends in the emergency room.</a:t>
            </a:r>
            <a:endParaRPr lang="en-US" sz="1400" dirty="0"/>
          </a:p>
        </p:txBody>
      </p:sp>
      <p:sp>
        <p:nvSpPr>
          <p:cNvPr id="5" name="Shape 3"/>
          <p:cNvSpPr/>
          <p:nvPr/>
        </p:nvSpPr>
        <p:spPr>
          <a:xfrm>
            <a:off x="548640" y="3154680"/>
            <a:ext cx="2468880" cy="914400"/>
          </a:xfrm>
          <a:prstGeom prst="roundRect">
            <a:avLst>
              <a:gd name="adj" fmla="val 15000"/>
            </a:avLst>
          </a:prstGeom>
          <a:solidFill>
            <a:srgbClr val="DBEAFE"/>
          </a:solidFill>
          <a:ln w="12700">
            <a:solidFill>
              <a:srgbClr val="4B5563"/>
            </a:solidFill>
            <a:prstDash val="solid"/>
          </a:ln>
        </p:spPr>
      </p:sp>
      <p:sp>
        <p:nvSpPr>
          <p:cNvPr id="6" name="Text 4"/>
          <p:cNvSpPr txBox="1"/>
          <p:nvPr/>
        </p:nvSpPr>
        <p:spPr>
          <a:xfrm>
            <a:off x="68580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60–75%</a:t>
            </a:r>
            <a:endParaRPr lang="en-US" sz="2800" dirty="0"/>
          </a:p>
        </p:txBody>
      </p:sp>
      <p:sp>
        <p:nvSpPr>
          <p:cNvPr id="7" name="Text 5"/>
          <p:cNvSpPr txBox="1"/>
          <p:nvPr/>
        </p:nvSpPr>
        <p:spPr>
          <a:xfrm>
            <a:off x="68580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of cases unrecognised in hospital and in the ED ¹</a:t>
            </a:r>
            <a:endParaRPr lang="en-US" sz="1050" dirty="0"/>
          </a:p>
        </p:txBody>
      </p:sp>
      <p:sp>
        <p:nvSpPr>
          <p:cNvPr id="8" name="Shape 6"/>
          <p:cNvSpPr/>
          <p:nvPr/>
        </p:nvSpPr>
        <p:spPr>
          <a:xfrm>
            <a:off x="3200400" y="3154680"/>
            <a:ext cx="2468880" cy="914400"/>
          </a:xfrm>
          <a:prstGeom prst="roundRect">
            <a:avLst>
              <a:gd name="adj" fmla="val 15000"/>
            </a:avLst>
          </a:prstGeom>
          <a:solidFill>
            <a:srgbClr val="DBEAFE"/>
          </a:solidFill>
          <a:ln w="12700">
            <a:solidFill>
              <a:srgbClr val="4B5563"/>
            </a:solidFill>
            <a:prstDash val="solid"/>
          </a:ln>
        </p:spPr>
      </p:sp>
      <p:sp>
        <p:nvSpPr>
          <p:cNvPr id="9" name="Text 7"/>
          <p:cNvSpPr txBox="1"/>
          <p:nvPr/>
        </p:nvSpPr>
        <p:spPr>
          <a:xfrm>
            <a:off x="333756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7 M+</a:t>
            </a:r>
            <a:endParaRPr lang="en-US" sz="2800" dirty="0"/>
          </a:p>
        </p:txBody>
      </p:sp>
      <p:sp>
        <p:nvSpPr>
          <p:cNvPr id="10" name="Text 8"/>
          <p:cNvSpPr txBox="1"/>
          <p:nvPr/>
        </p:nvSpPr>
        <p:spPr>
          <a:xfrm>
            <a:off x="333756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hospitalised US adults affected each year ²</a:t>
            </a:r>
            <a:endParaRPr lang="en-US" sz="1050" dirty="0"/>
          </a:p>
        </p:txBody>
      </p:sp>
      <p:sp>
        <p:nvSpPr>
          <p:cNvPr id="11" name="Text 9"/>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300" dirty="0"/>
          </a:p>
        </p:txBody>
      </p:sp>
      <p:sp>
        <p:nvSpPr>
          <p:cNvPr id="12" name="Text 10"/>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¹ Unrecognised in up to 60% of hospital cases and ~75% in the ED: Delirium in Hospitalized Older Adults, narrative review (PMC 2026); Han et al., ED delirium screening (PMC 2024).  ² Frontiers in Public Health 2026, Medicare Current Beneficiary Survey 2019–21.</a:t>
            </a:r>
            <a:endParaRPr lang="en-US" sz="800" dirty="0"/>
          </a:p>
        </p:txBody>
      </p:sp>
      <p:sp>
        <p:nvSpPr>
          <p:cNvPr id="13" name="Shape 11"/>
          <p:cNvSpPr/>
          <p:nvPr/>
        </p:nvSpPr>
        <p:spPr>
          <a:xfrm>
            <a:off x="6437376" y="402336"/>
            <a:ext cx="2108199" cy="4224528"/>
          </a:xfrm>
          <a:prstGeom prst="roundRect">
            <a:avLst>
              <a:gd name="adj" fmla="val 9542"/>
            </a:avLst>
          </a:prstGeom>
          <a:solidFill>
            <a:srgbClr val="111827"/>
          </a:solidFill>
          <a:ln w="12700">
            <a:solidFill>
              <a:srgbClr val="4B5563"/>
            </a:solidFill>
            <a:prstDash val="solid"/>
          </a:ln>
        </p:spPr>
      </p:sp>
      <p:pic>
        <p:nvPicPr>
          <p:cNvPr id="14" name="Image 0" descr="../shots/03-book-page-c.png">    </p:cNvPr>
          <p:cNvPicPr>
            <a:picLocks noChangeAspect="1"/>
          </p:cNvPicPr>
          <p:nvPr/>
        </p:nvPicPr>
        <p:blipFill>
          <a:blip r:embed="rId1"/>
          <a:stretch>
            <a:fillRect/>
          </a:stretch>
        </p:blipFill>
        <p:spPr>
          <a:xfrm>
            <a:off x="6492240" y="457200"/>
            <a:ext cx="1998471" cy="4114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gap is the 30 days at home.</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Value-based care makes hospitals carry the cost of patients who come back. What sends Medicare patients back, and what a missed bad day costs.</a:t>
            </a:r>
            <a:endParaRPr lang="en-US" sz="1500" dirty="0"/>
          </a:p>
        </p:txBody>
      </p:sp>
      <p:sp>
        <p:nvSpPr>
          <p:cNvPr id="4" name="Text 2"/>
          <p:cNvSpPr txBox="1"/>
          <p:nvPr/>
        </p:nvSpPr>
        <p:spPr>
          <a:xfrm>
            <a:off x="548640" y="1508760"/>
            <a:ext cx="4846320" cy="274320"/>
          </a:xfrm>
          <a:prstGeom prst="rect">
            <a:avLst/>
          </a:prstGeom>
          <a:noFill/>
          <a:ln/>
        </p:spPr>
        <p:txBody>
          <a:bodyPr wrap="square" lIns="0" tIns="0" rIns="0" bIns="0" rtlCol="0" anchor="ctr"/>
          <a:lstStyle/>
          <a:p>
            <a:pPr indent="0" marL="0">
              <a:buNone/>
            </a:pPr>
            <a:r>
              <a:rPr lang="en-US" sz="1050" b="1" dirty="0">
                <a:solidFill>
                  <a:srgbClr val="111827"/>
                </a:solidFill>
                <a:latin typeface="Arial" pitchFamily="34" charset="0"/>
                <a:ea typeface="Arial" pitchFamily="34" charset="-122"/>
                <a:cs typeface="Arial" pitchFamily="34" charset="-120"/>
              </a:rPr>
              <a:t>Medicare 30-day readmissions by cause at first admission, 2020 ³</a:t>
            </a:r>
            <a:endParaRPr lang="en-US" sz="1050" dirty="0"/>
          </a:p>
        </p:txBody>
      </p:sp>
      <p:graphicFrame>
        <p:nvGraphicFramePr>
          <p:cNvPr id="5" name="Chart 0" descr=""/>
          <p:cNvGraphicFramePr/>
          <p:nvPr/>
        </p:nvGraphicFramePr>
        <p:xfrm>
          <a:off x="457200" y="1783080"/>
          <a:ext cx="4846320" cy="2331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114800"/>
            <a:ext cx="4754880" cy="50292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Delirium is not a diagnosis category here. It rides inside these stays and multiplies the odds of coming back by 2.6 ⁵. About 11% of Medicare hospital stays involve it ².</a:t>
            </a:r>
            <a:endParaRPr lang="en-US" sz="1050" dirty="0"/>
          </a:p>
        </p:txBody>
      </p:sp>
      <p:sp>
        <p:nvSpPr>
          <p:cNvPr id="7" name="Text 4"/>
          <p:cNvSpPr txBox="1"/>
          <p:nvPr/>
        </p:nvSpPr>
        <p:spPr>
          <a:xfrm>
            <a:off x="5669280" y="1463040"/>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$36 B</a:t>
            </a:r>
            <a:endParaRPr lang="en-US" sz="2100" dirty="0"/>
          </a:p>
        </p:txBody>
      </p:sp>
      <p:sp>
        <p:nvSpPr>
          <p:cNvPr id="8" name="Text 5"/>
          <p:cNvSpPr txBox="1"/>
          <p:nvPr/>
        </p:nvSpPr>
        <p:spPr>
          <a:xfrm>
            <a:off x="5669280" y="1792224"/>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a year: 2.0 M Medicare readmissions at $18,100 each, 17 per 100 stays ³</a:t>
            </a:r>
            <a:endParaRPr lang="en-US" sz="900" dirty="0"/>
          </a:p>
        </p:txBody>
      </p:sp>
      <p:sp>
        <p:nvSpPr>
          <p:cNvPr id="9" name="Text 6"/>
          <p:cNvSpPr txBox="1"/>
          <p:nvPr/>
        </p:nvSpPr>
        <p:spPr>
          <a:xfrm>
            <a:off x="5669280" y="2267712"/>
            <a:ext cx="3017520" cy="347472"/>
          </a:xfrm>
          <a:prstGeom prst="rect">
            <a:avLst/>
          </a:prstGeom>
          <a:noFill/>
          <a:ln/>
        </p:spPr>
        <p:txBody>
          <a:bodyPr wrap="square" lIns="0" tIns="0" rIns="0" bIns="0" rtlCol="0" anchor="ctr"/>
          <a:lstStyle/>
          <a:p>
            <a:pPr indent="0" marL="0">
              <a:buNone/>
            </a:pPr>
            <a:r>
              <a:rPr lang="en-US" sz="2100" b="1" dirty="0">
                <a:solidFill>
                  <a:srgbClr val="C8402F"/>
                </a:solidFill>
                <a:latin typeface="Arial" pitchFamily="34" charset="0"/>
                <a:ea typeface="Arial" pitchFamily="34" charset="-122"/>
                <a:cs typeface="Arial" pitchFamily="34" charset="-120"/>
              </a:rPr>
              <a:t>up to 3%</a:t>
            </a:r>
            <a:endParaRPr lang="en-US" sz="2100" dirty="0"/>
          </a:p>
        </p:txBody>
      </p:sp>
      <p:sp>
        <p:nvSpPr>
          <p:cNvPr id="10" name="Text 7"/>
          <p:cNvSpPr txBox="1"/>
          <p:nvPr/>
        </p:nvSpPr>
        <p:spPr>
          <a:xfrm>
            <a:off x="5669280" y="2596896"/>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off every Medicare inpatient payment for a year when a hospital’s readmissions run high. FY2022: 2,499 hospitals, $521 M ⁴</a:t>
            </a:r>
            <a:endParaRPr lang="en-US" sz="900" dirty="0"/>
          </a:p>
        </p:txBody>
      </p:sp>
      <p:sp>
        <p:nvSpPr>
          <p:cNvPr id="11" name="Text 8"/>
          <p:cNvSpPr txBox="1"/>
          <p:nvPr/>
        </p:nvSpPr>
        <p:spPr>
          <a:xfrm>
            <a:off x="5669280" y="3072384"/>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+$8,110</a:t>
            </a:r>
            <a:endParaRPr lang="en-US" sz="2100" dirty="0"/>
          </a:p>
        </p:txBody>
      </p:sp>
      <p:sp>
        <p:nvSpPr>
          <p:cNvPr id="12" name="Text 9"/>
          <p:cNvSpPr txBox="1"/>
          <p:nvPr/>
        </p:nvSpPr>
        <p:spPr>
          <a:xfrm>
            <a:off x="5669280" y="3401568"/>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in hospital charges when a stay involves delirium, against a stay that does not ²</a:t>
            </a:r>
            <a:endParaRPr lang="en-US" sz="900" dirty="0"/>
          </a:p>
        </p:txBody>
      </p:sp>
      <p:sp>
        <p:nvSpPr>
          <p:cNvPr id="13" name="Text 10"/>
          <p:cNvSpPr txBox="1"/>
          <p:nvPr/>
        </p:nvSpPr>
        <p:spPr>
          <a:xfrm>
            <a:off x="5669280" y="3877056"/>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~27%</a:t>
            </a:r>
            <a:endParaRPr lang="en-US" sz="2100" dirty="0"/>
          </a:p>
        </p:txBody>
      </p:sp>
      <p:sp>
        <p:nvSpPr>
          <p:cNvPr id="14" name="Text 11"/>
          <p:cNvSpPr txBox="1"/>
          <p:nvPr/>
        </p:nvSpPr>
        <p:spPr>
          <a:xfrm>
            <a:off x="5669280" y="4206240"/>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 readmissions judged avoidable (median of 34 studies). Delirium itself: 30–40% preventable ⁶</a:t>
            </a:r>
            <a:endParaRPr lang="en-US" sz="900" dirty="0"/>
          </a:p>
        </p:txBody>
      </p:sp>
      <p:sp>
        <p:nvSpPr>
          <p:cNvPr id="15" name="Text 12"/>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³ AHRQ HCUP Statistical Brief 307, Nationwide Readmissions Database 2020.  ⁴ CMS Hospital Readmissions Reduction Program; KFF, 10 Years of Hospital Readmissions Penalties (FY2022).  ⁵ Community hospital cohort, n = 8,645, OR 2.60 (PMC 2019).  ⁶ van Walraven et al., CMAJ 2011; Inouye et al., NEJM 1999 (HELP).</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No tests. Just a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She makes something every day: a signature, her own words, a finished picture. Each one is also a measurement.</a:t>
            </a:r>
            <a:endParaRPr lang="en-US" sz="1500" dirty="0"/>
          </a:p>
        </p:txBody>
      </p:sp>
      <p:sp>
        <p:nvSpPr>
          <p:cNvPr id="4" name="Shape 2"/>
          <p:cNvSpPr/>
          <p:nvPr/>
        </p:nvSpPr>
        <p:spPr>
          <a:xfrm>
            <a:off x="493776" y="1572768"/>
            <a:ext cx="1464247" cy="2898648"/>
          </a:xfrm>
          <a:prstGeom prst="roundRect">
            <a:avLst>
              <a:gd name="adj" fmla="val 13739"/>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27632"/>
            <a:ext cx="1354519" cy="2788920"/>
          </a:xfrm>
          <a:prstGeom prst="rect">
            <a:avLst/>
          </a:prstGeom>
        </p:spPr>
      </p:pic>
      <p:sp>
        <p:nvSpPr>
          <p:cNvPr id="6" name="Text 3"/>
          <p:cNvSpPr txBox="1"/>
          <p:nvPr/>
        </p:nvSpPr>
        <p:spPr>
          <a:xfrm>
            <a:off x="228600"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Sign the book</a:t>
            </a:r>
            <a:endParaRPr lang="en-US" sz="1300" dirty="0"/>
          </a:p>
        </p:txBody>
      </p:sp>
      <p:sp>
        <p:nvSpPr>
          <p:cNvPr id="7" name="Text 4"/>
          <p:cNvSpPr txBox="1"/>
          <p:nvPr/>
        </p:nvSpPr>
        <p:spPr>
          <a:xfrm>
            <a:off x="228600"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motor baseline · orientation</a:t>
            </a:r>
            <a:endParaRPr lang="en-US" sz="1000" dirty="0"/>
          </a:p>
        </p:txBody>
      </p:sp>
      <p:sp>
        <p:nvSpPr>
          <p:cNvPr id="8" name="Shape 5"/>
          <p:cNvSpPr/>
          <p:nvPr/>
        </p:nvSpPr>
        <p:spPr>
          <a:xfrm>
            <a:off x="2506663" y="1572768"/>
            <a:ext cx="1464247" cy="2898648"/>
          </a:xfrm>
          <a:prstGeom prst="roundRect">
            <a:avLst>
              <a:gd name="adj" fmla="val 13739"/>
            </a:avLst>
          </a:prstGeom>
          <a:solidFill>
            <a:srgbClr val="111827"/>
          </a:solidFill>
          <a:ln w="12700">
            <a:solidFill>
              <a:srgbClr val="4B5563"/>
            </a:solidFill>
            <a:prstDash val="solid"/>
          </a:ln>
        </p:spPr>
      </p:sp>
      <p:pic>
        <p:nvPicPr>
          <p:cNvPr id="9" name="Image 1" descr="../shots/05-chat-question-c.png">    </p:cNvPr>
          <p:cNvPicPr>
            <a:picLocks noChangeAspect="1"/>
          </p:cNvPicPr>
          <p:nvPr/>
        </p:nvPicPr>
        <p:blipFill>
          <a:blip r:embed="rId2"/>
          <a:stretch>
            <a:fillRect/>
          </a:stretch>
        </p:blipFill>
        <p:spPr>
          <a:xfrm>
            <a:off x="2561527" y="1627632"/>
            <a:ext cx="1354519" cy="2788920"/>
          </a:xfrm>
          <a:prstGeom prst="rect">
            <a:avLst/>
          </a:prstGeom>
        </p:spPr>
      </p:pic>
      <p:sp>
        <p:nvSpPr>
          <p:cNvPr id="10" name="Text 6"/>
          <p:cNvSpPr txBox="1"/>
          <p:nvPr/>
        </p:nvSpPr>
        <p:spPr>
          <a:xfrm>
            <a:off x="2241487"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few questions</a:t>
            </a:r>
            <a:endParaRPr lang="en-US" sz="1300" dirty="0"/>
          </a:p>
        </p:txBody>
      </p:sp>
      <p:sp>
        <p:nvSpPr>
          <p:cNvPr id="11" name="Text 7"/>
          <p:cNvSpPr txBox="1"/>
          <p:nvPr/>
        </p:nvSpPr>
        <p:spPr>
          <a:xfrm>
            <a:off x="2241487"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her own words · latency</a:t>
            </a:r>
            <a:endParaRPr lang="en-US" sz="1000" dirty="0"/>
          </a:p>
        </p:txBody>
      </p:sp>
      <p:sp>
        <p:nvSpPr>
          <p:cNvPr id="12" name="Shape 8"/>
          <p:cNvSpPr/>
          <p:nvPr/>
        </p:nvSpPr>
        <p:spPr>
          <a:xfrm>
            <a:off x="4519550" y="1572768"/>
            <a:ext cx="1464247" cy="2898648"/>
          </a:xfrm>
          <a:prstGeom prst="roundRect">
            <a:avLst>
              <a:gd name="adj" fmla="val 13739"/>
            </a:avLst>
          </a:prstGeom>
          <a:solidFill>
            <a:srgbClr val="111827"/>
          </a:solidFill>
          <a:ln w="12700">
            <a:solidFill>
              <a:srgbClr val="4B5563"/>
            </a:solidFill>
            <a:prstDash val="solid"/>
          </a:ln>
        </p:spPr>
      </p:sp>
      <p:pic>
        <p:nvPicPr>
          <p:cNvPr id="13" name="Image 2" descr="../shots/07-puzzle-anna-c.png">    </p:cNvPr>
          <p:cNvPicPr>
            <a:picLocks noChangeAspect="1"/>
          </p:cNvPicPr>
          <p:nvPr/>
        </p:nvPicPr>
        <p:blipFill>
          <a:blip r:embed="rId3"/>
          <a:stretch>
            <a:fillRect/>
          </a:stretch>
        </p:blipFill>
        <p:spPr>
          <a:xfrm>
            <a:off x="4574414" y="1627632"/>
            <a:ext cx="1354519" cy="2788920"/>
          </a:xfrm>
          <a:prstGeom prst="rect">
            <a:avLst/>
          </a:prstGeom>
        </p:spPr>
      </p:pic>
      <p:sp>
        <p:nvSpPr>
          <p:cNvPr id="14" name="Text 9"/>
          <p:cNvSpPr txBox="1"/>
          <p:nvPr/>
        </p:nvSpPr>
        <p:spPr>
          <a:xfrm>
            <a:off x="4254374"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puzzle, with Anna</a:t>
            </a:r>
            <a:endParaRPr lang="en-US" sz="1300" dirty="0"/>
          </a:p>
        </p:txBody>
      </p:sp>
      <p:sp>
        <p:nvSpPr>
          <p:cNvPr id="15" name="Text 10"/>
          <p:cNvSpPr txBox="1"/>
          <p:nvPr/>
        </p:nvSpPr>
        <p:spPr>
          <a:xfrm>
            <a:off x="4254374"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attention · space · company</a:t>
            </a:r>
            <a:endParaRPr lang="en-US" sz="1000" dirty="0"/>
          </a:p>
        </p:txBody>
      </p:sp>
      <p:sp>
        <p:nvSpPr>
          <p:cNvPr id="16" name="Shape 11"/>
          <p:cNvSpPr/>
          <p:nvPr/>
        </p:nvSpPr>
        <p:spPr>
          <a:xfrm>
            <a:off x="6532437" y="1572768"/>
            <a:ext cx="1464247" cy="2898648"/>
          </a:xfrm>
          <a:prstGeom prst="roundRect">
            <a:avLst>
              <a:gd name="adj" fmla="val 13739"/>
            </a:avLst>
          </a:prstGeom>
          <a:solidFill>
            <a:srgbClr val="111827"/>
          </a:solidFill>
          <a:ln w="12700">
            <a:solidFill>
              <a:srgbClr val="4B5563"/>
            </a:solidFill>
            <a:prstDash val="solid"/>
          </a:ln>
        </p:spPr>
      </p:sp>
      <p:pic>
        <p:nvPicPr>
          <p:cNvPr id="17" name="Image 3" descr="../shots/08-goodbye-c.png">    </p:cNvPr>
          <p:cNvPicPr>
            <a:picLocks noChangeAspect="1"/>
          </p:cNvPicPr>
          <p:nvPr/>
        </p:nvPicPr>
        <p:blipFill>
          <a:blip r:embed="rId4"/>
          <a:stretch>
            <a:fillRect/>
          </a:stretch>
        </p:blipFill>
        <p:spPr>
          <a:xfrm>
            <a:off x="6587301" y="1627632"/>
            <a:ext cx="1354519" cy="2788920"/>
          </a:xfrm>
          <a:prstGeom prst="rect">
            <a:avLst/>
          </a:prstGeom>
        </p:spPr>
      </p:pic>
      <p:sp>
        <p:nvSpPr>
          <p:cNvPr id="18" name="Text 12"/>
          <p:cNvSpPr txBox="1"/>
          <p:nvPr/>
        </p:nvSpPr>
        <p:spPr>
          <a:xfrm>
            <a:off x="6267261"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Goodbye</a:t>
            </a:r>
            <a:endParaRPr lang="en-US" sz="1300" dirty="0"/>
          </a:p>
        </p:txBody>
      </p:sp>
      <p:sp>
        <p:nvSpPr>
          <p:cNvPr id="19" name="Text 13"/>
          <p:cNvSpPr txBox="1"/>
          <p:nvPr/>
        </p:nvSpPr>
        <p:spPr>
          <a:xfrm>
            <a:off x="6267261"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did she come · how fast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What the phone saw.</a:t>
            </a:r>
            <a:endParaRPr lang="en-US" sz="3200" dirty="0"/>
          </a:p>
        </p:txBody>
      </p:sp>
      <p:sp>
        <p:nvSpPr>
          <p:cNvPr id="3" name="Shape 1"/>
          <p:cNvSpPr/>
          <p:nvPr/>
        </p:nvSpPr>
        <p:spPr>
          <a:xfrm>
            <a:off x="548640" y="1051560"/>
            <a:ext cx="4480560" cy="960120"/>
          </a:xfrm>
          <a:prstGeom prst="roundRect">
            <a:avLst>
              <a:gd name="adj" fmla="val 14286"/>
            </a:avLst>
          </a:prstGeom>
          <a:solidFill>
            <a:srgbClr val="FDE2E2"/>
          </a:solidFill>
          <a:ln w="19050">
            <a:solidFill>
              <a:srgbClr val="C8402F"/>
            </a:solidFill>
            <a:prstDash val="solid"/>
          </a:ln>
        </p:spPr>
      </p:sp>
      <p:sp>
        <p:nvSpPr>
          <p:cNvPr id="4" name="Text 2"/>
          <p:cNvSpPr txBox="1"/>
          <p:nvPr/>
        </p:nvSpPr>
        <p:spPr>
          <a:xfrm>
            <a:off x="731520" y="1115568"/>
            <a:ext cx="4114800" cy="822960"/>
          </a:xfrm>
          <a:prstGeom prst="rect">
            <a:avLst/>
          </a:prstGeom>
          <a:noFill/>
          <a:ln/>
        </p:spPr>
        <p:txBody>
          <a:bodyPr wrap="square" lIns="0" tIns="0" rIns="0" bIns="0" rtlCol="0" anchor="ctr"/>
          <a:lstStyle/>
          <a:p>
            <a:pPr indent="0" marL="0">
              <a:buNone/>
            </a:pPr>
            <a:r>
              <a:rPr lang="en-US" sz="1600" i="1" dirty="0">
                <a:solidFill>
                  <a:srgbClr val="C8402F"/>
                </a:solidFill>
                <a:latin typeface="Arial" pitchFamily="34" charset="0"/>
                <a:ea typeface="Arial" pitchFamily="34" charset="-122"/>
                <a:cs typeface="Arial" pitchFamily="34" charset="-120"/>
              </a:rPr>
              <a:t>“Margaret’s signature was slower, more hesitant and a different shape than usual today.”</a:t>
            </a:r>
            <a:endParaRPr lang="en-US" sz="1600" dirty="0"/>
          </a:p>
        </p:txBody>
      </p:sp>
      <p:pic>
        <p:nvPicPr>
          <p:cNvPr id="5" name="Image 0" descr="../shots/14-sig-baseline.png">    </p:cNvPr>
          <p:cNvPicPr>
            <a:picLocks noChangeAspect="1"/>
          </p:cNvPicPr>
          <p:nvPr/>
        </p:nvPicPr>
        <p:blipFill>
          <a:blip r:embed="rId1"/>
          <a:stretch>
            <a:fillRect/>
          </a:stretch>
        </p:blipFill>
        <p:spPr>
          <a:xfrm>
            <a:off x="548640" y="2194560"/>
            <a:ext cx="2103120" cy="1488057"/>
          </a:xfrm>
          <a:prstGeom prst="rect">
            <a:avLst/>
          </a:prstGeom>
        </p:spPr>
      </p:pic>
      <p:pic>
        <p:nvPicPr>
          <p:cNvPr id="6" name="Image 1" descr="../shots/15-sig-today.png">    </p:cNvPr>
          <p:cNvPicPr>
            <a:picLocks noChangeAspect="1"/>
          </p:cNvPicPr>
          <p:nvPr/>
        </p:nvPicPr>
        <p:blipFill>
          <a:blip r:embed="rId2"/>
          <a:stretch>
            <a:fillRect/>
          </a:stretch>
        </p:blipFill>
        <p:spPr>
          <a:xfrm>
            <a:off x="2926080" y="2194560"/>
            <a:ext cx="2103120" cy="1488057"/>
          </a:xfrm>
          <a:prstGeom prst="rect">
            <a:avLst/>
          </a:prstGeom>
        </p:spPr>
      </p:pic>
      <p:sp>
        <p:nvSpPr>
          <p:cNvPr id="7" name="Text 3"/>
          <p:cNvSpPr txBox="1"/>
          <p:nvPr/>
        </p:nvSpPr>
        <p:spPr>
          <a:xfrm>
            <a:off x="548640" y="3794760"/>
            <a:ext cx="4480560" cy="36576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usual, and today. It looks the same. It wasn’t.</a:t>
            </a:r>
            <a:endParaRPr lang="en-US" sz="1300" dirty="0"/>
          </a:p>
        </p:txBody>
      </p:sp>
      <p:sp>
        <p:nvSpPr>
          <p:cNvPr id="8" name="Text 4"/>
          <p:cNvSpPr txBox="1"/>
          <p:nvPr/>
        </p:nvSpPr>
        <p:spPr>
          <a:xfrm>
            <a:off x="548640" y="4206240"/>
            <a:ext cx="4480560" cy="4572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the family sees. Margaret sees a thank-you and her page in the book.</a:t>
            </a:r>
            <a:endParaRPr lang="en-US" sz="1100" dirty="0"/>
          </a:p>
        </p:txBody>
      </p:sp>
      <p:pic>
        <p:nvPicPr>
          <p:cNvPr id="9" name="Image 2" descr="../shots/ztable-5.png">    </p:cNvPr>
          <p:cNvPicPr>
            <a:picLocks noChangeAspect="1"/>
          </p:cNvPicPr>
          <p:nvPr/>
        </p:nvPicPr>
        <p:blipFill>
          <a:blip r:embed="rId3"/>
          <a:stretch>
            <a:fillRect/>
          </a:stretch>
        </p:blipFill>
        <p:spPr>
          <a:xfrm>
            <a:off x="5349240" y="1051560"/>
            <a:ext cx="3429000" cy="1330083"/>
          </a:xfrm>
          <a:prstGeom prst="rect">
            <a:avLst/>
          </a:prstGeom>
        </p:spPr>
      </p:pic>
      <p:sp>
        <p:nvSpPr>
          <p:cNvPr id="10" name="Text 5"/>
          <p:cNvSpPr txBox="1"/>
          <p:nvPr/>
        </p:nvSpPr>
        <p:spPr>
          <a:xfrm>
            <a:off x="5349240" y="251460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Nine features against her own five-day baseline: time to start, total time, pauses, strokes, speed, smoothness, size, shape.</a:t>
            </a:r>
            <a:endParaRPr lang="en-US" sz="1100" dirty="0"/>
          </a:p>
        </p:txBody>
      </p:sp>
      <p:sp>
        <p:nvSpPr>
          <p:cNvPr id="11" name="Text 6"/>
          <p:cNvSpPr txBox="1"/>
          <p:nvPr/>
        </p:nvSpPr>
        <p:spPr>
          <a:xfrm>
            <a:off x="5349240" y="324612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Robust z: today minus her usual, over her usual spread. Well outside on two features is a flag. Three days is a trend.</a:t>
            </a:r>
            <a:endParaRPr lang="en-US" sz="1100" dirty="0"/>
          </a:p>
        </p:txBody>
      </p:sp>
      <p:sp>
        <p:nvSpPr>
          <p:cNvPr id="12" name="Text 7"/>
          <p:cNvSpPr txBox="1"/>
          <p:nvPr/>
        </p:nvSpPr>
        <p:spPr>
          <a:xfrm>
            <a:off x="5349240" y="3977640"/>
            <a:ext cx="3429000" cy="274320"/>
          </a:xfrm>
          <a:prstGeom prst="rect">
            <a:avLst/>
          </a:prstGeom>
          <a:noFill/>
          <a:ln/>
        </p:spPr>
        <p:txBody>
          <a:bodyPr wrap="square" lIns="0" tIns="0" rIns="0" bIns="0" rtlCol="0" anchor="ctr"/>
          <a:lstStyle/>
          <a:p>
            <a:pPr indent="0" marL="0">
              <a:buNone/>
            </a:pPr>
            <a:r>
              <a:rPr lang="en-US" sz="900" i="1" dirty="0">
                <a:solidFill>
                  <a:srgbClr val="9CA3AF"/>
                </a:solidFill>
                <a:latin typeface="Arial" pitchFamily="34" charset="0"/>
                <a:ea typeface="Arial" pitchFamily="34" charset="-122"/>
                <a:cs typeface="Arial" pitchFamily="34" charset="-120"/>
              </a:rPr>
              <a:t>Real numbers from the demo build.</a:t>
            </a:r>
            <a:endParaRPr lang="en-US" sz="900" dirty="0"/>
          </a:p>
        </p:txBody>
      </p:sp>
      <p:pic>
        <p:nvPicPr>
          <p:cNvPr id="13" name="Image 3" descr="../shots/doodle-cat-with-no-face-blue.png">    </p:cNvPr>
          <p:cNvPicPr>
            <a:picLocks noChangeAspect="1"/>
          </p:cNvPicPr>
          <p:nvPr/>
        </p:nvPicPr>
        <p:blipFill>
          <a:blip r:embed="rId4"/>
          <a:stretch>
            <a:fillRect/>
          </a:stretch>
        </p:blipFill>
        <p:spPr>
          <a:xfrm>
            <a:off x="7818120" y="4069080"/>
            <a:ext cx="960120"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How it was built.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A pipeline with a reviewer in it.</a:t>
            </a:r>
            <a:endParaRPr lang="en-US" sz="1500" dirty="0"/>
          </a:p>
        </p:txBody>
      </p:sp>
      <p:sp>
        <p:nvSpPr>
          <p:cNvPr id="4" name="Shape 2"/>
          <p:cNvSpPr/>
          <p:nvPr/>
        </p:nvSpPr>
        <p:spPr>
          <a:xfrm>
            <a:off x="548640" y="1600200"/>
            <a:ext cx="1874520" cy="1691640"/>
          </a:xfrm>
          <a:prstGeom prst="roundRect">
            <a:avLst>
              <a:gd name="adj" fmla="val 8108"/>
            </a:avLst>
          </a:prstGeom>
          <a:solidFill>
            <a:srgbClr val="F3F4F6"/>
          </a:solidFill>
          <a:ln w="12700">
            <a:solidFill>
              <a:srgbClr val="4B5563"/>
            </a:solidFill>
            <a:prstDash val="solid"/>
          </a:ln>
        </p:spPr>
      </p:sp>
      <p:sp>
        <p:nvSpPr>
          <p:cNvPr id="5" name="Text 3"/>
          <p:cNvSpPr txBox="1"/>
          <p:nvPr/>
        </p:nvSpPr>
        <p:spPr>
          <a:xfrm>
            <a:off x="7132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Research</a:t>
            </a:r>
            <a:endParaRPr lang="en-US" sz="1600" dirty="0"/>
          </a:p>
        </p:txBody>
      </p:sp>
      <p:pic>
        <p:nvPicPr>
          <p:cNvPr id="6" name="Image 0" descr="../shots/doodle-flower-with-no-petals-blue.png">    </p:cNvPr>
          <p:cNvPicPr>
            <a:picLocks noChangeAspect="1"/>
          </p:cNvPicPr>
          <p:nvPr/>
        </p:nvPicPr>
        <p:blipFill>
          <a:blip r:embed="rId1"/>
          <a:stretch>
            <a:fillRect/>
          </a:stretch>
        </p:blipFill>
        <p:spPr>
          <a:xfrm>
            <a:off x="1819656" y="1673352"/>
            <a:ext cx="530352" cy="530352"/>
          </a:xfrm>
          <a:prstGeom prst="rect">
            <a:avLst/>
          </a:prstGeom>
        </p:spPr>
      </p:pic>
      <p:sp>
        <p:nvSpPr>
          <p:cNvPr id="7" name="Text 4"/>
          <p:cNvSpPr txBox="1"/>
          <p:nvPr/>
        </p:nvSpPr>
        <p:spPr>
          <a:xfrm>
            <a:off x="7132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Claude research agent wrote the insight map and the 80+ design criteria.</a:t>
            </a:r>
            <a:endParaRPr lang="en-US" sz="1150" dirty="0"/>
          </a:p>
        </p:txBody>
      </p:sp>
      <p:sp>
        <p:nvSpPr>
          <p:cNvPr id="8" name="Shape 5"/>
          <p:cNvSpPr/>
          <p:nvPr/>
        </p:nvSpPr>
        <p:spPr>
          <a:xfrm>
            <a:off x="2441448" y="1965960"/>
            <a:ext cx="146304" cy="0"/>
          </a:xfrm>
          <a:prstGeom prst="line">
            <a:avLst/>
          </a:prstGeom>
          <a:noFill/>
          <a:ln w="25400">
            <a:solidFill>
              <a:srgbClr val="4B5563"/>
            </a:solidFill>
            <a:prstDash val="solid"/>
            <a:tailEnd type="triangle"/>
          </a:ln>
        </p:spPr>
      </p:sp>
      <p:sp>
        <p:nvSpPr>
          <p:cNvPr id="9" name="Shape 6"/>
          <p:cNvSpPr/>
          <p:nvPr/>
        </p:nvSpPr>
        <p:spPr>
          <a:xfrm>
            <a:off x="2606040" y="1600200"/>
            <a:ext cx="1874520" cy="1691640"/>
          </a:xfrm>
          <a:prstGeom prst="roundRect">
            <a:avLst>
              <a:gd name="adj" fmla="val 8108"/>
            </a:avLst>
          </a:prstGeom>
          <a:solidFill>
            <a:srgbClr val="F3F4F6"/>
          </a:solidFill>
          <a:ln w="12700">
            <a:solidFill>
              <a:srgbClr val="4B5563"/>
            </a:solidFill>
            <a:prstDash val="solid"/>
          </a:ln>
        </p:spPr>
      </p:sp>
      <p:sp>
        <p:nvSpPr>
          <p:cNvPr id="10" name="Text 7"/>
          <p:cNvSpPr txBox="1"/>
          <p:nvPr/>
        </p:nvSpPr>
        <p:spPr>
          <a:xfrm>
            <a:off x="27706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Sketches</a:t>
            </a:r>
            <a:endParaRPr lang="en-US" sz="1600" dirty="0"/>
          </a:p>
        </p:txBody>
      </p:sp>
      <p:pic>
        <p:nvPicPr>
          <p:cNvPr id="11" name="Image 1" descr="../shots/doodle-half-a-house-blue.png">    </p:cNvPr>
          <p:cNvPicPr>
            <a:picLocks noChangeAspect="1"/>
          </p:cNvPicPr>
          <p:nvPr/>
        </p:nvPicPr>
        <p:blipFill>
          <a:blip r:embed="rId2"/>
          <a:stretch>
            <a:fillRect/>
          </a:stretch>
        </p:blipFill>
        <p:spPr>
          <a:xfrm>
            <a:off x="3877056" y="1673352"/>
            <a:ext cx="530352" cy="530352"/>
          </a:xfrm>
          <a:prstGeom prst="rect">
            <a:avLst/>
          </a:prstGeom>
        </p:spPr>
      </p:pic>
      <p:sp>
        <p:nvSpPr>
          <p:cNvPr id="12" name="Text 8"/>
          <p:cNvSpPr txBox="1"/>
          <p:nvPr/>
        </p:nvSpPr>
        <p:spPr>
          <a:xfrm>
            <a:off x="27706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Nine design docs, one template. Product and engineering in one file.</a:t>
            </a:r>
            <a:endParaRPr lang="en-US" sz="1150" dirty="0"/>
          </a:p>
        </p:txBody>
      </p:sp>
      <p:sp>
        <p:nvSpPr>
          <p:cNvPr id="13" name="Shape 9"/>
          <p:cNvSpPr/>
          <p:nvPr/>
        </p:nvSpPr>
        <p:spPr>
          <a:xfrm>
            <a:off x="4498848" y="1965960"/>
            <a:ext cx="146304" cy="0"/>
          </a:xfrm>
          <a:prstGeom prst="line">
            <a:avLst/>
          </a:prstGeom>
          <a:noFill/>
          <a:ln w="25400">
            <a:solidFill>
              <a:srgbClr val="4B5563"/>
            </a:solidFill>
            <a:prstDash val="solid"/>
            <a:tailEnd type="triangle"/>
          </a:ln>
        </p:spPr>
      </p:sp>
      <p:sp>
        <p:nvSpPr>
          <p:cNvPr id="14" name="Shape 10"/>
          <p:cNvSpPr/>
          <p:nvPr/>
        </p:nvSpPr>
        <p:spPr>
          <a:xfrm>
            <a:off x="4663440" y="1600200"/>
            <a:ext cx="1874520" cy="1691640"/>
          </a:xfrm>
          <a:prstGeom prst="roundRect">
            <a:avLst>
              <a:gd name="adj" fmla="val 8108"/>
            </a:avLst>
          </a:prstGeom>
          <a:solidFill>
            <a:srgbClr val="F3F4F6"/>
          </a:solidFill>
          <a:ln w="12700">
            <a:solidFill>
              <a:srgbClr val="4B5563"/>
            </a:solidFill>
            <a:prstDash val="solid"/>
          </a:ln>
        </p:spPr>
      </p:sp>
      <p:sp>
        <p:nvSpPr>
          <p:cNvPr id="15" name="Text 11"/>
          <p:cNvSpPr txBox="1"/>
          <p:nvPr/>
        </p:nvSpPr>
        <p:spPr>
          <a:xfrm>
            <a:off x="48280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ernie-ui</a:t>
            </a:r>
            <a:endParaRPr lang="en-US" sz="1600" dirty="0"/>
          </a:p>
        </p:txBody>
      </p:sp>
      <p:pic>
        <p:nvPicPr>
          <p:cNvPr id="16" name="Image 2" descr="../shots/doodle-cat-with-no-face-blue.png">    </p:cNvPr>
          <p:cNvPicPr>
            <a:picLocks noChangeAspect="1"/>
          </p:cNvPicPr>
          <p:nvPr/>
        </p:nvPicPr>
        <p:blipFill>
          <a:blip r:embed="rId3"/>
          <a:stretch>
            <a:fillRect/>
          </a:stretch>
        </p:blipFill>
        <p:spPr>
          <a:xfrm>
            <a:off x="5934456" y="1673352"/>
            <a:ext cx="530352" cy="530352"/>
          </a:xfrm>
          <a:prstGeom prst="rect">
            <a:avLst/>
          </a:prstGeom>
        </p:spPr>
      </p:pic>
      <p:sp>
        <p:nvSpPr>
          <p:cNvPr id="17" name="Text 12"/>
          <p:cNvSpPr txBox="1"/>
          <p:nvPr/>
        </p:nvSpPr>
        <p:spPr>
          <a:xfrm>
            <a:off x="48280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component kit with the criteria baked in. Synced to Claude Design.</a:t>
            </a:r>
            <a:endParaRPr lang="en-US" sz="1150" dirty="0"/>
          </a:p>
        </p:txBody>
      </p:sp>
      <p:sp>
        <p:nvSpPr>
          <p:cNvPr id="18" name="Shape 13"/>
          <p:cNvSpPr/>
          <p:nvPr/>
        </p:nvSpPr>
        <p:spPr>
          <a:xfrm>
            <a:off x="6556248" y="1965960"/>
            <a:ext cx="146304" cy="0"/>
          </a:xfrm>
          <a:prstGeom prst="line">
            <a:avLst/>
          </a:prstGeom>
          <a:noFill/>
          <a:ln w="25400">
            <a:solidFill>
              <a:srgbClr val="4B5563"/>
            </a:solidFill>
            <a:prstDash val="solid"/>
            <a:tailEnd type="triangle"/>
          </a:ln>
        </p:spPr>
      </p:sp>
      <p:sp>
        <p:nvSpPr>
          <p:cNvPr id="19" name="Shape 14"/>
          <p:cNvSpPr/>
          <p:nvPr/>
        </p:nvSpPr>
        <p:spPr>
          <a:xfrm>
            <a:off x="6720840" y="1600200"/>
            <a:ext cx="1874520" cy="1691640"/>
          </a:xfrm>
          <a:prstGeom prst="roundRect">
            <a:avLst>
              <a:gd name="adj" fmla="val 8108"/>
            </a:avLst>
          </a:prstGeom>
          <a:solidFill>
            <a:srgbClr val="1E40AF"/>
          </a:solidFill>
          <a:ln w="12700">
            <a:solidFill>
              <a:srgbClr val="4B5563"/>
            </a:solidFill>
            <a:prstDash val="solid"/>
          </a:ln>
        </p:spPr>
      </p:sp>
      <p:sp>
        <p:nvSpPr>
          <p:cNvPr id="20" name="Text 15"/>
          <p:cNvSpPr txBox="1"/>
          <p:nvPr/>
        </p:nvSpPr>
        <p:spPr>
          <a:xfrm>
            <a:off x="6885432" y="1737360"/>
            <a:ext cx="11430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app</a:t>
            </a:r>
            <a:endParaRPr lang="en-US" sz="1600" dirty="0"/>
          </a:p>
        </p:txBody>
      </p:sp>
      <p:sp>
        <p:nvSpPr>
          <p:cNvPr id="21" name="Text 16"/>
          <p:cNvSpPr txBox="1"/>
          <p:nvPr/>
        </p:nvSpPr>
        <p:spPr>
          <a:xfrm>
            <a:off x="6885432" y="2240280"/>
            <a:ext cx="1545336" cy="960120"/>
          </a:xfrm>
          <a:prstGeom prst="rect">
            <a:avLst/>
          </a:prstGeom>
          <a:noFill/>
          <a:ln/>
        </p:spPr>
        <p:txBody>
          <a:bodyPr wrap="square" lIns="0" tIns="0" rIns="0" bIns="0" rtlCol="0" anchor="ctr"/>
          <a:lstStyle/>
          <a:p>
            <a:pPr indent="0" marL="0">
              <a:buNone/>
            </a:pPr>
            <a:r>
              <a:rPr lang="en-US" sz="1150" dirty="0">
                <a:solidFill>
                  <a:srgbClr val="C7D2FE"/>
                </a:solidFill>
                <a:latin typeface="Arial" pitchFamily="34" charset="0"/>
                <a:ea typeface="Arial" pitchFamily="34" charset="-122"/>
                <a:cs typeface="Arial" pitchFamily="34" charset="-120"/>
              </a:rPr>
              <a:t>One small web service. Claude reads her replies as data, never advice. Works without a model.</a:t>
            </a:r>
            <a:endParaRPr lang="en-US" sz="1150" dirty="0"/>
          </a:p>
        </p:txBody>
      </p:sp>
      <p:sp>
        <p:nvSpPr>
          <p:cNvPr id="22" name="Shape 17"/>
          <p:cNvSpPr/>
          <p:nvPr/>
        </p:nvSpPr>
        <p:spPr>
          <a:xfrm>
            <a:off x="548640" y="3657600"/>
            <a:ext cx="8046720" cy="822960"/>
          </a:xfrm>
          <a:prstGeom prst="roundRect">
            <a:avLst>
              <a:gd name="adj" fmla="val 16667"/>
            </a:avLst>
          </a:prstGeom>
          <a:solidFill>
            <a:srgbClr val="DBEAFE"/>
          </a:solidFill>
          <a:ln w="12700">
            <a:solidFill>
              <a:srgbClr val="4B5563"/>
            </a:solidFill>
            <a:prstDash val="solid"/>
          </a:ln>
        </p:spPr>
      </p:sp>
      <p:sp>
        <p:nvSpPr>
          <p:cNvPr id="23" name="Text 18"/>
          <p:cNvSpPr txBox="1"/>
          <p:nvPr/>
        </p:nvSpPr>
        <p:spPr>
          <a:xfrm>
            <a:off x="731520" y="3749040"/>
            <a:ext cx="1371600" cy="365760"/>
          </a:xfrm>
          <a:prstGeom prst="rect">
            <a:avLst/>
          </a:prstGeom>
          <a:noFill/>
          <a:ln/>
        </p:spPr>
        <p:txBody>
          <a:bodyPr wrap="square" lIns="0" tIns="0" rIns="0" bIns="0" rtlCol="0" anchor="ctr"/>
          <a:lstStyle/>
          <a:p>
            <a:pPr indent="0" marL="0">
              <a:buNone/>
            </a:pPr>
            <a:r>
              <a:rPr lang="en-US" sz="1600" b="1" dirty="0">
                <a:solidFill>
                  <a:srgbClr val="1E40AF"/>
                </a:solidFill>
                <a:latin typeface="Arial" pitchFamily="34" charset="0"/>
                <a:ea typeface="Arial" pitchFamily="34" charset="-122"/>
                <a:cs typeface="Arial" pitchFamily="34" charset="-120"/>
              </a:rPr>
              <a:t>ux-critic</a:t>
            </a:r>
            <a:endParaRPr lang="en-US" sz="1600" dirty="0"/>
          </a:p>
        </p:txBody>
      </p:sp>
      <p:sp>
        <p:nvSpPr>
          <p:cNvPr id="24" name="Text 19"/>
          <p:cNvSpPr txBox="1"/>
          <p:nvPr/>
        </p:nvSpPr>
        <p:spPr>
          <a:xfrm>
            <a:off x="2103120" y="3730752"/>
            <a:ext cx="6309360" cy="685800"/>
          </a:xfrm>
          <a:prstGeom prst="rect">
            <a:avLst/>
          </a:prstGeom>
          <a:noFill/>
          <a:ln/>
        </p:spPr>
        <p:txBody>
          <a:bodyPr wrap="square" lIns="0" tIns="0" rIns="0" bIns="0" rtlCol="0" anchor="ctr"/>
          <a:lstStyle/>
          <a:p>
            <a:pPr indent="0" marL="0">
              <a:buNone/>
            </a:pPr>
            <a:r>
              <a:rPr lang="en-US" sz="1150" dirty="0">
                <a:solidFill>
                  <a:srgbClr val="111827"/>
                </a:solidFill>
                <a:latin typeface="Arial" pitchFamily="34" charset="0"/>
                <a:ea typeface="Arial" pitchFamily="34" charset="-122"/>
                <a:cs typeface="Arial" pitchFamily="34" charset="-120"/>
              </a:rPr>
              <a:t>Runs before every pull request. Drives the real page, checks it against the 80+ checklist, and blocks anything an 84-year-old could not use.</a:t>
            </a:r>
            <a:endParaRPr lang="en-US" sz="1150" dirty="0"/>
          </a:p>
        </p:txBody>
      </p:sp>
      <p:sp>
        <p:nvSpPr>
          <p:cNvPr id="25" name="Shape 20"/>
          <p:cNvSpPr/>
          <p:nvPr/>
        </p:nvSpPr>
        <p:spPr>
          <a:xfrm>
            <a:off x="7406640" y="3310128"/>
            <a:ext cx="0" cy="329184"/>
          </a:xfrm>
          <a:prstGeom prst="line">
            <a:avLst/>
          </a:prstGeom>
          <a:noFill/>
          <a:ln w="25400">
            <a:solidFill>
              <a:srgbClr val="1E40AF"/>
            </a:solidFill>
            <a:prstDash val="solid"/>
            <a:tailEnd type="triangle"/>
          </a:ln>
        </p:spPr>
      </p:sp>
      <p:sp>
        <p:nvSpPr>
          <p:cNvPr id="26" name="Shape 21"/>
          <p:cNvSpPr/>
          <p:nvPr/>
        </p:nvSpPr>
        <p:spPr>
          <a:xfrm flipV="1">
            <a:off x="5029200" y="3310128"/>
            <a:ext cx="0" cy="329184"/>
          </a:xfrm>
          <a:prstGeom prst="line">
            <a:avLst/>
          </a:prstGeom>
          <a:noFill/>
          <a:ln w="25400">
            <a:solidFill>
              <a:srgbClr val="1E40AF"/>
            </a:solidFill>
            <a:prstDash val="solid"/>
            <a:tailEnd type="triangle"/>
          </a:ln>
        </p:spPr>
      </p:sp>
      <p:sp>
        <p:nvSpPr>
          <p:cNvPr id="27" name="Text 22"/>
          <p:cNvSpPr txBox="1"/>
          <p:nvPr/>
        </p:nvSpPr>
        <p:spPr>
          <a:xfrm>
            <a:off x="749808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audits</a:t>
            </a:r>
            <a:endParaRPr lang="en-US" sz="800" dirty="0"/>
          </a:p>
        </p:txBody>
      </p:sp>
      <p:sp>
        <p:nvSpPr>
          <p:cNvPr id="28" name="Text 23"/>
          <p:cNvSpPr txBox="1"/>
          <p:nvPr/>
        </p:nvSpPr>
        <p:spPr>
          <a:xfrm>
            <a:off x="512064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fixes</a:t>
            </a:r>
            <a:endParaRPr lang="en-US" sz="800" dirty="0"/>
          </a:p>
        </p:txBody>
      </p:sp>
      <p:sp>
        <p:nvSpPr>
          <p:cNvPr id="29" name="Text 24"/>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All of it is in the repository.</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a live doodle beat a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usually means, who to call before the ER.</a:t>
            </a:r>
            <a:endParaRPr lang="en-US" sz="1200" dirty="0"/>
          </a:p>
        </p:txBody>
      </p:sp>
      <p:sp>
        <p:nvSpPr>
          <p:cNvPr id="15" name="Text 13"/>
          <p:cNvSpPr txBox="1"/>
          <p:nvPr/>
        </p:nvSpPr>
        <p:spPr>
          <a:xfrm>
            <a:off x="548640" y="4114800"/>
            <a:ext cx="5303520" cy="457200"/>
          </a:xfrm>
          <a:prstGeom prst="rect">
            <a:avLst/>
          </a:prstGeom>
          <a:noFill/>
          <a:ln/>
        </p:spPr>
        <p:txBody>
          <a:bodyPr wrap="square" lIns="0" tIns="0" rIns="0" bIns="0" rtlCol="0" anchor="ctr"/>
          <a:lstStyle/>
          <a:p>
            <a:pPr indent="0" marL="0">
              <a:buNone/>
            </a:pPr>
            <a:r>
              <a:rPr lang="en-US" sz="1300" i="1" dirty="0">
                <a:solidFill>
                  <a:srgbClr val="C7D2FE"/>
                </a:solidFill>
                <a:latin typeface="Arial" pitchFamily="34" charset="0"/>
                <a:ea typeface="Arial" pitchFamily="34" charset="-122"/>
                <a:cs typeface="Arial" pitchFamily="34" charset="-120"/>
              </a:rPr>
              <a:t>Decision support, never a diagnosis. A human on every flag.</a:t>
            </a:r>
            <a:endParaRPr lang="en-US" sz="13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Sources</a:t>
            </a:r>
            <a:endParaRPr lang="en-US" sz="3200" dirty="0"/>
          </a:p>
        </p:txBody>
      </p:sp>
      <p:sp>
        <p:nvSpPr>
          <p:cNvPr id="3" name="Text 1"/>
          <p:cNvSpPr txBox="1"/>
          <p:nvPr/>
        </p:nvSpPr>
        <p:spPr>
          <a:xfrm>
            <a:off x="548640" y="100584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1</a:t>
            </a:r>
            <a:endParaRPr lang="en-US" sz="1100" dirty="0"/>
          </a:p>
        </p:txBody>
      </p:sp>
      <p:sp>
        <p:nvSpPr>
          <p:cNvPr id="4" name="Text 2"/>
          <p:cNvSpPr txBox="1"/>
          <p:nvPr/>
        </p:nvSpPr>
        <p:spPr>
          <a:xfrm>
            <a:off x="868680" y="100584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unrecognised in up to 60% of hospital cases and about 75% in the emergency department.</a:t>
            </a:r>
            <a:endParaRPr lang="en-US" sz="900" dirty="0"/>
          </a:p>
        </p:txBody>
      </p:sp>
      <p:sp>
        <p:nvSpPr>
          <p:cNvPr id="5" name="Text 3"/>
          <p:cNvSpPr txBox="1"/>
          <p:nvPr/>
        </p:nvSpPr>
        <p:spPr>
          <a:xfrm>
            <a:off x="5852160" y="100584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Delirium in Hospitalized Older Adults: A Narrative Review (PMC, 2026); Delirium screening in the emergency department (PMC, 2024).</a:t>
            </a:r>
            <a:endParaRPr lang="en-US" sz="850" dirty="0"/>
          </a:p>
        </p:txBody>
      </p:sp>
      <p:sp>
        <p:nvSpPr>
          <p:cNvPr id="6" name="Text 4"/>
          <p:cNvSpPr txBox="1"/>
          <p:nvPr/>
        </p:nvSpPr>
        <p:spPr>
          <a:xfrm>
            <a:off x="548640" y="1627632"/>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2</a:t>
            </a:r>
            <a:endParaRPr lang="en-US" sz="1100" dirty="0"/>
          </a:p>
        </p:txBody>
      </p:sp>
      <p:sp>
        <p:nvSpPr>
          <p:cNvPr id="7" name="Text 5"/>
          <p:cNvSpPr txBox="1"/>
          <p:nvPr/>
        </p:nvSpPr>
        <p:spPr>
          <a:xfrm>
            <a:off x="868680" y="1627632"/>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affects over 7 million hospitalised US adults a year; 11% of Medicare beneficiaries had an episode; +$8,110 hospital charges per delirium stay (95% CI $1,860–$14,360).</a:t>
            </a:r>
            <a:endParaRPr lang="en-US" sz="900" dirty="0"/>
          </a:p>
        </p:txBody>
      </p:sp>
      <p:sp>
        <p:nvSpPr>
          <p:cNvPr id="8" name="Text 6"/>
          <p:cNvSpPr txBox="1"/>
          <p:nvPr/>
        </p:nvSpPr>
        <p:spPr>
          <a:xfrm>
            <a:off x="5852160" y="1627632"/>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Additional hospitalization costs associated with delirium among older adults, Frontiers in Public Health, 2026 (Medicare Current Beneficiary Survey 2019–2021).</a:t>
            </a:r>
            <a:endParaRPr lang="en-US" sz="850" dirty="0"/>
          </a:p>
        </p:txBody>
      </p:sp>
      <p:sp>
        <p:nvSpPr>
          <p:cNvPr id="9" name="Text 7"/>
          <p:cNvSpPr txBox="1"/>
          <p:nvPr/>
        </p:nvSpPr>
        <p:spPr>
          <a:xfrm>
            <a:off x="548640" y="2249424"/>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3</a:t>
            </a:r>
            <a:endParaRPr lang="en-US" sz="1100" dirty="0"/>
          </a:p>
        </p:txBody>
      </p:sp>
      <p:sp>
        <p:nvSpPr>
          <p:cNvPr id="10" name="Text 8"/>
          <p:cNvSpPr txBox="1"/>
          <p:nvPr/>
        </p:nvSpPr>
        <p:spPr>
          <a:xfrm>
            <a:off x="868680" y="2249424"/>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Medicare: 2,002,700 30-day readmissions in 2020, 17.0 per 100 index stays, $36.2 B aggregate, $18,100 average. Top causes at index admission: septicemia 207,300; heart failure 147,800; acute renal failure 60,000; pneumonia 58,900; diabetes with complications 58,700.</a:t>
            </a:r>
            <a:endParaRPr lang="en-US" sz="900" dirty="0"/>
          </a:p>
        </p:txBody>
      </p:sp>
      <p:sp>
        <p:nvSpPr>
          <p:cNvPr id="11" name="Text 9"/>
          <p:cNvSpPr txBox="1"/>
          <p:nvPr/>
        </p:nvSpPr>
        <p:spPr>
          <a:xfrm>
            <a:off x="5852160" y="2249424"/>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AHRQ HCUP Statistical Brief #307, Nationwide Readmissions Database, 2020.</a:t>
            </a:r>
            <a:endParaRPr lang="en-US" sz="850" dirty="0"/>
          </a:p>
        </p:txBody>
      </p:sp>
      <p:sp>
        <p:nvSpPr>
          <p:cNvPr id="12" name="Text 10"/>
          <p:cNvSpPr txBox="1"/>
          <p:nvPr/>
        </p:nvSpPr>
        <p:spPr>
          <a:xfrm>
            <a:off x="548640" y="2871216"/>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4</a:t>
            </a:r>
            <a:endParaRPr lang="en-US" sz="1100" dirty="0"/>
          </a:p>
        </p:txBody>
      </p:sp>
      <p:sp>
        <p:nvSpPr>
          <p:cNvPr id="13" name="Text 11"/>
          <p:cNvSpPr txBox="1"/>
          <p:nvPr/>
        </p:nvSpPr>
        <p:spPr>
          <a:xfrm>
            <a:off x="868680" y="2871216"/>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HRRP reduces a hospital’s Medicare inpatient payments by up to 3% for a fiscal year when 30-day readmissions for six conditions exceed the expected rate. FY2022: 2,499 of 3,139 hospitals penalised, average 0.64%, 39 at the 3% maximum, about $521 M withheld.</a:t>
            </a:r>
            <a:endParaRPr lang="en-US" sz="900" dirty="0"/>
          </a:p>
        </p:txBody>
      </p:sp>
      <p:sp>
        <p:nvSpPr>
          <p:cNvPr id="14" name="Text 12"/>
          <p:cNvSpPr txBox="1"/>
          <p:nvPr/>
        </p:nvSpPr>
        <p:spPr>
          <a:xfrm>
            <a:off x="5852160" y="2871216"/>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CMS, Hospital Readmissions Reduction Program; KFF, 10 Years of Hospital Readmissions Penalties.</a:t>
            </a:r>
            <a:endParaRPr lang="en-US" sz="850" dirty="0"/>
          </a:p>
        </p:txBody>
      </p:sp>
      <p:sp>
        <p:nvSpPr>
          <p:cNvPr id="15" name="Text 13"/>
          <p:cNvSpPr txBox="1"/>
          <p:nvPr/>
        </p:nvSpPr>
        <p:spPr>
          <a:xfrm>
            <a:off x="548640" y="3493008"/>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5</a:t>
            </a:r>
            <a:endParaRPr lang="en-US" sz="1100" dirty="0"/>
          </a:p>
        </p:txBody>
      </p:sp>
      <p:sp>
        <p:nvSpPr>
          <p:cNvPr id="16" name="Text 14"/>
          <p:cNvSpPr txBox="1"/>
          <p:nvPr/>
        </p:nvSpPr>
        <p:spPr>
          <a:xfrm>
            <a:off x="868680" y="3493008"/>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Inpatient delirium associated with 30-day readmission, adjusted OR 2.60 (95% CI 1.96–3.44); 718 delirious vs 7,927 non-delirious patients, one community hospital, 2010–2015.</a:t>
            </a:r>
            <a:endParaRPr lang="en-US" sz="900" dirty="0"/>
          </a:p>
        </p:txBody>
      </p:sp>
      <p:sp>
        <p:nvSpPr>
          <p:cNvPr id="17" name="Text 15"/>
          <p:cNvSpPr txBox="1"/>
          <p:nvPr/>
        </p:nvSpPr>
        <p:spPr>
          <a:xfrm>
            <a:off x="5852160" y="3493008"/>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Association between Inpatient Delirium and Hospital Readmission in Patients ≥65 (PMC, 2019).</a:t>
            </a:r>
            <a:endParaRPr lang="en-US" sz="850" dirty="0"/>
          </a:p>
        </p:txBody>
      </p:sp>
      <p:sp>
        <p:nvSpPr>
          <p:cNvPr id="18" name="Text 16"/>
          <p:cNvSpPr txBox="1"/>
          <p:nvPr/>
        </p:nvSpPr>
        <p:spPr>
          <a:xfrm>
            <a:off x="548640" y="411480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6</a:t>
            </a:r>
            <a:endParaRPr lang="en-US" sz="1100" dirty="0"/>
          </a:p>
        </p:txBody>
      </p:sp>
      <p:sp>
        <p:nvSpPr>
          <p:cNvPr id="19" name="Text 17"/>
          <p:cNvSpPr txBox="1"/>
          <p:nvPr/>
        </p:nvSpPr>
        <p:spPr>
          <a:xfrm>
            <a:off x="868680" y="411480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Median 27% of readmissions judged avoidable across 34 studies (range 5–79%). Multicomponent prevention (HELP) cut delirium incidence from 15.0% to 9.9%, about a third to 40%.</a:t>
            </a:r>
            <a:endParaRPr lang="en-US" sz="900" dirty="0"/>
          </a:p>
        </p:txBody>
      </p:sp>
      <p:sp>
        <p:nvSpPr>
          <p:cNvPr id="20" name="Text 18"/>
          <p:cNvSpPr txBox="1"/>
          <p:nvPr/>
        </p:nvSpPr>
        <p:spPr>
          <a:xfrm>
            <a:off x="5852160" y="411480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van Walraven et al., CMAJ 2011; Inouye et al., NEJM 1999.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2026-09-17T05:14:22Z</dcterms:created>
  <dcterms:modified xsi:type="dcterms:W3CDTF">2026-09-17T05:14:22Z</dcterms:modified>
</cp:coreProperties>
</file>