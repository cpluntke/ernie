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Readmissions</c:v>
                </c:pt>
              </c:strCache>
            </c:strRef>
          </c:tx>
          <c:spPr>
            <a:solidFill>
              <a:srgbClr val="1E40AF"/>
            </a:solidFill>
            <a:effectLst/>
          </c:spPr>
          <c:invertIfNegative val="0"/>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cat>
            <c:multiLvlStrRef>
              <c:f>Sheet1!$A$2:$A$6</c:f>
              <c:multiLvlStrCache>
                <c:ptCount val="5"/>
                <c:lvl>
                  <c:pt idx="0">
                    <c:v>Septicemia</c:v>
                  </c:pt>
                  <c:pt idx="1">
                    <c:v>Heart failure</c:v>
                  </c:pt>
                  <c:pt idx="2">
                    <c:v>Kidney failure</c:v>
                  </c:pt>
                  <c:pt idx="3">
                    <c:v>Pneumonia</c:v>
                  </c:pt>
                  <c:pt idx="4">
                    <c:v>Diabetes with complications</c:v>
                  </c:pt>
                </c:lvl>
              </c:multiLvlStrCache>
            </c:multiLvlStrRef>
          </c:cat>
          <c:val>
            <c:numRef>
              <c:f>Sheet1!$B$2:$B$6</c:f>
              <c:numCache>
                <c:formatCode>General</c:formatCode>
                <c:ptCount val="5"/>
                <c:pt idx="0">
                  <c:v>207.3</c:v>
                </c:pt>
                <c:pt idx="1">
                  <c:v>147.8</c:v>
                </c:pt>
                <c:pt idx="2">
                  <c:v>60</c:v>
                </c:pt>
                <c:pt idx="3">
                  <c:v>58.9</c:v>
                </c:pt>
                <c:pt idx="4">
                  <c:v>58.7</c:v>
                </c:pt>
              </c:numCache>
            </c:numRef>
          </c:val>
        </c:ser>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2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One breath: "This is ernie, a daily visit for someone like Margaret. Five minutes: who she is, what is missing in her care, what we built, how it was built,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Margaret is a person, not a use case. Hypoactive delirium is withdrawal; the first anyone knows is the ER. Unrecognised in 60 to 75 percent of cases even where clinicians are looking, and nothing at home looks at all. The thesis in one line: delirium is a change from your own baseline, and the home never had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Value-based care moved the cost of coming back onto the hospital: a readmission penalty is a haircut on every Medicare inpatient payment for a year, up to three percent. Sepsis and heart failure send the most people back; delirium is not a category, it rides inside those stays and more than doubles the odds of returning. A stay with delirium bills about eight thousand dollars more. A quarter of readmissions are judged avoidable, and a third of delirium is preventable with cheap measures. The outcome is decided at home, between visits, and nobody is there. So: a daily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3:30. Play the 75-second clip, or click through. She signs in (a motor baseline; the date is the orientation item). She answers a nurse's questions in her own words; a model reads what she meant and never advises. She does a puzzle and her granddaughter joins (attention, visuospatial, and the reason to open the app). Goodbye. Nothing on her screen is ever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Same visit, real numbers. Five ordinary signings form her baseline; today she took 4.5 seconds against her usual 3.1 and paused four times longer between strokes. To the eye the two look the same. Nine features, robust z against her own usual. The family gets one plain sentence; she gets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 Built as a pipeline, not a one-off. A research agent produced the insight map and the 80+ criteria. Nine sketches on one doc template, product and engineering together. A component kit with the criteria baked in, synced to Claude Design. One small web service; Claude reads her replies as data and never advises. And a reviewer in the loop: before any UI change merges, a senior-centred critic drives the real page and blocks anything an 84-year-old could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Three next steps, then the honesty line: synthetic data, decision support, a human on every flag. Close on Margaret: the point is that someone notices on the day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spoken. Left in the deck so every number on slides 2 and 3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0AF"/>
        </a:solidFill>
      </p:bgPr>
    </p:bg>
    <p:spTree>
      <p:nvGrpSpPr>
        <p:cNvPr id="1" name=""/>
        <p:cNvGrpSpPr/>
        <p:nvPr/>
      </p:nvGrpSpPr>
      <p:grpSpPr>
        <a:xfrm>
          <a:off x="0" y="0"/>
          <a:ext cx="0" cy="0"/>
          <a:chOff x="0" y="0"/>
          <a:chExt cx="0" cy="0"/>
        </a:xfrm>
      </p:grpSpPr>
      <p:pic>
        <p:nvPicPr>
          <p:cNvPr id="2" name="Image 0" descr="../shots/doodle-half-a-house-white.png">    </p:cNvPr>
          <p:cNvPicPr>
            <a:picLocks noChangeAspect="1"/>
          </p:cNvPicPr>
          <p:nvPr/>
        </p:nvPicPr>
        <p:blipFill>
          <a:blip r:embed="rId1"/>
          <a:stretch>
            <a:fillRect/>
          </a:stretch>
        </p:blipFill>
        <p:spPr>
          <a:xfrm>
            <a:off x="5577840" y="457200"/>
            <a:ext cx="1828800" cy="1828800"/>
          </a:xfrm>
          <a:prstGeom prst="rect">
            <a:avLst/>
          </a:prstGeom>
        </p:spPr>
      </p:pic>
      <p:pic>
        <p:nvPicPr>
          <p:cNvPr id="3" name="Image 1" descr="../shots/doodle-cat-with-no-face-white.png">    </p:cNvPr>
          <p:cNvPicPr>
            <a:picLocks noChangeAspect="1"/>
          </p:cNvPicPr>
          <p:nvPr/>
        </p:nvPicPr>
        <p:blipFill>
          <a:blip r:embed="rId2"/>
          <a:stretch>
            <a:fillRect/>
          </a:stretch>
        </p:blipFill>
        <p:spPr>
          <a:xfrm>
            <a:off x="7040880" y="1737360"/>
            <a:ext cx="1828800" cy="1828800"/>
          </a:xfrm>
          <a:prstGeom prst="rect">
            <a:avLst/>
          </a:prstGeom>
        </p:spPr>
      </p:pic>
      <p:pic>
        <p:nvPicPr>
          <p:cNvPr id="4" name="Image 2" descr="../shots/doodle-flower-with-no-petals-white.png">    </p:cNvPr>
          <p:cNvPicPr>
            <a:picLocks noChangeAspect="1"/>
          </p:cNvPicPr>
          <p:nvPr/>
        </p:nvPicPr>
        <p:blipFill>
          <a:blip r:embed="rId3"/>
          <a:stretch>
            <a:fillRect/>
          </a:stretch>
        </p:blipFill>
        <p:spPr>
          <a:xfrm>
            <a:off x="5486400" y="2834640"/>
            <a:ext cx="1828800" cy="1828800"/>
          </a:xfrm>
          <a:prstGeom prst="rect">
            <a:avLst/>
          </a:prstGeom>
        </p:spPr>
      </p:pic>
      <p:sp>
        <p:nvSpPr>
          <p:cNvPr id="5" name="Text 0"/>
          <p:cNvSpPr txBox="1"/>
          <p:nvPr/>
        </p:nvSpPr>
        <p:spPr>
          <a:xfrm>
            <a:off x="548640" y="1188720"/>
            <a:ext cx="493776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ernie</a:t>
            </a:r>
            <a:endParaRPr lang="en-US" sz="6000" dirty="0"/>
          </a:p>
        </p:txBody>
      </p:sp>
      <p:sp>
        <p:nvSpPr>
          <p:cNvPr id="6" name="Text 1"/>
          <p:cNvSpPr txBox="1"/>
          <p:nvPr/>
        </p:nvSpPr>
        <p:spPr>
          <a:xfrm>
            <a:off x="548640" y="2148840"/>
            <a:ext cx="4754880" cy="128016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 daily visit that notices a bad day at home before it becomes a hospital day.</a:t>
            </a:r>
            <a:endParaRPr lang="en-US" sz="2200" dirty="0"/>
          </a:p>
        </p:txBody>
      </p:sp>
      <p:sp>
        <p:nvSpPr>
          <p:cNvPr id="7" name="Text 2"/>
          <p:cNvSpPr txBox="1"/>
          <p:nvPr/>
        </p:nvSpPr>
        <p:spPr>
          <a:xfrm>
            <a:off x="548640" y="4206240"/>
            <a:ext cx="4937760" cy="365760"/>
          </a:xfrm>
          <a:prstGeom prst="rect">
            <a:avLst/>
          </a:prstGeom>
          <a:noFill/>
          <a:ln/>
        </p:spPr>
        <p:txBody>
          <a:bodyPr wrap="square" lIns="0" tIns="0" rIns="0" bIns="0" rtlCol="0" anchor="ctr"/>
          <a:lstStyle/>
          <a:p>
            <a:pPr indent="0" marL="0">
              <a:buNone/>
            </a:pPr>
            <a:r>
              <a:rPr lang="en-US" sz="1300" dirty="0">
                <a:solidFill>
                  <a:srgbClr val="C7D2FE"/>
                </a:solidFill>
                <a:latin typeface="Arial" pitchFamily="34" charset="0"/>
                <a:ea typeface="Arial" pitchFamily="34" charset="-122"/>
                <a:cs typeface="Arial" pitchFamily="34" charset="-120"/>
              </a:rPr>
              <a:t>Christopher Pluntke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3035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Margaret is 84.</a:t>
            </a:r>
            <a:endParaRPr lang="en-US" sz="3200" dirty="0"/>
          </a:p>
        </p:txBody>
      </p:sp>
      <p:sp>
        <p:nvSpPr>
          <p:cNvPr id="3" name="Text 1"/>
          <p:cNvSpPr txBox="1"/>
          <p:nvPr/>
        </p:nvSpPr>
        <p:spPr>
          <a:xfrm>
            <a:off x="548640" y="1051560"/>
            <a:ext cx="5120640" cy="1005840"/>
          </a:xfrm>
          <a:prstGeom prst="rect">
            <a:avLst/>
          </a:prstGeom>
          <a:noFill/>
          <a:ln/>
        </p:spPr>
        <p:txBody>
          <a:bodyPr wrap="square" lIns="0" tIns="0" rIns="0" bIns="0" rtlCol="0" anchor="ctr"/>
          <a:lstStyle/>
          <a:p>
            <a:pPr indent="0" marL="0">
              <a:buNone/>
            </a:pPr>
            <a:r>
              <a:rPr lang="en-US" sz="2100" dirty="0">
                <a:solidFill>
                  <a:srgbClr val="111827"/>
                </a:solidFill>
                <a:latin typeface="Arial" pitchFamily="34" charset="0"/>
                <a:ea typeface="Arial" pitchFamily="34" charset="-122"/>
                <a:cs typeface="Arial" pitchFamily="34" charset="-120"/>
              </a:rPr>
              <a:t>Every morning she signs Ernie’s book. This morning she was slower, and nobody was there to notice.</a:t>
            </a:r>
            <a:endParaRPr lang="en-US" sz="2100" dirty="0"/>
          </a:p>
        </p:txBody>
      </p:sp>
      <p:sp>
        <p:nvSpPr>
          <p:cNvPr id="4" name="Text 2"/>
          <p:cNvSpPr txBox="1"/>
          <p:nvPr/>
        </p:nvSpPr>
        <p:spPr>
          <a:xfrm>
            <a:off x="548640" y="2103120"/>
            <a:ext cx="5120640" cy="105156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Hypoactive delirium, the most common kind, looks like nothing at all: quieter, slower, a little withdrawn. The cause is usually cheap to fix on the day: an infection, dehydration, a new tablet. Missed, it ends in the emergency room.</a:t>
            </a:r>
            <a:endParaRPr lang="en-US" sz="1400" dirty="0"/>
          </a:p>
        </p:txBody>
      </p:sp>
      <p:sp>
        <p:nvSpPr>
          <p:cNvPr id="5" name="Shape 3"/>
          <p:cNvSpPr/>
          <p:nvPr/>
        </p:nvSpPr>
        <p:spPr>
          <a:xfrm>
            <a:off x="548640" y="3154680"/>
            <a:ext cx="2468880" cy="914400"/>
          </a:xfrm>
          <a:prstGeom prst="roundRect">
            <a:avLst>
              <a:gd name="adj" fmla="val 15000"/>
            </a:avLst>
          </a:prstGeom>
          <a:solidFill>
            <a:srgbClr val="DBEAFE"/>
          </a:solidFill>
          <a:ln w="12700">
            <a:solidFill>
              <a:srgbClr val="4B5563"/>
            </a:solidFill>
            <a:prstDash val="solid"/>
          </a:ln>
        </p:spPr>
      </p:sp>
      <p:sp>
        <p:nvSpPr>
          <p:cNvPr id="6" name="Text 4"/>
          <p:cNvSpPr txBox="1"/>
          <p:nvPr/>
        </p:nvSpPr>
        <p:spPr>
          <a:xfrm>
            <a:off x="685800" y="3200400"/>
            <a:ext cx="2286000" cy="45720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60–75%</a:t>
            </a:r>
            <a:endParaRPr lang="en-US" sz="2800" dirty="0"/>
          </a:p>
        </p:txBody>
      </p:sp>
      <p:sp>
        <p:nvSpPr>
          <p:cNvPr id="7" name="Text 5"/>
          <p:cNvSpPr txBox="1"/>
          <p:nvPr/>
        </p:nvSpPr>
        <p:spPr>
          <a:xfrm>
            <a:off x="685800" y="3657600"/>
            <a:ext cx="2286000" cy="36576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of cases unrecognised in hospital and in the ED ¹</a:t>
            </a:r>
            <a:endParaRPr lang="en-US" sz="1050" dirty="0"/>
          </a:p>
        </p:txBody>
      </p:sp>
      <p:sp>
        <p:nvSpPr>
          <p:cNvPr id="8" name="Shape 6"/>
          <p:cNvSpPr/>
          <p:nvPr/>
        </p:nvSpPr>
        <p:spPr>
          <a:xfrm>
            <a:off x="3200400" y="3154680"/>
            <a:ext cx="2468880" cy="914400"/>
          </a:xfrm>
          <a:prstGeom prst="roundRect">
            <a:avLst>
              <a:gd name="adj" fmla="val 15000"/>
            </a:avLst>
          </a:prstGeom>
          <a:solidFill>
            <a:srgbClr val="DBEAFE"/>
          </a:solidFill>
          <a:ln w="12700">
            <a:solidFill>
              <a:srgbClr val="4B5563"/>
            </a:solidFill>
            <a:prstDash val="solid"/>
          </a:ln>
        </p:spPr>
      </p:sp>
      <p:sp>
        <p:nvSpPr>
          <p:cNvPr id="9" name="Text 7"/>
          <p:cNvSpPr txBox="1"/>
          <p:nvPr/>
        </p:nvSpPr>
        <p:spPr>
          <a:xfrm>
            <a:off x="3337560" y="3200400"/>
            <a:ext cx="2286000" cy="457200"/>
          </a:xfrm>
          <a:prstGeom prst="rect">
            <a:avLst/>
          </a:prstGeom>
          <a:noFill/>
          <a:ln/>
        </p:spPr>
        <p:txBody>
          <a:bodyPr wrap="square" lIns="0" tIns="0" rIns="0" bIns="0" rtlCol="0" anchor="ctr"/>
          <a:lstStyle/>
          <a:p>
            <a:pPr indent="0" marL="0">
              <a:buNone/>
            </a:pPr>
            <a:r>
              <a:rPr lang="en-US" sz="2800" b="1" dirty="0">
                <a:solidFill>
                  <a:srgbClr val="1E40AF"/>
                </a:solidFill>
                <a:latin typeface="Arial" pitchFamily="34" charset="0"/>
                <a:ea typeface="Arial" pitchFamily="34" charset="-122"/>
                <a:cs typeface="Arial" pitchFamily="34" charset="-120"/>
              </a:rPr>
              <a:t>7 M+</a:t>
            </a:r>
            <a:endParaRPr lang="en-US" sz="2800" dirty="0"/>
          </a:p>
        </p:txBody>
      </p:sp>
      <p:sp>
        <p:nvSpPr>
          <p:cNvPr id="10" name="Text 8"/>
          <p:cNvSpPr txBox="1"/>
          <p:nvPr/>
        </p:nvSpPr>
        <p:spPr>
          <a:xfrm>
            <a:off x="3337560" y="3657600"/>
            <a:ext cx="2286000" cy="36576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hospitalised US adults affected each year ²</a:t>
            </a:r>
            <a:endParaRPr lang="en-US" sz="1050" dirty="0"/>
          </a:p>
        </p:txBody>
      </p:sp>
      <p:sp>
        <p:nvSpPr>
          <p:cNvPr id="11" name="Text 9"/>
          <p:cNvSpPr txBox="1"/>
          <p:nvPr/>
        </p:nvSpPr>
        <p:spPr>
          <a:xfrm>
            <a:off x="548640" y="4160520"/>
            <a:ext cx="5394960" cy="457200"/>
          </a:xfrm>
          <a:prstGeom prst="rect">
            <a:avLst/>
          </a:prstGeom>
          <a:noFill/>
          <a:ln/>
        </p:spPr>
        <p:txBody>
          <a:bodyPr wrap="square" lIns="0" tIns="0" rIns="0" bIns="0" rtlCol="0" anchor="ctr"/>
          <a:lstStyle/>
          <a:p>
            <a:pPr indent="0" marL="0">
              <a:buNone/>
            </a:pPr>
            <a:r>
              <a:rPr lang="en-US" sz="1300" i="1" dirty="0">
                <a:solidFill>
                  <a:srgbClr val="1E40AF"/>
                </a:solidFill>
                <a:latin typeface="Arial" pitchFamily="34" charset="0"/>
                <a:ea typeface="Arial" pitchFamily="34" charset="-122"/>
                <a:cs typeface="Arial" pitchFamily="34" charset="-120"/>
              </a:rPr>
              <a:t>Delirium is a change from your own baseline. The home never had one.</a:t>
            </a:r>
            <a:endParaRPr lang="en-US" sz="1300" dirty="0"/>
          </a:p>
        </p:txBody>
      </p:sp>
      <p:sp>
        <p:nvSpPr>
          <p:cNvPr id="12" name="Text 10"/>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¹ Unrecognised in up to 60% of hospital cases and ~75% in the ED: Delirium in Hospitalized Older Adults, narrative review (PMC 2026); Han et al., ED delirium screening (PMC 2024).  ² Frontiers in Public Health 2026, Medicare Current Beneficiary Survey 2019–21.</a:t>
            </a:r>
            <a:endParaRPr lang="en-US" sz="800" dirty="0"/>
          </a:p>
        </p:txBody>
      </p:sp>
      <p:sp>
        <p:nvSpPr>
          <p:cNvPr id="13" name="Shape 11"/>
          <p:cNvSpPr/>
          <p:nvPr/>
        </p:nvSpPr>
        <p:spPr>
          <a:xfrm>
            <a:off x="6437376" y="402336"/>
            <a:ext cx="2108199" cy="4224528"/>
          </a:xfrm>
          <a:prstGeom prst="roundRect">
            <a:avLst>
              <a:gd name="adj" fmla="val 9542"/>
            </a:avLst>
          </a:prstGeom>
          <a:solidFill>
            <a:srgbClr val="111827"/>
          </a:solidFill>
          <a:ln w="12700">
            <a:solidFill>
              <a:srgbClr val="4B5563"/>
            </a:solidFill>
            <a:prstDash val="solid"/>
          </a:ln>
        </p:spPr>
      </p:sp>
      <p:pic>
        <p:nvPicPr>
          <p:cNvPr id="14" name="Image 0" descr="../shots/03-book-page-c.png">    </p:cNvPr>
          <p:cNvPicPr>
            <a:picLocks noChangeAspect="1"/>
          </p:cNvPicPr>
          <p:nvPr/>
        </p:nvPicPr>
        <p:blipFill>
          <a:blip r:embed="rId1"/>
          <a:stretch>
            <a:fillRect/>
          </a:stretch>
        </p:blipFill>
        <p:spPr>
          <a:xfrm>
            <a:off x="6492240" y="457200"/>
            <a:ext cx="1998471" cy="4114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gap is the 30 days at home.</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Value-based care makes hospitals carry the cost of patients who come back. What sends Medicare patients back, and what a missed bad day costs.</a:t>
            </a:r>
            <a:endParaRPr lang="en-US" sz="1500" dirty="0"/>
          </a:p>
        </p:txBody>
      </p:sp>
      <p:sp>
        <p:nvSpPr>
          <p:cNvPr id="4" name="Text 2"/>
          <p:cNvSpPr txBox="1"/>
          <p:nvPr/>
        </p:nvSpPr>
        <p:spPr>
          <a:xfrm>
            <a:off x="548640" y="1508760"/>
            <a:ext cx="4846320" cy="274320"/>
          </a:xfrm>
          <a:prstGeom prst="rect">
            <a:avLst/>
          </a:prstGeom>
          <a:noFill/>
          <a:ln/>
        </p:spPr>
        <p:txBody>
          <a:bodyPr wrap="square" lIns="0" tIns="0" rIns="0" bIns="0" rtlCol="0" anchor="ctr"/>
          <a:lstStyle/>
          <a:p>
            <a:pPr indent="0" marL="0">
              <a:buNone/>
            </a:pPr>
            <a:r>
              <a:rPr lang="en-US" sz="1050" b="1" dirty="0">
                <a:solidFill>
                  <a:srgbClr val="111827"/>
                </a:solidFill>
                <a:latin typeface="Arial" pitchFamily="34" charset="0"/>
                <a:ea typeface="Arial" pitchFamily="34" charset="-122"/>
                <a:cs typeface="Arial" pitchFamily="34" charset="-120"/>
              </a:rPr>
              <a:t>Medicare 30-day readmissions by cause at first admission, 2020 ³</a:t>
            </a:r>
            <a:endParaRPr lang="en-US" sz="1050" dirty="0"/>
          </a:p>
        </p:txBody>
      </p:sp>
      <p:graphicFrame>
        <p:nvGraphicFramePr>
          <p:cNvPr id="5" name="Chart 0" descr=""/>
          <p:cNvGraphicFramePr/>
          <p:nvPr/>
        </p:nvGraphicFramePr>
        <p:xfrm>
          <a:off x="457200" y="1783080"/>
          <a:ext cx="4846320" cy="2331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4114800"/>
            <a:ext cx="4754880" cy="50292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Delirium is not a diagnosis category here. It rides inside these stays and multiplies the odds of coming back by 2.6 ⁵. About 11% of Medicare hospital stays involve it ².</a:t>
            </a:r>
            <a:endParaRPr lang="en-US" sz="1050" dirty="0"/>
          </a:p>
        </p:txBody>
      </p:sp>
      <p:sp>
        <p:nvSpPr>
          <p:cNvPr id="7" name="Text 4"/>
          <p:cNvSpPr txBox="1"/>
          <p:nvPr/>
        </p:nvSpPr>
        <p:spPr>
          <a:xfrm>
            <a:off x="5669280" y="1463040"/>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$36 B</a:t>
            </a:r>
            <a:endParaRPr lang="en-US" sz="2100" dirty="0"/>
          </a:p>
        </p:txBody>
      </p:sp>
      <p:sp>
        <p:nvSpPr>
          <p:cNvPr id="8" name="Text 5"/>
          <p:cNvSpPr txBox="1"/>
          <p:nvPr/>
        </p:nvSpPr>
        <p:spPr>
          <a:xfrm>
            <a:off x="5669280" y="1792224"/>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a year: 2.0 M Medicare readmissions at $18,100 each, 17 per 100 stays ³</a:t>
            </a:r>
            <a:endParaRPr lang="en-US" sz="900" dirty="0"/>
          </a:p>
        </p:txBody>
      </p:sp>
      <p:sp>
        <p:nvSpPr>
          <p:cNvPr id="9" name="Text 6"/>
          <p:cNvSpPr txBox="1"/>
          <p:nvPr/>
        </p:nvSpPr>
        <p:spPr>
          <a:xfrm>
            <a:off x="5669280" y="2267712"/>
            <a:ext cx="3017520" cy="347472"/>
          </a:xfrm>
          <a:prstGeom prst="rect">
            <a:avLst/>
          </a:prstGeom>
          <a:noFill/>
          <a:ln/>
        </p:spPr>
        <p:txBody>
          <a:bodyPr wrap="square" lIns="0" tIns="0" rIns="0" bIns="0" rtlCol="0" anchor="ctr"/>
          <a:lstStyle/>
          <a:p>
            <a:pPr indent="0" marL="0">
              <a:buNone/>
            </a:pPr>
            <a:r>
              <a:rPr lang="en-US" sz="2100" b="1" dirty="0">
                <a:solidFill>
                  <a:srgbClr val="C8402F"/>
                </a:solidFill>
                <a:latin typeface="Arial" pitchFamily="34" charset="0"/>
                <a:ea typeface="Arial" pitchFamily="34" charset="-122"/>
                <a:cs typeface="Arial" pitchFamily="34" charset="-120"/>
              </a:rPr>
              <a:t>up to 3%</a:t>
            </a:r>
            <a:endParaRPr lang="en-US" sz="2100" dirty="0"/>
          </a:p>
        </p:txBody>
      </p:sp>
      <p:sp>
        <p:nvSpPr>
          <p:cNvPr id="10" name="Text 7"/>
          <p:cNvSpPr txBox="1"/>
          <p:nvPr/>
        </p:nvSpPr>
        <p:spPr>
          <a:xfrm>
            <a:off x="5669280" y="2596896"/>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off every Medicare inpatient payment for a year when a hospital’s readmissions run high. FY2022: 2,499 hospitals, $521 M ⁴</a:t>
            </a:r>
            <a:endParaRPr lang="en-US" sz="900" dirty="0"/>
          </a:p>
        </p:txBody>
      </p:sp>
      <p:sp>
        <p:nvSpPr>
          <p:cNvPr id="11" name="Text 8"/>
          <p:cNvSpPr txBox="1"/>
          <p:nvPr/>
        </p:nvSpPr>
        <p:spPr>
          <a:xfrm>
            <a:off x="5669280" y="3072384"/>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+$8,110</a:t>
            </a:r>
            <a:endParaRPr lang="en-US" sz="2100" dirty="0"/>
          </a:p>
        </p:txBody>
      </p:sp>
      <p:sp>
        <p:nvSpPr>
          <p:cNvPr id="12" name="Text 9"/>
          <p:cNvSpPr txBox="1"/>
          <p:nvPr/>
        </p:nvSpPr>
        <p:spPr>
          <a:xfrm>
            <a:off x="5669280" y="3401568"/>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in hospital charges when a stay involves delirium, against a stay that does not ²</a:t>
            </a:r>
            <a:endParaRPr lang="en-US" sz="900" dirty="0"/>
          </a:p>
        </p:txBody>
      </p:sp>
      <p:sp>
        <p:nvSpPr>
          <p:cNvPr id="13" name="Text 10"/>
          <p:cNvSpPr txBox="1"/>
          <p:nvPr/>
        </p:nvSpPr>
        <p:spPr>
          <a:xfrm>
            <a:off x="5669280" y="3877056"/>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~27%</a:t>
            </a:r>
            <a:endParaRPr lang="en-US" sz="2100" dirty="0"/>
          </a:p>
        </p:txBody>
      </p:sp>
      <p:sp>
        <p:nvSpPr>
          <p:cNvPr id="14" name="Text 11"/>
          <p:cNvSpPr txBox="1"/>
          <p:nvPr/>
        </p:nvSpPr>
        <p:spPr>
          <a:xfrm>
            <a:off x="5669280" y="4206240"/>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 readmissions judged avoidable (median of 34 studies). Delirium itself: 30–40% preventable ⁶</a:t>
            </a:r>
            <a:endParaRPr lang="en-US" sz="900" dirty="0"/>
          </a:p>
        </p:txBody>
      </p:sp>
      <p:sp>
        <p:nvSpPr>
          <p:cNvPr id="15" name="Text 12"/>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³ AHRQ HCUP Statistical Brief 307, Nationwide Readmissions Database 2020.  ⁴ CMS Hospital Readmissions Reduction Program; KFF, 10 Years of Hospital Readmissions Penalties (FY2022).  ⁵ Community hospital cohort, n = 8,645, OR 2.60 (PMC 2019).  ⁶ van Walraven et al., CMAJ 2011; Inouye et al., NEJM 1999 (HELP).</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No tests. Just a visit.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She makes something every day: a signature, her own words, a finished picture. Each one is also a measurement.</a:t>
            </a:r>
            <a:endParaRPr lang="en-US" sz="1500" dirty="0"/>
          </a:p>
        </p:txBody>
      </p:sp>
      <p:sp>
        <p:nvSpPr>
          <p:cNvPr id="4" name="Shape 2"/>
          <p:cNvSpPr/>
          <p:nvPr/>
        </p:nvSpPr>
        <p:spPr>
          <a:xfrm>
            <a:off x="493776" y="1572768"/>
            <a:ext cx="1464247" cy="2898648"/>
          </a:xfrm>
          <a:prstGeom prst="roundRect">
            <a:avLst>
              <a:gd name="adj" fmla="val 13739"/>
            </a:avLst>
          </a:prstGeom>
          <a:solidFill>
            <a:srgbClr val="111827"/>
          </a:solidFill>
          <a:ln w="12700">
            <a:solidFill>
              <a:srgbClr val="4B5563"/>
            </a:solidFill>
            <a:prstDash val="solid"/>
          </a:ln>
        </p:spPr>
      </p:sp>
      <p:pic>
        <p:nvPicPr>
          <p:cNvPr id="5" name="Image 0" descr="../shots/01-sign-c.png">    </p:cNvPr>
          <p:cNvPicPr>
            <a:picLocks noChangeAspect="1"/>
          </p:cNvPicPr>
          <p:nvPr/>
        </p:nvPicPr>
        <p:blipFill>
          <a:blip r:embed="rId1"/>
          <a:stretch>
            <a:fillRect/>
          </a:stretch>
        </p:blipFill>
        <p:spPr>
          <a:xfrm>
            <a:off x="548640" y="1627632"/>
            <a:ext cx="1354519" cy="2788920"/>
          </a:xfrm>
          <a:prstGeom prst="rect">
            <a:avLst/>
          </a:prstGeom>
        </p:spPr>
      </p:pic>
      <p:sp>
        <p:nvSpPr>
          <p:cNvPr id="6" name="Text 3"/>
          <p:cNvSpPr txBox="1"/>
          <p:nvPr/>
        </p:nvSpPr>
        <p:spPr>
          <a:xfrm>
            <a:off x="228600"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Sign the book</a:t>
            </a:r>
            <a:endParaRPr lang="en-US" sz="1300" dirty="0"/>
          </a:p>
        </p:txBody>
      </p:sp>
      <p:sp>
        <p:nvSpPr>
          <p:cNvPr id="7" name="Text 4"/>
          <p:cNvSpPr txBox="1"/>
          <p:nvPr/>
        </p:nvSpPr>
        <p:spPr>
          <a:xfrm>
            <a:off x="228600"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motor baseline · orientation</a:t>
            </a:r>
            <a:endParaRPr lang="en-US" sz="1000" dirty="0"/>
          </a:p>
        </p:txBody>
      </p:sp>
      <p:sp>
        <p:nvSpPr>
          <p:cNvPr id="8" name="Shape 5"/>
          <p:cNvSpPr/>
          <p:nvPr/>
        </p:nvSpPr>
        <p:spPr>
          <a:xfrm>
            <a:off x="2506663" y="1572768"/>
            <a:ext cx="1464247" cy="2898648"/>
          </a:xfrm>
          <a:prstGeom prst="roundRect">
            <a:avLst>
              <a:gd name="adj" fmla="val 13739"/>
            </a:avLst>
          </a:prstGeom>
          <a:solidFill>
            <a:srgbClr val="111827"/>
          </a:solidFill>
          <a:ln w="12700">
            <a:solidFill>
              <a:srgbClr val="4B5563"/>
            </a:solidFill>
            <a:prstDash val="solid"/>
          </a:ln>
        </p:spPr>
      </p:sp>
      <p:pic>
        <p:nvPicPr>
          <p:cNvPr id="9" name="Image 1" descr="../shots/05-chat-question-c.png">    </p:cNvPr>
          <p:cNvPicPr>
            <a:picLocks noChangeAspect="1"/>
          </p:cNvPicPr>
          <p:nvPr/>
        </p:nvPicPr>
        <p:blipFill>
          <a:blip r:embed="rId2"/>
          <a:stretch>
            <a:fillRect/>
          </a:stretch>
        </p:blipFill>
        <p:spPr>
          <a:xfrm>
            <a:off x="2561527" y="1627632"/>
            <a:ext cx="1354519" cy="2788920"/>
          </a:xfrm>
          <a:prstGeom prst="rect">
            <a:avLst/>
          </a:prstGeom>
        </p:spPr>
      </p:pic>
      <p:sp>
        <p:nvSpPr>
          <p:cNvPr id="10" name="Text 6"/>
          <p:cNvSpPr txBox="1"/>
          <p:nvPr/>
        </p:nvSpPr>
        <p:spPr>
          <a:xfrm>
            <a:off x="2241487"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few questions</a:t>
            </a:r>
            <a:endParaRPr lang="en-US" sz="1300" dirty="0"/>
          </a:p>
        </p:txBody>
      </p:sp>
      <p:sp>
        <p:nvSpPr>
          <p:cNvPr id="11" name="Text 7"/>
          <p:cNvSpPr txBox="1"/>
          <p:nvPr/>
        </p:nvSpPr>
        <p:spPr>
          <a:xfrm>
            <a:off x="2241487"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her own words · latency</a:t>
            </a:r>
            <a:endParaRPr lang="en-US" sz="1000" dirty="0"/>
          </a:p>
        </p:txBody>
      </p:sp>
      <p:sp>
        <p:nvSpPr>
          <p:cNvPr id="12" name="Shape 8"/>
          <p:cNvSpPr/>
          <p:nvPr/>
        </p:nvSpPr>
        <p:spPr>
          <a:xfrm>
            <a:off x="4519550" y="1572768"/>
            <a:ext cx="1464247" cy="2898648"/>
          </a:xfrm>
          <a:prstGeom prst="roundRect">
            <a:avLst>
              <a:gd name="adj" fmla="val 13739"/>
            </a:avLst>
          </a:prstGeom>
          <a:solidFill>
            <a:srgbClr val="111827"/>
          </a:solidFill>
          <a:ln w="12700">
            <a:solidFill>
              <a:srgbClr val="4B5563"/>
            </a:solidFill>
            <a:prstDash val="solid"/>
          </a:ln>
        </p:spPr>
      </p:sp>
      <p:pic>
        <p:nvPicPr>
          <p:cNvPr id="13" name="Image 2" descr="../shots/07-puzzle-anna-c.png">    </p:cNvPr>
          <p:cNvPicPr>
            <a:picLocks noChangeAspect="1"/>
          </p:cNvPicPr>
          <p:nvPr/>
        </p:nvPicPr>
        <p:blipFill>
          <a:blip r:embed="rId3"/>
          <a:stretch>
            <a:fillRect/>
          </a:stretch>
        </p:blipFill>
        <p:spPr>
          <a:xfrm>
            <a:off x="4574414" y="1627632"/>
            <a:ext cx="1354519" cy="2788920"/>
          </a:xfrm>
          <a:prstGeom prst="rect">
            <a:avLst/>
          </a:prstGeom>
        </p:spPr>
      </p:pic>
      <p:sp>
        <p:nvSpPr>
          <p:cNvPr id="14" name="Text 9"/>
          <p:cNvSpPr txBox="1"/>
          <p:nvPr/>
        </p:nvSpPr>
        <p:spPr>
          <a:xfrm>
            <a:off x="4254374"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puzzle, with Anna</a:t>
            </a:r>
            <a:endParaRPr lang="en-US" sz="1300" dirty="0"/>
          </a:p>
        </p:txBody>
      </p:sp>
      <p:sp>
        <p:nvSpPr>
          <p:cNvPr id="15" name="Text 10"/>
          <p:cNvSpPr txBox="1"/>
          <p:nvPr/>
        </p:nvSpPr>
        <p:spPr>
          <a:xfrm>
            <a:off x="4254374"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attention · space · company</a:t>
            </a:r>
            <a:endParaRPr lang="en-US" sz="1000" dirty="0"/>
          </a:p>
        </p:txBody>
      </p:sp>
      <p:sp>
        <p:nvSpPr>
          <p:cNvPr id="16" name="Shape 11"/>
          <p:cNvSpPr/>
          <p:nvPr/>
        </p:nvSpPr>
        <p:spPr>
          <a:xfrm>
            <a:off x="6532437" y="1572768"/>
            <a:ext cx="1464247" cy="2898648"/>
          </a:xfrm>
          <a:prstGeom prst="roundRect">
            <a:avLst>
              <a:gd name="adj" fmla="val 13739"/>
            </a:avLst>
          </a:prstGeom>
          <a:solidFill>
            <a:srgbClr val="111827"/>
          </a:solidFill>
          <a:ln w="12700">
            <a:solidFill>
              <a:srgbClr val="4B5563"/>
            </a:solidFill>
            <a:prstDash val="solid"/>
          </a:ln>
        </p:spPr>
      </p:sp>
      <p:pic>
        <p:nvPicPr>
          <p:cNvPr id="17" name="Image 3" descr="../shots/08-goodbye-c.png">    </p:cNvPr>
          <p:cNvPicPr>
            <a:picLocks noChangeAspect="1"/>
          </p:cNvPicPr>
          <p:nvPr/>
        </p:nvPicPr>
        <p:blipFill>
          <a:blip r:embed="rId4"/>
          <a:stretch>
            <a:fillRect/>
          </a:stretch>
        </p:blipFill>
        <p:spPr>
          <a:xfrm>
            <a:off x="6587301" y="1627632"/>
            <a:ext cx="1354519" cy="2788920"/>
          </a:xfrm>
          <a:prstGeom prst="rect">
            <a:avLst/>
          </a:prstGeom>
        </p:spPr>
      </p:pic>
      <p:sp>
        <p:nvSpPr>
          <p:cNvPr id="18" name="Text 12"/>
          <p:cNvSpPr txBox="1"/>
          <p:nvPr/>
        </p:nvSpPr>
        <p:spPr>
          <a:xfrm>
            <a:off x="6267261"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Goodbye</a:t>
            </a:r>
            <a:endParaRPr lang="en-US" sz="1300" dirty="0"/>
          </a:p>
        </p:txBody>
      </p:sp>
      <p:sp>
        <p:nvSpPr>
          <p:cNvPr id="19" name="Text 13"/>
          <p:cNvSpPr txBox="1"/>
          <p:nvPr/>
        </p:nvSpPr>
        <p:spPr>
          <a:xfrm>
            <a:off x="6267261"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did she come · how fast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475488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What the phone saw.</a:t>
            </a:r>
            <a:endParaRPr lang="en-US" sz="3200" dirty="0"/>
          </a:p>
        </p:txBody>
      </p:sp>
      <p:sp>
        <p:nvSpPr>
          <p:cNvPr id="3" name="Shape 1"/>
          <p:cNvSpPr/>
          <p:nvPr/>
        </p:nvSpPr>
        <p:spPr>
          <a:xfrm>
            <a:off x="548640" y="1051560"/>
            <a:ext cx="4480560" cy="960120"/>
          </a:xfrm>
          <a:prstGeom prst="roundRect">
            <a:avLst>
              <a:gd name="adj" fmla="val 14286"/>
            </a:avLst>
          </a:prstGeom>
          <a:solidFill>
            <a:srgbClr val="FDE2E2"/>
          </a:solidFill>
          <a:ln w="19050">
            <a:solidFill>
              <a:srgbClr val="C8402F"/>
            </a:solidFill>
            <a:prstDash val="solid"/>
          </a:ln>
        </p:spPr>
      </p:sp>
      <p:sp>
        <p:nvSpPr>
          <p:cNvPr id="4" name="Text 2"/>
          <p:cNvSpPr txBox="1"/>
          <p:nvPr/>
        </p:nvSpPr>
        <p:spPr>
          <a:xfrm>
            <a:off x="731520" y="1115568"/>
            <a:ext cx="4114800" cy="822960"/>
          </a:xfrm>
          <a:prstGeom prst="rect">
            <a:avLst/>
          </a:prstGeom>
          <a:noFill/>
          <a:ln/>
        </p:spPr>
        <p:txBody>
          <a:bodyPr wrap="square" lIns="0" tIns="0" rIns="0" bIns="0" rtlCol="0" anchor="ctr"/>
          <a:lstStyle/>
          <a:p>
            <a:pPr indent="0" marL="0">
              <a:buNone/>
            </a:pPr>
            <a:r>
              <a:rPr lang="en-US" sz="1600" i="1" dirty="0">
                <a:solidFill>
                  <a:srgbClr val="C8402F"/>
                </a:solidFill>
                <a:latin typeface="Arial" pitchFamily="34" charset="0"/>
                <a:ea typeface="Arial" pitchFamily="34" charset="-122"/>
                <a:cs typeface="Arial" pitchFamily="34" charset="-120"/>
              </a:rPr>
              <a:t>“Margaret’s signature was slower, more hesitant and a different shape than usual today.”</a:t>
            </a:r>
            <a:endParaRPr lang="en-US" sz="1600" dirty="0"/>
          </a:p>
        </p:txBody>
      </p:sp>
      <p:pic>
        <p:nvPicPr>
          <p:cNvPr id="5" name="Image 0" descr="../shots/14-sig-baseline.png">    </p:cNvPr>
          <p:cNvPicPr>
            <a:picLocks noChangeAspect="1"/>
          </p:cNvPicPr>
          <p:nvPr/>
        </p:nvPicPr>
        <p:blipFill>
          <a:blip r:embed="rId1"/>
          <a:stretch>
            <a:fillRect/>
          </a:stretch>
        </p:blipFill>
        <p:spPr>
          <a:xfrm>
            <a:off x="548640" y="2194560"/>
            <a:ext cx="2103120" cy="1488057"/>
          </a:xfrm>
          <a:prstGeom prst="rect">
            <a:avLst/>
          </a:prstGeom>
        </p:spPr>
      </p:pic>
      <p:pic>
        <p:nvPicPr>
          <p:cNvPr id="6" name="Image 1" descr="../shots/15-sig-today.png">    </p:cNvPr>
          <p:cNvPicPr>
            <a:picLocks noChangeAspect="1"/>
          </p:cNvPicPr>
          <p:nvPr/>
        </p:nvPicPr>
        <p:blipFill>
          <a:blip r:embed="rId2"/>
          <a:stretch>
            <a:fillRect/>
          </a:stretch>
        </p:blipFill>
        <p:spPr>
          <a:xfrm>
            <a:off x="2926080" y="2194560"/>
            <a:ext cx="2103120" cy="1488057"/>
          </a:xfrm>
          <a:prstGeom prst="rect">
            <a:avLst/>
          </a:prstGeom>
        </p:spPr>
      </p:pic>
      <p:sp>
        <p:nvSpPr>
          <p:cNvPr id="7" name="Text 3"/>
          <p:cNvSpPr txBox="1"/>
          <p:nvPr/>
        </p:nvSpPr>
        <p:spPr>
          <a:xfrm>
            <a:off x="548640" y="3794760"/>
            <a:ext cx="4480560" cy="36576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Her usual, and today. It looks the same. It wasn’t.</a:t>
            </a:r>
            <a:endParaRPr lang="en-US" sz="1300" dirty="0"/>
          </a:p>
        </p:txBody>
      </p:sp>
      <p:sp>
        <p:nvSpPr>
          <p:cNvPr id="8" name="Text 4"/>
          <p:cNvSpPr txBox="1"/>
          <p:nvPr/>
        </p:nvSpPr>
        <p:spPr>
          <a:xfrm>
            <a:off x="548640" y="4206240"/>
            <a:ext cx="4480560" cy="4572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What the family sees. Margaret sees a thank-you and her page in the book.</a:t>
            </a:r>
            <a:endParaRPr lang="en-US" sz="1100" dirty="0"/>
          </a:p>
        </p:txBody>
      </p:sp>
      <p:pic>
        <p:nvPicPr>
          <p:cNvPr id="9" name="Image 2" descr="../shots/ztable-5.png">    </p:cNvPr>
          <p:cNvPicPr>
            <a:picLocks noChangeAspect="1"/>
          </p:cNvPicPr>
          <p:nvPr/>
        </p:nvPicPr>
        <p:blipFill>
          <a:blip r:embed="rId3"/>
          <a:stretch>
            <a:fillRect/>
          </a:stretch>
        </p:blipFill>
        <p:spPr>
          <a:xfrm>
            <a:off x="5349240" y="1051560"/>
            <a:ext cx="3429000" cy="1330083"/>
          </a:xfrm>
          <a:prstGeom prst="rect">
            <a:avLst/>
          </a:prstGeom>
        </p:spPr>
      </p:pic>
      <p:sp>
        <p:nvSpPr>
          <p:cNvPr id="10" name="Text 5"/>
          <p:cNvSpPr txBox="1"/>
          <p:nvPr/>
        </p:nvSpPr>
        <p:spPr>
          <a:xfrm>
            <a:off x="5349240" y="251460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Nine features against her own five-day baseline: time to start, total time, pauses, strokes, speed, smoothness, size, shape.</a:t>
            </a:r>
            <a:endParaRPr lang="en-US" sz="1100" dirty="0"/>
          </a:p>
        </p:txBody>
      </p:sp>
      <p:sp>
        <p:nvSpPr>
          <p:cNvPr id="11" name="Text 6"/>
          <p:cNvSpPr txBox="1"/>
          <p:nvPr/>
        </p:nvSpPr>
        <p:spPr>
          <a:xfrm>
            <a:off x="5349240" y="324612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Robust z: today minus her usual, over her usual spread. Well outside on two features is a flag. Three days is a trend.</a:t>
            </a:r>
            <a:endParaRPr lang="en-US" sz="1100" dirty="0"/>
          </a:p>
        </p:txBody>
      </p:sp>
      <p:sp>
        <p:nvSpPr>
          <p:cNvPr id="12" name="Text 7"/>
          <p:cNvSpPr txBox="1"/>
          <p:nvPr/>
        </p:nvSpPr>
        <p:spPr>
          <a:xfrm>
            <a:off x="5349240" y="3977640"/>
            <a:ext cx="3429000" cy="274320"/>
          </a:xfrm>
          <a:prstGeom prst="rect">
            <a:avLst/>
          </a:prstGeom>
          <a:noFill/>
          <a:ln/>
        </p:spPr>
        <p:txBody>
          <a:bodyPr wrap="square" lIns="0" tIns="0" rIns="0" bIns="0" rtlCol="0" anchor="ctr"/>
          <a:lstStyle/>
          <a:p>
            <a:pPr indent="0" marL="0">
              <a:buNone/>
            </a:pPr>
            <a:r>
              <a:rPr lang="en-US" sz="900" i="1" dirty="0">
                <a:solidFill>
                  <a:srgbClr val="9CA3AF"/>
                </a:solidFill>
                <a:latin typeface="Arial" pitchFamily="34" charset="0"/>
                <a:ea typeface="Arial" pitchFamily="34" charset="-122"/>
                <a:cs typeface="Arial" pitchFamily="34" charset="-120"/>
              </a:rPr>
              <a:t>Real numbers from the demo build.</a:t>
            </a:r>
            <a:endParaRPr lang="en-US" sz="900" dirty="0"/>
          </a:p>
        </p:txBody>
      </p:sp>
      <p:pic>
        <p:nvPicPr>
          <p:cNvPr id="13" name="Image 3" descr="../shots/doodle-cat-with-no-face-blue.png">    </p:cNvPr>
          <p:cNvPicPr>
            <a:picLocks noChangeAspect="1"/>
          </p:cNvPicPr>
          <p:nvPr/>
        </p:nvPicPr>
        <p:blipFill>
          <a:blip r:embed="rId4"/>
          <a:stretch>
            <a:fillRect/>
          </a:stretch>
        </p:blipFill>
        <p:spPr>
          <a:xfrm>
            <a:off x="7818120" y="4069080"/>
            <a:ext cx="960120"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How it was built.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A pipeline with a reviewer in it.</a:t>
            </a:r>
            <a:endParaRPr lang="en-US" sz="1500" dirty="0"/>
          </a:p>
        </p:txBody>
      </p:sp>
      <p:sp>
        <p:nvSpPr>
          <p:cNvPr id="4" name="Shape 2"/>
          <p:cNvSpPr/>
          <p:nvPr/>
        </p:nvSpPr>
        <p:spPr>
          <a:xfrm>
            <a:off x="548640" y="1600200"/>
            <a:ext cx="1874520" cy="1691640"/>
          </a:xfrm>
          <a:prstGeom prst="roundRect">
            <a:avLst>
              <a:gd name="adj" fmla="val 8108"/>
            </a:avLst>
          </a:prstGeom>
          <a:solidFill>
            <a:srgbClr val="F3F4F6"/>
          </a:solidFill>
          <a:ln w="12700">
            <a:solidFill>
              <a:srgbClr val="4B5563"/>
            </a:solidFill>
            <a:prstDash val="solid"/>
          </a:ln>
        </p:spPr>
      </p:sp>
      <p:sp>
        <p:nvSpPr>
          <p:cNvPr id="5" name="Text 3"/>
          <p:cNvSpPr txBox="1"/>
          <p:nvPr/>
        </p:nvSpPr>
        <p:spPr>
          <a:xfrm>
            <a:off x="7132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Research</a:t>
            </a:r>
            <a:endParaRPr lang="en-US" sz="1600" dirty="0"/>
          </a:p>
        </p:txBody>
      </p:sp>
      <p:pic>
        <p:nvPicPr>
          <p:cNvPr id="6" name="Image 0" descr="../shots/doodle-flower-with-no-petals-blue.png">    </p:cNvPr>
          <p:cNvPicPr>
            <a:picLocks noChangeAspect="1"/>
          </p:cNvPicPr>
          <p:nvPr/>
        </p:nvPicPr>
        <p:blipFill>
          <a:blip r:embed="rId1"/>
          <a:stretch>
            <a:fillRect/>
          </a:stretch>
        </p:blipFill>
        <p:spPr>
          <a:xfrm>
            <a:off x="1819656" y="1673352"/>
            <a:ext cx="530352" cy="530352"/>
          </a:xfrm>
          <a:prstGeom prst="rect">
            <a:avLst/>
          </a:prstGeom>
        </p:spPr>
      </p:pic>
      <p:sp>
        <p:nvSpPr>
          <p:cNvPr id="7" name="Text 4"/>
          <p:cNvSpPr txBox="1"/>
          <p:nvPr/>
        </p:nvSpPr>
        <p:spPr>
          <a:xfrm>
            <a:off x="7132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A Claude research agent wrote the insight map and the 80+ design criteria.</a:t>
            </a:r>
            <a:endParaRPr lang="en-US" sz="1150" dirty="0"/>
          </a:p>
        </p:txBody>
      </p:sp>
      <p:sp>
        <p:nvSpPr>
          <p:cNvPr id="8" name="Shape 5"/>
          <p:cNvSpPr/>
          <p:nvPr/>
        </p:nvSpPr>
        <p:spPr>
          <a:xfrm>
            <a:off x="2441448" y="1965960"/>
            <a:ext cx="146304" cy="0"/>
          </a:xfrm>
          <a:prstGeom prst="line">
            <a:avLst/>
          </a:prstGeom>
          <a:noFill/>
          <a:ln w="25400">
            <a:solidFill>
              <a:srgbClr val="4B5563"/>
            </a:solidFill>
            <a:prstDash val="solid"/>
            <a:tailEnd type="triangle"/>
          </a:ln>
        </p:spPr>
      </p:sp>
      <p:sp>
        <p:nvSpPr>
          <p:cNvPr id="9" name="Shape 6"/>
          <p:cNvSpPr/>
          <p:nvPr/>
        </p:nvSpPr>
        <p:spPr>
          <a:xfrm>
            <a:off x="2606040" y="1600200"/>
            <a:ext cx="1874520" cy="1691640"/>
          </a:xfrm>
          <a:prstGeom prst="roundRect">
            <a:avLst>
              <a:gd name="adj" fmla="val 8108"/>
            </a:avLst>
          </a:prstGeom>
          <a:solidFill>
            <a:srgbClr val="F3F4F6"/>
          </a:solidFill>
          <a:ln w="12700">
            <a:solidFill>
              <a:srgbClr val="4B5563"/>
            </a:solidFill>
            <a:prstDash val="solid"/>
          </a:ln>
        </p:spPr>
      </p:sp>
      <p:sp>
        <p:nvSpPr>
          <p:cNvPr id="10" name="Text 7"/>
          <p:cNvSpPr txBox="1"/>
          <p:nvPr/>
        </p:nvSpPr>
        <p:spPr>
          <a:xfrm>
            <a:off x="27706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Sketches</a:t>
            </a:r>
            <a:endParaRPr lang="en-US" sz="1600" dirty="0"/>
          </a:p>
        </p:txBody>
      </p:sp>
      <p:pic>
        <p:nvPicPr>
          <p:cNvPr id="11" name="Image 1" descr="../shots/doodle-half-a-house-blue.png">    </p:cNvPr>
          <p:cNvPicPr>
            <a:picLocks noChangeAspect="1"/>
          </p:cNvPicPr>
          <p:nvPr/>
        </p:nvPicPr>
        <p:blipFill>
          <a:blip r:embed="rId2"/>
          <a:stretch>
            <a:fillRect/>
          </a:stretch>
        </p:blipFill>
        <p:spPr>
          <a:xfrm>
            <a:off x="3877056" y="1673352"/>
            <a:ext cx="530352" cy="530352"/>
          </a:xfrm>
          <a:prstGeom prst="rect">
            <a:avLst/>
          </a:prstGeom>
        </p:spPr>
      </p:pic>
      <p:sp>
        <p:nvSpPr>
          <p:cNvPr id="12" name="Text 8"/>
          <p:cNvSpPr txBox="1"/>
          <p:nvPr/>
        </p:nvSpPr>
        <p:spPr>
          <a:xfrm>
            <a:off x="27706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Nine design docs, one template. Product and engineering in one file.</a:t>
            </a:r>
            <a:endParaRPr lang="en-US" sz="1150" dirty="0"/>
          </a:p>
        </p:txBody>
      </p:sp>
      <p:sp>
        <p:nvSpPr>
          <p:cNvPr id="13" name="Shape 9"/>
          <p:cNvSpPr/>
          <p:nvPr/>
        </p:nvSpPr>
        <p:spPr>
          <a:xfrm>
            <a:off x="4498848" y="1965960"/>
            <a:ext cx="146304" cy="0"/>
          </a:xfrm>
          <a:prstGeom prst="line">
            <a:avLst/>
          </a:prstGeom>
          <a:noFill/>
          <a:ln w="25400">
            <a:solidFill>
              <a:srgbClr val="4B5563"/>
            </a:solidFill>
            <a:prstDash val="solid"/>
            <a:tailEnd type="triangle"/>
          </a:ln>
        </p:spPr>
      </p:sp>
      <p:sp>
        <p:nvSpPr>
          <p:cNvPr id="14" name="Shape 10"/>
          <p:cNvSpPr/>
          <p:nvPr/>
        </p:nvSpPr>
        <p:spPr>
          <a:xfrm>
            <a:off x="4663440" y="1600200"/>
            <a:ext cx="1874520" cy="1691640"/>
          </a:xfrm>
          <a:prstGeom prst="roundRect">
            <a:avLst>
              <a:gd name="adj" fmla="val 8108"/>
            </a:avLst>
          </a:prstGeom>
          <a:solidFill>
            <a:srgbClr val="F3F4F6"/>
          </a:solidFill>
          <a:ln w="12700">
            <a:solidFill>
              <a:srgbClr val="4B5563"/>
            </a:solidFill>
            <a:prstDash val="solid"/>
          </a:ln>
        </p:spPr>
      </p:sp>
      <p:sp>
        <p:nvSpPr>
          <p:cNvPr id="15" name="Text 11"/>
          <p:cNvSpPr txBox="1"/>
          <p:nvPr/>
        </p:nvSpPr>
        <p:spPr>
          <a:xfrm>
            <a:off x="48280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ernie-ui</a:t>
            </a:r>
            <a:endParaRPr lang="en-US" sz="1600" dirty="0"/>
          </a:p>
        </p:txBody>
      </p:sp>
      <p:pic>
        <p:nvPicPr>
          <p:cNvPr id="16" name="Image 2" descr="../shots/doodle-cat-with-no-face-blue.png">    </p:cNvPr>
          <p:cNvPicPr>
            <a:picLocks noChangeAspect="1"/>
          </p:cNvPicPr>
          <p:nvPr/>
        </p:nvPicPr>
        <p:blipFill>
          <a:blip r:embed="rId3"/>
          <a:stretch>
            <a:fillRect/>
          </a:stretch>
        </p:blipFill>
        <p:spPr>
          <a:xfrm>
            <a:off x="5934456" y="1673352"/>
            <a:ext cx="530352" cy="530352"/>
          </a:xfrm>
          <a:prstGeom prst="rect">
            <a:avLst/>
          </a:prstGeom>
        </p:spPr>
      </p:pic>
      <p:sp>
        <p:nvSpPr>
          <p:cNvPr id="17" name="Text 12"/>
          <p:cNvSpPr txBox="1"/>
          <p:nvPr/>
        </p:nvSpPr>
        <p:spPr>
          <a:xfrm>
            <a:off x="48280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A component kit with the criteria baked in. Synced to Claude Design.</a:t>
            </a:r>
            <a:endParaRPr lang="en-US" sz="1150" dirty="0"/>
          </a:p>
        </p:txBody>
      </p:sp>
      <p:sp>
        <p:nvSpPr>
          <p:cNvPr id="18" name="Shape 13"/>
          <p:cNvSpPr/>
          <p:nvPr/>
        </p:nvSpPr>
        <p:spPr>
          <a:xfrm>
            <a:off x="6556248" y="1965960"/>
            <a:ext cx="146304" cy="0"/>
          </a:xfrm>
          <a:prstGeom prst="line">
            <a:avLst/>
          </a:prstGeom>
          <a:noFill/>
          <a:ln w="25400">
            <a:solidFill>
              <a:srgbClr val="4B5563"/>
            </a:solidFill>
            <a:prstDash val="solid"/>
            <a:tailEnd type="triangle"/>
          </a:ln>
        </p:spPr>
      </p:sp>
      <p:sp>
        <p:nvSpPr>
          <p:cNvPr id="19" name="Shape 14"/>
          <p:cNvSpPr/>
          <p:nvPr/>
        </p:nvSpPr>
        <p:spPr>
          <a:xfrm>
            <a:off x="6720840" y="1600200"/>
            <a:ext cx="1874520" cy="1691640"/>
          </a:xfrm>
          <a:prstGeom prst="roundRect">
            <a:avLst>
              <a:gd name="adj" fmla="val 8108"/>
            </a:avLst>
          </a:prstGeom>
          <a:solidFill>
            <a:srgbClr val="1E40AF"/>
          </a:solidFill>
          <a:ln w="12700">
            <a:solidFill>
              <a:srgbClr val="4B5563"/>
            </a:solidFill>
            <a:prstDash val="solid"/>
          </a:ln>
        </p:spPr>
      </p:sp>
      <p:sp>
        <p:nvSpPr>
          <p:cNvPr id="20" name="Text 15"/>
          <p:cNvSpPr txBox="1"/>
          <p:nvPr/>
        </p:nvSpPr>
        <p:spPr>
          <a:xfrm>
            <a:off x="6885432" y="1737360"/>
            <a:ext cx="11430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app</a:t>
            </a:r>
            <a:endParaRPr lang="en-US" sz="1600" dirty="0"/>
          </a:p>
        </p:txBody>
      </p:sp>
      <p:sp>
        <p:nvSpPr>
          <p:cNvPr id="21" name="Text 16"/>
          <p:cNvSpPr txBox="1"/>
          <p:nvPr/>
        </p:nvSpPr>
        <p:spPr>
          <a:xfrm>
            <a:off x="6885432" y="2240280"/>
            <a:ext cx="1545336" cy="960120"/>
          </a:xfrm>
          <a:prstGeom prst="rect">
            <a:avLst/>
          </a:prstGeom>
          <a:noFill/>
          <a:ln/>
        </p:spPr>
        <p:txBody>
          <a:bodyPr wrap="square" lIns="0" tIns="0" rIns="0" bIns="0" rtlCol="0" anchor="ctr"/>
          <a:lstStyle/>
          <a:p>
            <a:pPr indent="0" marL="0">
              <a:buNone/>
            </a:pPr>
            <a:r>
              <a:rPr lang="en-US" sz="1150" dirty="0">
                <a:solidFill>
                  <a:srgbClr val="C7D2FE"/>
                </a:solidFill>
                <a:latin typeface="Arial" pitchFamily="34" charset="0"/>
                <a:ea typeface="Arial" pitchFamily="34" charset="-122"/>
                <a:cs typeface="Arial" pitchFamily="34" charset="-120"/>
              </a:rPr>
              <a:t>One small web service. Claude reads her replies as data, never advice. Works without a model.</a:t>
            </a:r>
            <a:endParaRPr lang="en-US" sz="1150" dirty="0"/>
          </a:p>
        </p:txBody>
      </p:sp>
      <p:sp>
        <p:nvSpPr>
          <p:cNvPr id="22" name="Shape 17"/>
          <p:cNvSpPr/>
          <p:nvPr/>
        </p:nvSpPr>
        <p:spPr>
          <a:xfrm>
            <a:off x="548640" y="3657600"/>
            <a:ext cx="8046720" cy="822960"/>
          </a:xfrm>
          <a:prstGeom prst="roundRect">
            <a:avLst>
              <a:gd name="adj" fmla="val 16667"/>
            </a:avLst>
          </a:prstGeom>
          <a:solidFill>
            <a:srgbClr val="DBEAFE"/>
          </a:solidFill>
          <a:ln w="12700">
            <a:solidFill>
              <a:srgbClr val="4B5563"/>
            </a:solidFill>
            <a:prstDash val="solid"/>
          </a:ln>
        </p:spPr>
      </p:sp>
      <p:sp>
        <p:nvSpPr>
          <p:cNvPr id="23" name="Text 18"/>
          <p:cNvSpPr txBox="1"/>
          <p:nvPr/>
        </p:nvSpPr>
        <p:spPr>
          <a:xfrm>
            <a:off x="731520" y="3749040"/>
            <a:ext cx="1371600" cy="365760"/>
          </a:xfrm>
          <a:prstGeom prst="rect">
            <a:avLst/>
          </a:prstGeom>
          <a:noFill/>
          <a:ln/>
        </p:spPr>
        <p:txBody>
          <a:bodyPr wrap="square" lIns="0" tIns="0" rIns="0" bIns="0" rtlCol="0" anchor="ctr"/>
          <a:lstStyle/>
          <a:p>
            <a:pPr indent="0" marL="0">
              <a:buNone/>
            </a:pPr>
            <a:r>
              <a:rPr lang="en-US" sz="1600" b="1" dirty="0">
                <a:solidFill>
                  <a:srgbClr val="1E40AF"/>
                </a:solidFill>
                <a:latin typeface="Arial" pitchFamily="34" charset="0"/>
                <a:ea typeface="Arial" pitchFamily="34" charset="-122"/>
                <a:cs typeface="Arial" pitchFamily="34" charset="-120"/>
              </a:rPr>
              <a:t>ux-critic</a:t>
            </a:r>
            <a:endParaRPr lang="en-US" sz="1600" dirty="0"/>
          </a:p>
        </p:txBody>
      </p:sp>
      <p:sp>
        <p:nvSpPr>
          <p:cNvPr id="24" name="Text 19"/>
          <p:cNvSpPr txBox="1"/>
          <p:nvPr/>
        </p:nvSpPr>
        <p:spPr>
          <a:xfrm>
            <a:off x="2103120" y="3730752"/>
            <a:ext cx="6309360" cy="685800"/>
          </a:xfrm>
          <a:prstGeom prst="rect">
            <a:avLst/>
          </a:prstGeom>
          <a:noFill/>
          <a:ln/>
        </p:spPr>
        <p:txBody>
          <a:bodyPr wrap="square" lIns="0" tIns="0" rIns="0" bIns="0" rtlCol="0" anchor="ctr"/>
          <a:lstStyle/>
          <a:p>
            <a:pPr indent="0" marL="0">
              <a:buNone/>
            </a:pPr>
            <a:r>
              <a:rPr lang="en-US" sz="1150" dirty="0">
                <a:solidFill>
                  <a:srgbClr val="111827"/>
                </a:solidFill>
                <a:latin typeface="Arial" pitchFamily="34" charset="0"/>
                <a:ea typeface="Arial" pitchFamily="34" charset="-122"/>
                <a:cs typeface="Arial" pitchFamily="34" charset="-120"/>
              </a:rPr>
              <a:t>Runs before every pull request. Drives the real page, checks it against the 80+ checklist, and blocks anything an 84-year-old could not use.</a:t>
            </a:r>
            <a:endParaRPr lang="en-US" sz="1150" dirty="0"/>
          </a:p>
        </p:txBody>
      </p:sp>
      <p:sp>
        <p:nvSpPr>
          <p:cNvPr id="25" name="Shape 20"/>
          <p:cNvSpPr/>
          <p:nvPr/>
        </p:nvSpPr>
        <p:spPr>
          <a:xfrm>
            <a:off x="7406640" y="3310128"/>
            <a:ext cx="0" cy="329184"/>
          </a:xfrm>
          <a:prstGeom prst="line">
            <a:avLst/>
          </a:prstGeom>
          <a:noFill/>
          <a:ln w="25400">
            <a:solidFill>
              <a:srgbClr val="1E40AF"/>
            </a:solidFill>
            <a:prstDash val="solid"/>
            <a:tailEnd type="triangle"/>
          </a:ln>
        </p:spPr>
      </p:sp>
      <p:sp>
        <p:nvSpPr>
          <p:cNvPr id="26" name="Shape 21"/>
          <p:cNvSpPr/>
          <p:nvPr/>
        </p:nvSpPr>
        <p:spPr>
          <a:xfrm flipV="1">
            <a:off x="1463040" y="3310128"/>
            <a:ext cx="0" cy="329184"/>
          </a:xfrm>
          <a:prstGeom prst="line">
            <a:avLst/>
          </a:prstGeom>
          <a:noFill/>
          <a:ln w="25400">
            <a:solidFill>
              <a:srgbClr val="1E40AF"/>
            </a:solidFill>
            <a:prstDash val="solid"/>
            <a:tailEnd type="triangle"/>
          </a:ln>
        </p:spPr>
      </p:sp>
      <p:sp>
        <p:nvSpPr>
          <p:cNvPr id="27" name="Text 22"/>
          <p:cNvSpPr txBox="1"/>
          <p:nvPr/>
        </p:nvSpPr>
        <p:spPr>
          <a:xfrm>
            <a:off x="7498080" y="340156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audits</a:t>
            </a:r>
            <a:endParaRPr lang="en-US" sz="800" dirty="0"/>
          </a:p>
        </p:txBody>
      </p:sp>
      <p:sp>
        <p:nvSpPr>
          <p:cNvPr id="28" name="Text 23"/>
          <p:cNvSpPr txBox="1"/>
          <p:nvPr/>
        </p:nvSpPr>
        <p:spPr>
          <a:xfrm>
            <a:off x="1554480" y="340156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fixes</a:t>
            </a:r>
            <a:endParaRPr lang="en-US" sz="800" dirty="0"/>
          </a:p>
        </p:txBody>
      </p:sp>
      <p:sp>
        <p:nvSpPr>
          <p:cNvPr id="29" name="Text 24"/>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All of it is in the repository.</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What’s next</a:t>
            </a:r>
            <a:endParaRPr lang="en-US" sz="3600" dirty="0"/>
          </a:p>
        </p:txBody>
      </p:sp>
      <p:sp>
        <p:nvSpPr>
          <p:cNvPr id="3" name="Shape 1"/>
          <p:cNvSpPr/>
          <p:nvPr/>
        </p:nvSpPr>
        <p:spPr>
          <a:xfrm>
            <a:off x="548640" y="1325880"/>
            <a:ext cx="502920" cy="502920"/>
          </a:xfrm>
          <a:prstGeom prst="roundRect">
            <a:avLst>
              <a:gd name="adj" fmla="val 50909"/>
            </a:avLst>
          </a:prstGeom>
          <a:solidFill>
            <a:srgbClr val="1E40AF"/>
          </a:solidFill>
          <a:ln w="12700">
            <a:solidFill>
              <a:srgbClr val="4B5563"/>
            </a:solidFill>
            <a:prstDash val="solid"/>
          </a:ln>
        </p:spPr>
      </p:sp>
      <p:sp>
        <p:nvSpPr>
          <p:cNvPr id="4" name="Text 2"/>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34440" y="13075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leaves the phone</a:t>
            </a:r>
            <a:endParaRPr lang="en-US" sz="1600" dirty="0"/>
          </a:p>
        </p:txBody>
      </p:sp>
      <p:sp>
        <p:nvSpPr>
          <p:cNvPr id="6" name="Text 4"/>
          <p:cNvSpPr txBox="1"/>
          <p:nvPr/>
        </p:nvSpPr>
        <p:spPr>
          <a:xfrm>
            <a:off x="1234440" y="16276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One process, one file: events, baselines, a family link.</a:t>
            </a:r>
            <a:endParaRPr lang="en-US" sz="1200" dirty="0"/>
          </a:p>
        </p:txBody>
      </p:sp>
      <p:sp>
        <p:nvSpPr>
          <p:cNvPr id="7" name="Shape 5"/>
          <p:cNvSpPr/>
          <p:nvPr/>
        </p:nvSpPr>
        <p:spPr>
          <a:xfrm>
            <a:off x="548640" y="2240280"/>
            <a:ext cx="502920" cy="502920"/>
          </a:xfrm>
          <a:prstGeom prst="roundRect">
            <a:avLst>
              <a:gd name="adj" fmla="val 50909"/>
            </a:avLst>
          </a:prstGeom>
          <a:solidFill>
            <a:srgbClr val="1E40AF"/>
          </a:solidFill>
          <a:ln w="12700">
            <a:solidFill>
              <a:srgbClr val="4B5563"/>
            </a:solidFill>
            <a:prstDash val="solid"/>
          </a:ln>
        </p:spPr>
      </p:sp>
      <p:sp>
        <p:nvSpPr>
          <p:cNvPr id="8"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34440" y="22219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real people, three days</a:t>
            </a:r>
            <a:endParaRPr lang="en-US" sz="1600" dirty="0"/>
          </a:p>
        </p:txBody>
      </p:sp>
      <p:sp>
        <p:nvSpPr>
          <p:cNvPr id="10" name="Text 8"/>
          <p:cNvSpPr txBox="1"/>
          <p:nvPr/>
        </p:nvSpPr>
        <p:spPr>
          <a:xfrm>
            <a:off x="1234440" y="25420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Does a finger signature hold a baseline? Does a live doodle beat a check-in?</a:t>
            </a:r>
            <a:endParaRPr lang="en-US" sz="1200" dirty="0"/>
          </a:p>
        </p:txBody>
      </p:sp>
      <p:sp>
        <p:nvSpPr>
          <p:cNvPr id="11" name="Shape 9"/>
          <p:cNvSpPr/>
          <p:nvPr/>
        </p:nvSpPr>
        <p:spPr>
          <a:xfrm>
            <a:off x="548640" y="3154680"/>
            <a:ext cx="502920" cy="502920"/>
          </a:xfrm>
          <a:prstGeom prst="roundRect">
            <a:avLst>
              <a:gd name="adj" fmla="val 50909"/>
            </a:avLst>
          </a:prstGeom>
          <a:solidFill>
            <a:srgbClr val="1E40AF"/>
          </a:solidFill>
          <a:ln w="12700">
            <a:solidFill>
              <a:srgbClr val="4B5563"/>
            </a:solidFill>
            <a:prstDash val="solid"/>
          </a:ln>
        </p:spPr>
      </p:sp>
      <p:sp>
        <p:nvSpPr>
          <p:cNvPr id="12" name="Text 10"/>
          <p:cNvSpPr txBox="1"/>
          <p:nvPr/>
        </p:nvSpPr>
        <p:spPr>
          <a:xfrm>
            <a:off x="548640" y="31546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34440" y="31363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explanation layer</a:t>
            </a:r>
            <a:endParaRPr lang="en-US" sz="1600" dirty="0"/>
          </a:p>
        </p:txBody>
      </p:sp>
      <p:sp>
        <p:nvSpPr>
          <p:cNvPr id="14" name="Text 12"/>
          <p:cNvSpPr txBox="1"/>
          <p:nvPr/>
        </p:nvSpPr>
        <p:spPr>
          <a:xfrm>
            <a:off x="1234440" y="34564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A flag opens what changed, what it usually means, who to call before the ER.</a:t>
            </a:r>
            <a:endParaRPr lang="en-US" sz="1200" dirty="0"/>
          </a:p>
        </p:txBody>
      </p:sp>
      <p:sp>
        <p:nvSpPr>
          <p:cNvPr id="15" name="Text 13"/>
          <p:cNvSpPr txBox="1"/>
          <p:nvPr/>
        </p:nvSpPr>
        <p:spPr>
          <a:xfrm>
            <a:off x="548640" y="4114800"/>
            <a:ext cx="5303520" cy="457200"/>
          </a:xfrm>
          <a:prstGeom prst="rect">
            <a:avLst/>
          </a:prstGeom>
          <a:noFill/>
          <a:ln/>
        </p:spPr>
        <p:txBody>
          <a:bodyPr wrap="square" lIns="0" tIns="0" rIns="0" bIns="0" rtlCol="0" anchor="ctr"/>
          <a:lstStyle/>
          <a:p>
            <a:pPr indent="0" marL="0">
              <a:buNone/>
            </a:pPr>
            <a:r>
              <a:rPr lang="en-US" sz="1300" i="1" dirty="0">
                <a:solidFill>
                  <a:srgbClr val="C7D2FE"/>
                </a:solidFill>
                <a:latin typeface="Arial" pitchFamily="34" charset="0"/>
                <a:ea typeface="Arial" pitchFamily="34" charset="-122"/>
                <a:cs typeface="Arial" pitchFamily="34" charset="-120"/>
              </a:rPr>
              <a:t>Decision support, never a diagnosis. A human on every flag.</a:t>
            </a:r>
            <a:endParaRPr lang="en-US" sz="1300" dirty="0"/>
          </a:p>
        </p:txBody>
      </p:sp>
      <p:pic>
        <p:nvPicPr>
          <p:cNvPr id="16" name="Image 0" descr="../shots/doodle-half-a-house-white.png">    </p:cNvPr>
          <p:cNvPicPr>
            <a:picLocks noChangeAspect="1"/>
          </p:cNvPicPr>
          <p:nvPr/>
        </p:nvPicPr>
        <p:blipFill>
          <a:blip r:embed="rId1"/>
          <a:stretch>
            <a:fillRect/>
          </a:stretch>
        </p:blipFill>
        <p:spPr>
          <a:xfrm>
            <a:off x="6035040" y="457200"/>
            <a:ext cx="1463040" cy="1463040"/>
          </a:xfrm>
          <a:prstGeom prst="rect">
            <a:avLst/>
          </a:prstGeom>
        </p:spPr>
      </p:pic>
      <p:pic>
        <p:nvPicPr>
          <p:cNvPr id="17" name="Image 1" descr="../shots/doodle-cat-with-no-face-white.png">    </p:cNvPr>
          <p:cNvPicPr>
            <a:picLocks noChangeAspect="1"/>
          </p:cNvPicPr>
          <p:nvPr/>
        </p:nvPicPr>
        <p:blipFill>
          <a:blip r:embed="rId2"/>
          <a:stretch>
            <a:fillRect/>
          </a:stretch>
        </p:blipFill>
        <p:spPr>
          <a:xfrm>
            <a:off x="7315200" y="1554480"/>
            <a:ext cx="1463040" cy="1463040"/>
          </a:xfrm>
          <a:prstGeom prst="rect">
            <a:avLst/>
          </a:prstGeom>
        </p:spPr>
      </p:pic>
      <p:pic>
        <p:nvPicPr>
          <p:cNvPr id="18" name="Image 2" descr="../shots/doodle-flower-with-no-petals-white.png">    </p:cNvPr>
          <p:cNvPicPr>
            <a:picLocks noChangeAspect="1"/>
          </p:cNvPicPr>
          <p:nvPr/>
        </p:nvPicPr>
        <p:blipFill>
          <a:blip r:embed="rId3"/>
          <a:stretch>
            <a:fillRect/>
          </a:stretch>
        </p:blipFill>
        <p:spPr>
          <a:xfrm>
            <a:off x="6035040" y="2651760"/>
            <a:ext cx="1463040" cy="1463040"/>
          </a:xfrm>
          <a:prstGeom prst="rect">
            <a:avLst/>
          </a:prstGeom>
        </p:spPr>
      </p:pic>
      <p:sp>
        <p:nvSpPr>
          <p:cNvPr id="19" name="Text 14"/>
          <p:cNvSpPr txBox="1"/>
          <p:nvPr/>
        </p:nvSpPr>
        <p:spPr>
          <a:xfrm>
            <a:off x="6035040" y="4343400"/>
            <a:ext cx="2743200" cy="365760"/>
          </a:xfrm>
          <a:prstGeom prst="rect">
            <a:avLst/>
          </a:prstGeom>
          <a:noFill/>
          <a:ln/>
        </p:spPr>
        <p:txBody>
          <a:bodyPr wrap="square" lIns="0" tIns="0" rIns="0" bIns="0" rtlCol="0" anchor="ctr"/>
          <a:lstStyle/>
          <a:p>
            <a:pPr indent="0" marL="0">
              <a:buNone/>
            </a:pPr>
            <a:r>
              <a:rPr lang="en-US" sz="1000" i="1" dirty="0">
                <a:solidFill>
                  <a:srgbClr val="9CA3AF"/>
                </a:solidFill>
                <a:latin typeface="Arial" pitchFamily="34" charset="0"/>
                <a:ea typeface="Arial" pitchFamily="34" charset="-122"/>
                <a:cs typeface="Arial" pitchFamily="34" charset="-120"/>
              </a:rPr>
              <a:t>Synthetic people only. Not a medical device.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Sources</a:t>
            </a:r>
            <a:endParaRPr lang="en-US" sz="3200" dirty="0"/>
          </a:p>
        </p:txBody>
      </p:sp>
      <p:sp>
        <p:nvSpPr>
          <p:cNvPr id="3" name="Text 1"/>
          <p:cNvSpPr txBox="1"/>
          <p:nvPr/>
        </p:nvSpPr>
        <p:spPr>
          <a:xfrm>
            <a:off x="548640" y="100584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1</a:t>
            </a:r>
            <a:endParaRPr lang="en-US" sz="1100" dirty="0"/>
          </a:p>
        </p:txBody>
      </p:sp>
      <p:sp>
        <p:nvSpPr>
          <p:cNvPr id="4" name="Text 2"/>
          <p:cNvSpPr txBox="1"/>
          <p:nvPr/>
        </p:nvSpPr>
        <p:spPr>
          <a:xfrm>
            <a:off x="868680" y="1005840"/>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Delirium unrecognised in up to 60% of hospital cases and about 75% in the emergency department.</a:t>
            </a:r>
            <a:endParaRPr lang="en-US" sz="900" dirty="0"/>
          </a:p>
        </p:txBody>
      </p:sp>
      <p:sp>
        <p:nvSpPr>
          <p:cNvPr id="5" name="Text 3"/>
          <p:cNvSpPr txBox="1"/>
          <p:nvPr/>
        </p:nvSpPr>
        <p:spPr>
          <a:xfrm>
            <a:off x="5852160" y="1005840"/>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Delirium in Hospitalized Older Adults: A Narrative Review (PMC, 2026); Delirium screening in the emergency department (PMC, 2024).</a:t>
            </a:r>
            <a:endParaRPr lang="en-US" sz="850" dirty="0"/>
          </a:p>
        </p:txBody>
      </p:sp>
      <p:sp>
        <p:nvSpPr>
          <p:cNvPr id="6" name="Text 4"/>
          <p:cNvSpPr txBox="1"/>
          <p:nvPr/>
        </p:nvSpPr>
        <p:spPr>
          <a:xfrm>
            <a:off x="548640" y="1627632"/>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2</a:t>
            </a:r>
            <a:endParaRPr lang="en-US" sz="1100" dirty="0"/>
          </a:p>
        </p:txBody>
      </p:sp>
      <p:sp>
        <p:nvSpPr>
          <p:cNvPr id="7" name="Text 5"/>
          <p:cNvSpPr txBox="1"/>
          <p:nvPr/>
        </p:nvSpPr>
        <p:spPr>
          <a:xfrm>
            <a:off x="868680" y="1627632"/>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Delirium affects over 7 million hospitalised US adults a year; 11% of Medicare beneficiaries had an episode; +$8,110 hospital charges per delirium stay (95% CI $1,860–$14,360).</a:t>
            </a:r>
            <a:endParaRPr lang="en-US" sz="900" dirty="0"/>
          </a:p>
        </p:txBody>
      </p:sp>
      <p:sp>
        <p:nvSpPr>
          <p:cNvPr id="8" name="Text 6"/>
          <p:cNvSpPr txBox="1"/>
          <p:nvPr/>
        </p:nvSpPr>
        <p:spPr>
          <a:xfrm>
            <a:off x="5852160" y="1627632"/>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Additional hospitalization costs associated with delirium among older adults, Frontiers in Public Health, 2026 (Medicare Current Beneficiary Survey 2019–2021).</a:t>
            </a:r>
            <a:endParaRPr lang="en-US" sz="850" dirty="0"/>
          </a:p>
        </p:txBody>
      </p:sp>
      <p:sp>
        <p:nvSpPr>
          <p:cNvPr id="9" name="Text 7"/>
          <p:cNvSpPr txBox="1"/>
          <p:nvPr/>
        </p:nvSpPr>
        <p:spPr>
          <a:xfrm>
            <a:off x="548640" y="2249424"/>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3</a:t>
            </a:r>
            <a:endParaRPr lang="en-US" sz="1100" dirty="0"/>
          </a:p>
        </p:txBody>
      </p:sp>
      <p:sp>
        <p:nvSpPr>
          <p:cNvPr id="10" name="Text 8"/>
          <p:cNvSpPr txBox="1"/>
          <p:nvPr/>
        </p:nvSpPr>
        <p:spPr>
          <a:xfrm>
            <a:off x="868680" y="2249424"/>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Medicare: 2,002,700 30-day readmissions in 2020, 17.0 per 100 index stays, $36.2 B aggregate, $18,100 average. Top causes at index admission: septicemia 207,300; heart failure 147,800; acute renal failure 60,000; pneumonia 58,900; diabetes with complications 58,700.</a:t>
            </a:r>
            <a:endParaRPr lang="en-US" sz="900" dirty="0"/>
          </a:p>
        </p:txBody>
      </p:sp>
      <p:sp>
        <p:nvSpPr>
          <p:cNvPr id="11" name="Text 9"/>
          <p:cNvSpPr txBox="1"/>
          <p:nvPr/>
        </p:nvSpPr>
        <p:spPr>
          <a:xfrm>
            <a:off x="5852160" y="2249424"/>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AHRQ HCUP Statistical Brief #307, Nationwide Readmissions Database, 2020.</a:t>
            </a:r>
            <a:endParaRPr lang="en-US" sz="850" dirty="0"/>
          </a:p>
        </p:txBody>
      </p:sp>
      <p:sp>
        <p:nvSpPr>
          <p:cNvPr id="12" name="Text 10"/>
          <p:cNvSpPr txBox="1"/>
          <p:nvPr/>
        </p:nvSpPr>
        <p:spPr>
          <a:xfrm>
            <a:off x="548640" y="2871216"/>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4</a:t>
            </a:r>
            <a:endParaRPr lang="en-US" sz="1100" dirty="0"/>
          </a:p>
        </p:txBody>
      </p:sp>
      <p:sp>
        <p:nvSpPr>
          <p:cNvPr id="13" name="Text 11"/>
          <p:cNvSpPr txBox="1"/>
          <p:nvPr/>
        </p:nvSpPr>
        <p:spPr>
          <a:xfrm>
            <a:off x="868680" y="2871216"/>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HRRP reduces a hospital’s Medicare inpatient payments by up to 3% for a fiscal year when 30-day readmissions for six conditions exceed the expected rate. FY2022: 2,499 of 3,139 hospitals penalised, average 0.64%, 39 at the 3% maximum, about $521 M withheld.</a:t>
            </a:r>
            <a:endParaRPr lang="en-US" sz="900" dirty="0"/>
          </a:p>
        </p:txBody>
      </p:sp>
      <p:sp>
        <p:nvSpPr>
          <p:cNvPr id="14" name="Text 12"/>
          <p:cNvSpPr txBox="1"/>
          <p:nvPr/>
        </p:nvSpPr>
        <p:spPr>
          <a:xfrm>
            <a:off x="5852160" y="2871216"/>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CMS, Hospital Readmissions Reduction Program; KFF, 10 Years of Hospital Readmissions Penalties.</a:t>
            </a:r>
            <a:endParaRPr lang="en-US" sz="850" dirty="0"/>
          </a:p>
        </p:txBody>
      </p:sp>
      <p:sp>
        <p:nvSpPr>
          <p:cNvPr id="15" name="Text 13"/>
          <p:cNvSpPr txBox="1"/>
          <p:nvPr/>
        </p:nvSpPr>
        <p:spPr>
          <a:xfrm>
            <a:off x="548640" y="3493008"/>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5</a:t>
            </a:r>
            <a:endParaRPr lang="en-US" sz="1100" dirty="0"/>
          </a:p>
        </p:txBody>
      </p:sp>
      <p:sp>
        <p:nvSpPr>
          <p:cNvPr id="16" name="Text 14"/>
          <p:cNvSpPr txBox="1"/>
          <p:nvPr/>
        </p:nvSpPr>
        <p:spPr>
          <a:xfrm>
            <a:off x="868680" y="3493008"/>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Inpatient delirium associated with 30-day readmission, adjusted OR 2.60 (95% CI 1.96–3.44); 718 delirious vs 7,927 non-delirious patients, one community hospital, 2010–2015.</a:t>
            </a:r>
            <a:endParaRPr lang="en-US" sz="900" dirty="0"/>
          </a:p>
        </p:txBody>
      </p:sp>
      <p:sp>
        <p:nvSpPr>
          <p:cNvPr id="17" name="Text 15"/>
          <p:cNvSpPr txBox="1"/>
          <p:nvPr/>
        </p:nvSpPr>
        <p:spPr>
          <a:xfrm>
            <a:off x="5852160" y="3493008"/>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Association between Inpatient Delirium and Hospital Readmission in Patients ≥65 (PMC, 2019).</a:t>
            </a:r>
            <a:endParaRPr lang="en-US" sz="850" dirty="0"/>
          </a:p>
        </p:txBody>
      </p:sp>
      <p:sp>
        <p:nvSpPr>
          <p:cNvPr id="18" name="Text 16"/>
          <p:cNvSpPr txBox="1"/>
          <p:nvPr/>
        </p:nvSpPr>
        <p:spPr>
          <a:xfrm>
            <a:off x="548640" y="411480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6</a:t>
            </a:r>
            <a:endParaRPr lang="en-US" sz="1100" dirty="0"/>
          </a:p>
        </p:txBody>
      </p:sp>
      <p:sp>
        <p:nvSpPr>
          <p:cNvPr id="19" name="Text 17"/>
          <p:cNvSpPr txBox="1"/>
          <p:nvPr/>
        </p:nvSpPr>
        <p:spPr>
          <a:xfrm>
            <a:off x="868680" y="4114800"/>
            <a:ext cx="4846320" cy="603504"/>
          </a:xfrm>
          <a:prstGeom prst="rect">
            <a:avLst/>
          </a:prstGeom>
          <a:noFill/>
          <a:ln/>
        </p:spPr>
        <p:txBody>
          <a:bodyPr wrap="square" lIns="0" tIns="0" rIns="0" bIns="0" rtlCol="0" anchor="ctr"/>
          <a:lstStyle/>
          <a:p>
            <a:pPr indent="0" marL="0">
              <a:buNone/>
            </a:pPr>
            <a:r>
              <a:rPr lang="en-US" sz="900" dirty="0">
                <a:solidFill>
                  <a:srgbClr val="111827"/>
                </a:solidFill>
                <a:latin typeface="Arial" pitchFamily="34" charset="0"/>
                <a:ea typeface="Arial" pitchFamily="34" charset="-122"/>
                <a:cs typeface="Arial" pitchFamily="34" charset="-120"/>
              </a:rPr>
              <a:t>Median 27% of readmissions judged avoidable across 34 studies (range 5–79%). Multicomponent prevention (HELP) cut delirium incidence from 15.0% to 9.9%, about a third to 40%.</a:t>
            </a:r>
            <a:endParaRPr lang="en-US" sz="900" dirty="0"/>
          </a:p>
        </p:txBody>
      </p:sp>
      <p:sp>
        <p:nvSpPr>
          <p:cNvPr id="20" name="Text 18"/>
          <p:cNvSpPr txBox="1"/>
          <p:nvPr/>
        </p:nvSpPr>
        <p:spPr>
          <a:xfrm>
            <a:off x="5852160" y="4114800"/>
            <a:ext cx="2834640" cy="603504"/>
          </a:xfrm>
          <a:prstGeom prst="rect">
            <a:avLst/>
          </a:prstGeom>
          <a:noFill/>
          <a:ln/>
        </p:spPr>
        <p:txBody>
          <a:bodyPr wrap="square" lIns="0" tIns="0" rIns="0" bIns="0" rtlCol="0" anchor="ctr"/>
          <a:lstStyle/>
          <a:p>
            <a:pPr indent="0" marL="0">
              <a:buNone/>
            </a:pPr>
            <a:r>
              <a:rPr lang="en-US" sz="850" i="1" dirty="0">
                <a:solidFill>
                  <a:srgbClr val="4B5563"/>
                </a:solidFill>
                <a:latin typeface="Arial" pitchFamily="34" charset="0"/>
                <a:ea typeface="Arial" pitchFamily="34" charset="-122"/>
                <a:cs typeface="Arial" pitchFamily="34" charset="-120"/>
              </a:rPr>
              <a:t>van Walraven et al., CMAJ 2011; Inouye et al., NEJM 1999.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ernie: a daily visit</dc:title>
  <dc:subject>PptxGenJS Presentation</dc:subject>
  <dc:creator>Christopher Pluntke</dc:creator>
  <cp:lastModifiedBy>Christopher Pluntke</cp:lastModifiedBy>
  <cp:revision>1</cp:revision>
  <dcterms:created xsi:type="dcterms:W3CDTF">2026-09-17T05:11:37Z</dcterms:created>
  <dcterms:modified xsi:type="dcterms:W3CDTF">2026-09-17T05:11:37Z</dcterms:modified>
</cp:coreProperties>
</file>