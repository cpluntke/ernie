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One breath: "This is ernie, a daily visit for someone like Margaret. Five minutes: who she is, what is missing in her care, what we built, how it works, what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Margaret is a person, not a use case. Hypoactive delirium is withdrawal; the first anyone knows is the ER. Missed in 60 to 75 percent of hospital cases, and nothing at home looks at all. The thesis in one line: delirium is a change from your own baseline, and the home never had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Value-based care moved the risk to providers: readmission penalties up to three percent of Medicare payments, 36 billion a year in readmissions, heart failure and delirium at the top of the list. The outcome is decided at home, between visits, and nobody is there. So the product is a daily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to 3:00. Play the 75-second clip, or click through. She signs in (a motor baseline, and the date is the orientation item). She answers a nurse's questions in her own words; a model reads what she meant and never advises. She does a puzzle and her granddaughter joins (attention, visuospatial, and the reason to open the app). Goodbye. Nothing on her screen is ever a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Same visit, real numbers. Five ordinary signings form her baseline; today she took 4.5 seconds against her usual 3.1 and paused four times longer between strokes. To the eye the strip looks the same. Nine features, robust z against her own usual. The family gets one plain sentence; she gets a thank-you.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3:45. CAM, 4AT, UB-2: all measure attention, orientation, disorganised thinking and arousal, once a shift at best, in hospital. The fifth, fluctuation, needs the same measure every day, at home, against the person's own normal. That is the white space. And 40 percent of delirium is preventable with cheap responses, so a flag is worth having.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 Two shipped scripts, delirium watch and heart failure watch. The rails: the nurse owns the wording, the model only reads answers, and Margaret is never told a score. The explanation layer on the right is the design: what changed, what it usually means, who to call before the ER. Say clearly it is not built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 Three next steps, then the honesty line: synthetic data, decision support, a human on every flag. Close on Margaret: the point is that someone notices on the day it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40AF"/>
        </a:solidFill>
      </p:bgPr>
    </p:bg>
    <p:spTree>
      <p:nvGrpSpPr>
        <p:cNvPr id="1" name=""/>
        <p:cNvGrpSpPr/>
        <p:nvPr/>
      </p:nvGrpSpPr>
      <p:grpSpPr>
        <a:xfrm>
          <a:off x="0" y="0"/>
          <a:ext cx="0" cy="0"/>
          <a:chOff x="0" y="0"/>
          <a:chExt cx="0" cy="0"/>
        </a:xfrm>
      </p:grpSpPr>
      <p:pic>
        <p:nvPicPr>
          <p:cNvPr id="2" name="Image 0" descr="../shots/doodle-half-a-house-white.png">    </p:cNvPr>
          <p:cNvPicPr>
            <a:picLocks noChangeAspect="1"/>
          </p:cNvPicPr>
          <p:nvPr/>
        </p:nvPicPr>
        <p:blipFill>
          <a:blip r:embed="rId1"/>
          <a:stretch>
            <a:fillRect/>
          </a:stretch>
        </p:blipFill>
        <p:spPr>
          <a:xfrm>
            <a:off x="5577840" y="457200"/>
            <a:ext cx="1828800" cy="1828800"/>
          </a:xfrm>
          <a:prstGeom prst="rect">
            <a:avLst/>
          </a:prstGeom>
        </p:spPr>
      </p:pic>
      <p:pic>
        <p:nvPicPr>
          <p:cNvPr id="3" name="Image 1" descr="../shots/doodle-cat-with-no-face-white.png">    </p:cNvPr>
          <p:cNvPicPr>
            <a:picLocks noChangeAspect="1"/>
          </p:cNvPicPr>
          <p:nvPr/>
        </p:nvPicPr>
        <p:blipFill>
          <a:blip r:embed="rId2"/>
          <a:stretch>
            <a:fillRect/>
          </a:stretch>
        </p:blipFill>
        <p:spPr>
          <a:xfrm>
            <a:off x="7040880" y="1737360"/>
            <a:ext cx="1828800" cy="1828800"/>
          </a:xfrm>
          <a:prstGeom prst="rect">
            <a:avLst/>
          </a:prstGeom>
        </p:spPr>
      </p:pic>
      <p:pic>
        <p:nvPicPr>
          <p:cNvPr id="4" name="Image 2" descr="../shots/doodle-flower-with-no-petals-white.png">    </p:cNvPr>
          <p:cNvPicPr>
            <a:picLocks noChangeAspect="1"/>
          </p:cNvPicPr>
          <p:nvPr/>
        </p:nvPicPr>
        <p:blipFill>
          <a:blip r:embed="rId3"/>
          <a:stretch>
            <a:fillRect/>
          </a:stretch>
        </p:blipFill>
        <p:spPr>
          <a:xfrm>
            <a:off x="5486400" y="2834640"/>
            <a:ext cx="1828800" cy="1828800"/>
          </a:xfrm>
          <a:prstGeom prst="rect">
            <a:avLst/>
          </a:prstGeom>
        </p:spPr>
      </p:pic>
      <p:sp>
        <p:nvSpPr>
          <p:cNvPr id="5" name="Text 0"/>
          <p:cNvSpPr txBox="1"/>
          <p:nvPr/>
        </p:nvSpPr>
        <p:spPr>
          <a:xfrm>
            <a:off x="548640" y="1188720"/>
            <a:ext cx="4937760" cy="91440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ernie</a:t>
            </a:r>
            <a:endParaRPr lang="en-US" sz="6000" dirty="0"/>
          </a:p>
        </p:txBody>
      </p:sp>
      <p:sp>
        <p:nvSpPr>
          <p:cNvPr id="6" name="Text 1"/>
          <p:cNvSpPr txBox="1"/>
          <p:nvPr/>
        </p:nvSpPr>
        <p:spPr>
          <a:xfrm>
            <a:off x="548640" y="2148840"/>
            <a:ext cx="4754880" cy="1280160"/>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A daily visit that notices a bad day at home before it becomes a hospital day.</a:t>
            </a:r>
            <a:endParaRPr lang="en-US" sz="2200" dirty="0"/>
          </a:p>
        </p:txBody>
      </p:sp>
      <p:sp>
        <p:nvSpPr>
          <p:cNvPr id="7" name="Text 2"/>
          <p:cNvSpPr txBox="1"/>
          <p:nvPr/>
        </p:nvSpPr>
        <p:spPr>
          <a:xfrm>
            <a:off x="548640" y="4206240"/>
            <a:ext cx="4937760" cy="365760"/>
          </a:xfrm>
          <a:prstGeom prst="rect">
            <a:avLst/>
          </a:prstGeom>
          <a:noFill/>
          <a:ln/>
        </p:spPr>
        <p:txBody>
          <a:bodyPr wrap="square" lIns="0" tIns="0" rIns="0" bIns="0" rtlCol="0" anchor="ctr"/>
          <a:lstStyle/>
          <a:p>
            <a:pPr indent="0" marL="0">
              <a:buNone/>
            </a:pPr>
            <a:r>
              <a:rPr lang="en-US" sz="1300" dirty="0">
                <a:solidFill>
                  <a:srgbClr val="C7D2FE"/>
                </a:solidFill>
                <a:latin typeface="Arial" pitchFamily="34" charset="0"/>
                <a:ea typeface="Arial" pitchFamily="34" charset="-122"/>
                <a:cs typeface="Arial" pitchFamily="34" charset="-120"/>
              </a:rPr>
              <a:t>Christopher Pluntke  ·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530352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Margaret is 84.</a:t>
            </a:r>
            <a:endParaRPr lang="en-US" sz="3200" dirty="0"/>
          </a:p>
        </p:txBody>
      </p:sp>
      <p:sp>
        <p:nvSpPr>
          <p:cNvPr id="3" name="Text 1"/>
          <p:cNvSpPr txBox="1"/>
          <p:nvPr/>
        </p:nvSpPr>
        <p:spPr>
          <a:xfrm>
            <a:off x="548640" y="1051560"/>
            <a:ext cx="5120640" cy="1005840"/>
          </a:xfrm>
          <a:prstGeom prst="rect">
            <a:avLst/>
          </a:prstGeom>
          <a:noFill/>
          <a:ln/>
        </p:spPr>
        <p:txBody>
          <a:bodyPr wrap="square" lIns="0" tIns="0" rIns="0" bIns="0" rtlCol="0" anchor="ctr"/>
          <a:lstStyle/>
          <a:p>
            <a:pPr indent="0" marL="0">
              <a:buNone/>
            </a:pPr>
            <a:r>
              <a:rPr lang="en-US" sz="2100" dirty="0">
                <a:solidFill>
                  <a:srgbClr val="111827"/>
                </a:solidFill>
                <a:latin typeface="Arial" pitchFamily="34" charset="0"/>
                <a:ea typeface="Arial" pitchFamily="34" charset="-122"/>
                <a:cs typeface="Arial" pitchFamily="34" charset="-120"/>
              </a:rPr>
              <a:t>Every morning she signs Ernie’s book. This morning she was slower, and nobody was there to notice.</a:t>
            </a:r>
            <a:endParaRPr lang="en-US" sz="2100" dirty="0"/>
          </a:p>
        </p:txBody>
      </p:sp>
      <p:sp>
        <p:nvSpPr>
          <p:cNvPr id="4" name="Text 2"/>
          <p:cNvSpPr txBox="1"/>
          <p:nvPr/>
        </p:nvSpPr>
        <p:spPr>
          <a:xfrm>
            <a:off x="548640" y="2148840"/>
            <a:ext cx="5120640" cy="1143000"/>
          </a:xfrm>
          <a:prstGeom prst="rect">
            <a:avLst/>
          </a:prstGeom>
          <a:noFill/>
          <a:ln/>
        </p:spPr>
        <p:txBody>
          <a:bodyPr wrap="square" lIns="0" tIns="0" rIns="0" bIns="0" rtlCol="0" anchor="ctr"/>
          <a:lstStyle/>
          <a:p>
            <a:pPr indent="0" marL="0">
              <a:buNone/>
            </a:pPr>
            <a:r>
              <a:rPr lang="en-US" sz="1400" dirty="0">
                <a:solidFill>
                  <a:srgbClr val="4B5563"/>
                </a:solidFill>
                <a:latin typeface="Arial" pitchFamily="34" charset="0"/>
                <a:ea typeface="Arial" pitchFamily="34" charset="-122"/>
                <a:cs typeface="Arial" pitchFamily="34" charset="-120"/>
              </a:rPr>
              <a:t>Hypoactive delirium, the most common kind, looks like nothing at all: quieter, slower, a little withdrawn. The cause is usually cheap to fix on the day: an infection, dehydration, a new tablet. Missed, it ends in the emergency room.</a:t>
            </a:r>
            <a:endParaRPr lang="en-US" sz="1400" dirty="0"/>
          </a:p>
        </p:txBody>
      </p:sp>
      <p:sp>
        <p:nvSpPr>
          <p:cNvPr id="5" name="Shape 3"/>
          <p:cNvSpPr/>
          <p:nvPr/>
        </p:nvSpPr>
        <p:spPr>
          <a:xfrm>
            <a:off x="548640" y="3383280"/>
            <a:ext cx="2468880" cy="960120"/>
          </a:xfrm>
          <a:prstGeom prst="roundRect">
            <a:avLst>
              <a:gd name="adj" fmla="val 14286"/>
            </a:avLst>
          </a:prstGeom>
          <a:solidFill>
            <a:srgbClr val="DBEAFE"/>
          </a:solidFill>
          <a:ln w="12700">
            <a:solidFill>
              <a:srgbClr val="4B5563"/>
            </a:solidFill>
            <a:prstDash val="solid"/>
          </a:ln>
        </p:spPr>
      </p:sp>
      <p:sp>
        <p:nvSpPr>
          <p:cNvPr id="6" name="Text 4"/>
          <p:cNvSpPr txBox="1"/>
          <p:nvPr/>
        </p:nvSpPr>
        <p:spPr>
          <a:xfrm>
            <a:off x="685800" y="3429000"/>
            <a:ext cx="2286000" cy="502920"/>
          </a:xfrm>
          <a:prstGeom prst="rect">
            <a:avLst/>
          </a:prstGeom>
          <a:noFill/>
          <a:ln/>
        </p:spPr>
        <p:txBody>
          <a:bodyPr wrap="square" lIns="0" tIns="0" rIns="0" bIns="0" rtlCol="0" anchor="ctr"/>
          <a:lstStyle/>
          <a:p>
            <a:pPr indent="0" marL="0">
              <a:buNone/>
            </a:pPr>
            <a:r>
              <a:rPr lang="en-US" sz="3000" b="1" dirty="0">
                <a:solidFill>
                  <a:srgbClr val="1E40AF"/>
                </a:solidFill>
                <a:latin typeface="Arial" pitchFamily="34" charset="0"/>
                <a:ea typeface="Arial" pitchFamily="34" charset="-122"/>
                <a:cs typeface="Arial" pitchFamily="34" charset="-120"/>
              </a:rPr>
              <a:t>60–75%</a:t>
            </a:r>
            <a:endParaRPr lang="en-US" sz="3000" dirty="0"/>
          </a:p>
        </p:txBody>
      </p:sp>
      <p:sp>
        <p:nvSpPr>
          <p:cNvPr id="7" name="Text 5"/>
          <p:cNvSpPr txBox="1"/>
          <p:nvPr/>
        </p:nvSpPr>
        <p:spPr>
          <a:xfrm>
            <a:off x="685800" y="3931920"/>
            <a:ext cx="2286000" cy="36576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of cases missed, even in hospital</a:t>
            </a:r>
            <a:endParaRPr lang="en-US" sz="1100" dirty="0"/>
          </a:p>
        </p:txBody>
      </p:sp>
      <p:sp>
        <p:nvSpPr>
          <p:cNvPr id="8" name="Shape 6"/>
          <p:cNvSpPr/>
          <p:nvPr/>
        </p:nvSpPr>
        <p:spPr>
          <a:xfrm>
            <a:off x="3200400" y="3383280"/>
            <a:ext cx="2468880" cy="960120"/>
          </a:xfrm>
          <a:prstGeom prst="roundRect">
            <a:avLst>
              <a:gd name="adj" fmla="val 14286"/>
            </a:avLst>
          </a:prstGeom>
          <a:solidFill>
            <a:srgbClr val="DBEAFE"/>
          </a:solidFill>
          <a:ln w="12700">
            <a:solidFill>
              <a:srgbClr val="4B5563"/>
            </a:solidFill>
            <a:prstDash val="solid"/>
          </a:ln>
        </p:spPr>
      </p:sp>
      <p:sp>
        <p:nvSpPr>
          <p:cNvPr id="9" name="Text 7"/>
          <p:cNvSpPr txBox="1"/>
          <p:nvPr/>
        </p:nvSpPr>
        <p:spPr>
          <a:xfrm>
            <a:off x="3337560" y="3429000"/>
            <a:ext cx="2286000" cy="502920"/>
          </a:xfrm>
          <a:prstGeom prst="rect">
            <a:avLst/>
          </a:prstGeom>
          <a:noFill/>
          <a:ln/>
        </p:spPr>
        <p:txBody>
          <a:bodyPr wrap="square" lIns="0" tIns="0" rIns="0" bIns="0" rtlCol="0" anchor="ctr"/>
          <a:lstStyle/>
          <a:p>
            <a:pPr indent="0" marL="0">
              <a:buNone/>
            </a:pPr>
            <a:r>
              <a:rPr lang="en-US" sz="3000" b="1" dirty="0">
                <a:solidFill>
                  <a:srgbClr val="1E40AF"/>
                </a:solidFill>
                <a:latin typeface="Arial" pitchFamily="34" charset="0"/>
                <a:ea typeface="Arial" pitchFamily="34" charset="-122"/>
                <a:cs typeface="Arial" pitchFamily="34" charset="-120"/>
              </a:rPr>
              <a:t>7 M</a:t>
            </a:r>
            <a:endParaRPr lang="en-US" sz="3000" dirty="0"/>
          </a:p>
        </p:txBody>
      </p:sp>
      <p:sp>
        <p:nvSpPr>
          <p:cNvPr id="10" name="Text 8"/>
          <p:cNvSpPr txBox="1"/>
          <p:nvPr/>
        </p:nvSpPr>
        <p:spPr>
          <a:xfrm>
            <a:off x="3337560" y="3931920"/>
            <a:ext cx="2286000" cy="36576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hospital episodes a year in the US</a:t>
            </a:r>
            <a:endParaRPr lang="en-US" sz="1100" dirty="0"/>
          </a:p>
        </p:txBody>
      </p:sp>
      <p:sp>
        <p:nvSpPr>
          <p:cNvPr id="11" name="Text 9"/>
          <p:cNvSpPr txBox="1"/>
          <p:nvPr/>
        </p:nvSpPr>
        <p:spPr>
          <a:xfrm>
            <a:off x="548640" y="4480560"/>
            <a:ext cx="5120640" cy="411480"/>
          </a:xfrm>
          <a:prstGeom prst="rect">
            <a:avLst/>
          </a:prstGeom>
          <a:noFill/>
          <a:ln/>
        </p:spPr>
        <p:txBody>
          <a:bodyPr wrap="square" lIns="0" tIns="0" rIns="0" bIns="0" rtlCol="0" anchor="ctr"/>
          <a:lstStyle/>
          <a:p>
            <a:pPr indent="0" marL="0">
              <a:buNone/>
            </a:pPr>
            <a:r>
              <a:rPr lang="en-US" sz="1400" i="1" dirty="0">
                <a:solidFill>
                  <a:srgbClr val="1E40AF"/>
                </a:solidFill>
                <a:latin typeface="Arial" pitchFamily="34" charset="0"/>
                <a:ea typeface="Arial" pitchFamily="34" charset="-122"/>
                <a:cs typeface="Arial" pitchFamily="34" charset="-120"/>
              </a:rPr>
              <a:t>Delirium is a change from your own baseline. The home never had one.</a:t>
            </a:r>
            <a:endParaRPr lang="en-US" sz="1400" dirty="0"/>
          </a:p>
        </p:txBody>
      </p:sp>
      <p:sp>
        <p:nvSpPr>
          <p:cNvPr id="12" name="Shape 10"/>
          <p:cNvSpPr/>
          <p:nvPr/>
        </p:nvSpPr>
        <p:spPr>
          <a:xfrm>
            <a:off x="6437376" y="402336"/>
            <a:ext cx="2152609" cy="4315968"/>
          </a:xfrm>
          <a:prstGeom prst="roundRect">
            <a:avLst>
              <a:gd name="adj" fmla="val 9345"/>
            </a:avLst>
          </a:prstGeom>
          <a:solidFill>
            <a:srgbClr val="111827"/>
          </a:solidFill>
          <a:ln w="12700">
            <a:solidFill>
              <a:srgbClr val="4B5563"/>
            </a:solidFill>
            <a:prstDash val="solid"/>
          </a:ln>
        </p:spPr>
      </p:sp>
      <p:pic>
        <p:nvPicPr>
          <p:cNvPr id="13" name="Image 0" descr="../shots/03-book-page-c.png">    </p:cNvPr>
          <p:cNvPicPr>
            <a:picLocks noChangeAspect="1"/>
          </p:cNvPicPr>
          <p:nvPr/>
        </p:nvPicPr>
        <p:blipFill>
          <a:blip r:embed="rId1"/>
          <a:stretch>
            <a:fillRect/>
          </a:stretch>
        </p:blipFill>
        <p:spPr>
          <a:xfrm>
            <a:off x="6492240" y="457200"/>
            <a:ext cx="2042881" cy="42062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704088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The gap is the 30 days at home.</a:t>
            </a:r>
            <a:endParaRPr lang="en-US" sz="3200" dirty="0"/>
          </a:p>
        </p:txBody>
      </p:sp>
      <p:sp>
        <p:nvSpPr>
          <p:cNvPr id="3" name="Text 1"/>
          <p:cNvSpPr txBox="1"/>
          <p:nvPr/>
        </p:nvSpPr>
        <p:spPr>
          <a:xfrm>
            <a:off x="548640" y="960120"/>
            <a:ext cx="7040880" cy="548640"/>
          </a:xfrm>
          <a:prstGeom prst="rect">
            <a:avLst/>
          </a:prstGeom>
          <a:noFill/>
          <a:ln/>
        </p:spPr>
        <p:txBody>
          <a:bodyPr wrap="square" lIns="0" tIns="0" rIns="0" bIns="0" rtlCol="0" anchor="ctr"/>
          <a:lstStyle/>
          <a:p>
            <a:pPr indent="0" marL="0">
              <a:buNone/>
            </a:pPr>
            <a:r>
              <a:rPr lang="en-US" sz="1500" dirty="0">
                <a:solidFill>
                  <a:srgbClr val="4B5563"/>
                </a:solidFill>
                <a:latin typeface="Arial" pitchFamily="34" charset="0"/>
                <a:ea typeface="Arial" pitchFamily="34" charset="-122"/>
                <a:cs typeface="Arial" pitchFamily="34" charset="-120"/>
              </a:rPr>
              <a:t>Value-based care makes providers carry the risk for outcomes. The outcome is decided at home, between visits, where nobody looks.</a:t>
            </a:r>
            <a:endParaRPr lang="en-US" sz="1500" dirty="0"/>
          </a:p>
        </p:txBody>
      </p:sp>
      <p:sp>
        <p:nvSpPr>
          <p:cNvPr id="4" name="Shape 2"/>
          <p:cNvSpPr/>
          <p:nvPr/>
        </p:nvSpPr>
        <p:spPr>
          <a:xfrm>
            <a:off x="548640" y="1874520"/>
            <a:ext cx="2468880" cy="1188720"/>
          </a:xfrm>
          <a:prstGeom prst="roundRect">
            <a:avLst>
              <a:gd name="adj" fmla="val 11538"/>
            </a:avLst>
          </a:prstGeom>
          <a:solidFill>
            <a:srgbClr val="F3F4F6"/>
          </a:solidFill>
          <a:ln w="12700">
            <a:solidFill>
              <a:srgbClr val="4B5563"/>
            </a:solidFill>
            <a:prstDash val="solid"/>
          </a:ln>
        </p:spPr>
      </p:sp>
      <p:sp>
        <p:nvSpPr>
          <p:cNvPr id="5" name="Text 3"/>
          <p:cNvSpPr txBox="1"/>
          <p:nvPr/>
        </p:nvSpPr>
        <p:spPr>
          <a:xfrm>
            <a:off x="731520" y="1965960"/>
            <a:ext cx="2194560" cy="457200"/>
          </a:xfrm>
          <a:prstGeom prst="rect">
            <a:avLst/>
          </a:prstGeom>
          <a:noFill/>
          <a:ln/>
        </p:spPr>
        <p:txBody>
          <a:bodyPr wrap="square" lIns="0" tIns="0" rIns="0" bIns="0" rtlCol="0" anchor="ctr"/>
          <a:lstStyle/>
          <a:p>
            <a:pPr indent="0" marL="0">
              <a:buNone/>
            </a:pPr>
            <a:r>
              <a:rPr lang="en-US" sz="2000" b="1" dirty="0">
                <a:solidFill>
                  <a:srgbClr val="111827"/>
                </a:solidFill>
                <a:latin typeface="Arial" pitchFamily="34" charset="0"/>
                <a:ea typeface="Arial" pitchFamily="34" charset="-122"/>
                <a:cs typeface="Arial" pitchFamily="34" charset="-120"/>
              </a:rPr>
              <a:t>Discharge</a:t>
            </a:r>
            <a:endParaRPr lang="en-US" sz="2000" dirty="0"/>
          </a:p>
        </p:txBody>
      </p:sp>
      <p:sp>
        <p:nvSpPr>
          <p:cNvPr id="6" name="Text 4"/>
          <p:cNvSpPr txBox="1"/>
          <p:nvPr/>
        </p:nvSpPr>
        <p:spPr>
          <a:xfrm>
            <a:off x="731520" y="2423160"/>
            <a:ext cx="2194560" cy="548640"/>
          </a:xfrm>
          <a:prstGeom prst="rect">
            <a:avLst/>
          </a:prstGeom>
          <a:noFill/>
          <a:ln/>
        </p:spPr>
        <p:txBody>
          <a:bodyPr wrap="square" lIns="0" tIns="0" rIns="0" bIns="0" rtlCol="0" anchor="ctr"/>
          <a:lstStyle/>
          <a:p>
            <a:pPr indent="0" marL="0">
              <a:buNone/>
            </a:pPr>
            <a:r>
              <a:rPr lang="en-US" sz="1300" dirty="0">
                <a:solidFill>
                  <a:srgbClr val="4B5563"/>
                </a:solidFill>
                <a:latin typeface="Arial" pitchFamily="34" charset="0"/>
                <a:ea typeface="Arial" pitchFamily="34" charset="-122"/>
                <a:cs typeface="Arial" pitchFamily="34" charset="-120"/>
              </a:rPr>
              <a:t>A plan on the fridge.</a:t>
            </a:r>
            <a:endParaRPr lang="en-US" sz="1300" dirty="0"/>
          </a:p>
        </p:txBody>
      </p:sp>
      <p:sp>
        <p:nvSpPr>
          <p:cNvPr id="7" name="Text 5"/>
          <p:cNvSpPr txBox="1"/>
          <p:nvPr/>
        </p:nvSpPr>
        <p:spPr>
          <a:xfrm>
            <a:off x="2999232" y="2194560"/>
            <a:ext cx="411480" cy="548640"/>
          </a:xfrm>
          <a:prstGeom prst="rect">
            <a:avLst/>
          </a:prstGeom>
          <a:noFill/>
          <a:ln/>
        </p:spPr>
        <p:txBody>
          <a:bodyPr wrap="square" lIns="0" tIns="0" rIns="0" bIns="0" rtlCol="0" anchor="ctr"/>
          <a:lstStyle/>
          <a:p>
            <a:pPr algn="ctr" indent="0" marL="0">
              <a:buNone/>
            </a:pPr>
            <a:r>
              <a:rPr lang="en-US" sz="2800" dirty="0">
                <a:solidFill>
                  <a:srgbClr val="4B5563"/>
                </a:solidFill>
                <a:latin typeface="Arial" pitchFamily="34" charset="0"/>
                <a:ea typeface="Arial" pitchFamily="34" charset="-122"/>
                <a:cs typeface="Arial" pitchFamily="34" charset="-120"/>
              </a:rPr>
              <a:t>→</a:t>
            </a:r>
            <a:endParaRPr lang="en-US" sz="2800" dirty="0"/>
          </a:p>
        </p:txBody>
      </p:sp>
      <p:sp>
        <p:nvSpPr>
          <p:cNvPr id="8" name="Shape 6"/>
          <p:cNvSpPr/>
          <p:nvPr/>
        </p:nvSpPr>
        <p:spPr>
          <a:xfrm>
            <a:off x="3337560" y="1874520"/>
            <a:ext cx="2468880" cy="1188720"/>
          </a:xfrm>
          <a:prstGeom prst="roundRect">
            <a:avLst>
              <a:gd name="adj" fmla="val 11538"/>
            </a:avLst>
          </a:prstGeom>
          <a:solidFill>
            <a:srgbClr val="DBEAFE"/>
          </a:solidFill>
          <a:ln w="12700">
            <a:solidFill>
              <a:srgbClr val="4B5563"/>
            </a:solidFill>
            <a:prstDash val="solid"/>
          </a:ln>
        </p:spPr>
      </p:sp>
      <p:sp>
        <p:nvSpPr>
          <p:cNvPr id="9" name="Text 7"/>
          <p:cNvSpPr txBox="1"/>
          <p:nvPr/>
        </p:nvSpPr>
        <p:spPr>
          <a:xfrm>
            <a:off x="3520440" y="1965960"/>
            <a:ext cx="2194560" cy="457200"/>
          </a:xfrm>
          <a:prstGeom prst="rect">
            <a:avLst/>
          </a:prstGeom>
          <a:noFill/>
          <a:ln/>
        </p:spPr>
        <p:txBody>
          <a:bodyPr wrap="square" lIns="0" tIns="0" rIns="0" bIns="0" rtlCol="0" anchor="ctr"/>
          <a:lstStyle/>
          <a:p>
            <a:pPr indent="0" marL="0">
              <a:buNone/>
            </a:pPr>
            <a:r>
              <a:rPr lang="en-US" sz="2000" b="1" dirty="0">
                <a:solidFill>
                  <a:srgbClr val="1E40AF"/>
                </a:solidFill>
                <a:latin typeface="Arial" pitchFamily="34" charset="0"/>
                <a:ea typeface="Arial" pitchFamily="34" charset="-122"/>
                <a:cs typeface="Arial" pitchFamily="34" charset="-120"/>
              </a:rPr>
              <a:t>30 days at home</a:t>
            </a:r>
            <a:endParaRPr lang="en-US" sz="2000" dirty="0"/>
          </a:p>
        </p:txBody>
      </p:sp>
      <p:sp>
        <p:nvSpPr>
          <p:cNvPr id="10" name="Text 8"/>
          <p:cNvSpPr txBox="1"/>
          <p:nvPr/>
        </p:nvSpPr>
        <p:spPr>
          <a:xfrm>
            <a:off x="3520440" y="2423160"/>
            <a:ext cx="2194560" cy="548640"/>
          </a:xfrm>
          <a:prstGeom prst="rect">
            <a:avLst/>
          </a:prstGeom>
          <a:noFill/>
          <a:ln/>
        </p:spPr>
        <p:txBody>
          <a:bodyPr wrap="square" lIns="0" tIns="0" rIns="0" bIns="0" rtlCol="0" anchor="ctr"/>
          <a:lstStyle/>
          <a:p>
            <a:pPr indent="0" marL="0">
              <a:buNone/>
            </a:pPr>
            <a:r>
              <a:rPr lang="en-US" sz="1300" dirty="0">
                <a:solidFill>
                  <a:srgbClr val="4B5563"/>
                </a:solidFill>
                <a:latin typeface="Arial" pitchFamily="34" charset="0"/>
                <a:ea typeface="Arial" pitchFamily="34" charset="-122"/>
                <a:cs typeface="Arial" pitchFamily="34" charset="-120"/>
              </a:rPr>
              <a:t>Quiet. Nobody looks.</a:t>
            </a:r>
            <a:endParaRPr lang="en-US" sz="1300" dirty="0"/>
          </a:p>
        </p:txBody>
      </p:sp>
      <p:sp>
        <p:nvSpPr>
          <p:cNvPr id="11" name="Text 9"/>
          <p:cNvSpPr txBox="1"/>
          <p:nvPr/>
        </p:nvSpPr>
        <p:spPr>
          <a:xfrm>
            <a:off x="5788152" y="2194560"/>
            <a:ext cx="411480" cy="548640"/>
          </a:xfrm>
          <a:prstGeom prst="rect">
            <a:avLst/>
          </a:prstGeom>
          <a:noFill/>
          <a:ln/>
        </p:spPr>
        <p:txBody>
          <a:bodyPr wrap="square" lIns="0" tIns="0" rIns="0" bIns="0" rtlCol="0" anchor="ctr"/>
          <a:lstStyle/>
          <a:p>
            <a:pPr algn="ctr" indent="0" marL="0">
              <a:buNone/>
            </a:pPr>
            <a:r>
              <a:rPr lang="en-US" sz="2800" dirty="0">
                <a:solidFill>
                  <a:srgbClr val="4B5563"/>
                </a:solidFill>
                <a:latin typeface="Arial" pitchFamily="34" charset="0"/>
                <a:ea typeface="Arial" pitchFamily="34" charset="-122"/>
                <a:cs typeface="Arial" pitchFamily="34" charset="-120"/>
              </a:rPr>
              <a:t>→</a:t>
            </a:r>
            <a:endParaRPr lang="en-US" sz="2800" dirty="0"/>
          </a:p>
        </p:txBody>
      </p:sp>
      <p:sp>
        <p:nvSpPr>
          <p:cNvPr id="12" name="Shape 10"/>
          <p:cNvSpPr/>
          <p:nvPr/>
        </p:nvSpPr>
        <p:spPr>
          <a:xfrm>
            <a:off x="6126480" y="1874520"/>
            <a:ext cx="2468880" cy="1188720"/>
          </a:xfrm>
          <a:prstGeom prst="roundRect">
            <a:avLst>
              <a:gd name="adj" fmla="val 11538"/>
            </a:avLst>
          </a:prstGeom>
          <a:solidFill>
            <a:srgbClr val="FDE2E2"/>
          </a:solidFill>
          <a:ln w="12700">
            <a:solidFill>
              <a:srgbClr val="4B5563"/>
            </a:solidFill>
            <a:prstDash val="solid"/>
          </a:ln>
        </p:spPr>
      </p:sp>
      <p:sp>
        <p:nvSpPr>
          <p:cNvPr id="13" name="Text 11"/>
          <p:cNvSpPr txBox="1"/>
          <p:nvPr/>
        </p:nvSpPr>
        <p:spPr>
          <a:xfrm>
            <a:off x="6309360" y="1965960"/>
            <a:ext cx="2194560" cy="457200"/>
          </a:xfrm>
          <a:prstGeom prst="rect">
            <a:avLst/>
          </a:prstGeom>
          <a:noFill/>
          <a:ln/>
        </p:spPr>
        <p:txBody>
          <a:bodyPr wrap="square" lIns="0" tIns="0" rIns="0" bIns="0" rtlCol="0" anchor="ctr"/>
          <a:lstStyle/>
          <a:p>
            <a:pPr indent="0" marL="0">
              <a:buNone/>
            </a:pPr>
            <a:r>
              <a:rPr lang="en-US" sz="2000" b="1" dirty="0">
                <a:solidFill>
                  <a:srgbClr val="C8402F"/>
                </a:solidFill>
                <a:latin typeface="Arial" pitchFamily="34" charset="0"/>
                <a:ea typeface="Arial" pitchFamily="34" charset="-122"/>
                <a:cs typeface="Arial" pitchFamily="34" charset="-120"/>
              </a:rPr>
              <a:t>Readmission</a:t>
            </a:r>
            <a:endParaRPr lang="en-US" sz="2000" dirty="0"/>
          </a:p>
        </p:txBody>
      </p:sp>
      <p:sp>
        <p:nvSpPr>
          <p:cNvPr id="14" name="Text 12"/>
          <p:cNvSpPr txBox="1"/>
          <p:nvPr/>
        </p:nvSpPr>
        <p:spPr>
          <a:xfrm>
            <a:off x="6309360" y="2423160"/>
            <a:ext cx="2194560" cy="548640"/>
          </a:xfrm>
          <a:prstGeom prst="rect">
            <a:avLst/>
          </a:prstGeom>
          <a:noFill/>
          <a:ln/>
        </p:spPr>
        <p:txBody>
          <a:bodyPr wrap="square" lIns="0" tIns="0" rIns="0" bIns="0" rtlCol="0" anchor="ctr"/>
          <a:lstStyle/>
          <a:p>
            <a:pPr indent="0" marL="0">
              <a:buNone/>
            </a:pPr>
            <a:r>
              <a:rPr lang="en-US" sz="1300" dirty="0">
                <a:solidFill>
                  <a:srgbClr val="4B5563"/>
                </a:solidFill>
                <a:latin typeface="Arial" pitchFamily="34" charset="0"/>
                <a:ea typeface="Arial" pitchFamily="34" charset="-122"/>
                <a:cs typeface="Arial" pitchFamily="34" charset="-120"/>
              </a:rPr>
              <a:t>The provider pays a penalty.</a:t>
            </a:r>
            <a:endParaRPr lang="en-US" sz="1300" dirty="0"/>
          </a:p>
        </p:txBody>
      </p:sp>
      <p:sp>
        <p:nvSpPr>
          <p:cNvPr id="15" name="Text 13"/>
          <p:cNvSpPr txBox="1"/>
          <p:nvPr/>
        </p:nvSpPr>
        <p:spPr>
          <a:xfrm>
            <a:off x="548640" y="3429000"/>
            <a:ext cx="1828800" cy="548640"/>
          </a:xfrm>
          <a:prstGeom prst="rect">
            <a:avLst/>
          </a:prstGeom>
          <a:noFill/>
          <a:ln/>
        </p:spPr>
        <p:txBody>
          <a:bodyPr wrap="square" lIns="0" tIns="0" rIns="0" bIns="0" rtlCol="0" anchor="ctr"/>
          <a:lstStyle/>
          <a:p>
            <a:pPr indent="0" marL="0">
              <a:buNone/>
            </a:pPr>
            <a:r>
              <a:rPr lang="en-US" sz="2800" b="1" dirty="0">
                <a:solidFill>
                  <a:srgbClr val="1E40AF"/>
                </a:solidFill>
                <a:latin typeface="Arial" pitchFamily="34" charset="0"/>
                <a:ea typeface="Arial" pitchFamily="34" charset="-122"/>
                <a:cs typeface="Arial" pitchFamily="34" charset="-120"/>
              </a:rPr>
              <a:t>$36 B</a:t>
            </a:r>
            <a:endParaRPr lang="en-US" sz="2800" dirty="0"/>
          </a:p>
        </p:txBody>
      </p:sp>
      <p:sp>
        <p:nvSpPr>
          <p:cNvPr id="16" name="Text 14"/>
          <p:cNvSpPr txBox="1"/>
          <p:nvPr/>
        </p:nvSpPr>
        <p:spPr>
          <a:xfrm>
            <a:off x="548640" y="3977640"/>
            <a:ext cx="1828800" cy="36576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a year in readmissions</a:t>
            </a:r>
            <a:endParaRPr lang="en-US" sz="1100" dirty="0"/>
          </a:p>
        </p:txBody>
      </p:sp>
      <p:sp>
        <p:nvSpPr>
          <p:cNvPr id="17" name="Text 15"/>
          <p:cNvSpPr txBox="1"/>
          <p:nvPr/>
        </p:nvSpPr>
        <p:spPr>
          <a:xfrm>
            <a:off x="2514600" y="3429000"/>
            <a:ext cx="1828800" cy="548640"/>
          </a:xfrm>
          <a:prstGeom prst="rect">
            <a:avLst/>
          </a:prstGeom>
          <a:noFill/>
          <a:ln/>
        </p:spPr>
        <p:txBody>
          <a:bodyPr wrap="square" lIns="0" tIns="0" rIns="0" bIns="0" rtlCol="0" anchor="ctr"/>
          <a:lstStyle/>
          <a:p>
            <a:pPr indent="0" marL="0">
              <a:buNone/>
            </a:pPr>
            <a:r>
              <a:rPr lang="en-US" sz="2800" b="1" dirty="0">
                <a:solidFill>
                  <a:srgbClr val="1E40AF"/>
                </a:solidFill>
                <a:latin typeface="Arial" pitchFamily="34" charset="0"/>
                <a:ea typeface="Arial" pitchFamily="34" charset="-122"/>
                <a:cs typeface="Arial" pitchFamily="34" charset="-120"/>
              </a:rPr>
              <a:t>2.0 M</a:t>
            </a:r>
            <a:endParaRPr lang="en-US" sz="2800" dirty="0"/>
          </a:p>
        </p:txBody>
      </p:sp>
      <p:sp>
        <p:nvSpPr>
          <p:cNvPr id="18" name="Text 16"/>
          <p:cNvSpPr txBox="1"/>
          <p:nvPr/>
        </p:nvSpPr>
        <p:spPr>
          <a:xfrm>
            <a:off x="2514600" y="3977640"/>
            <a:ext cx="1828800" cy="36576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readmissions a year</a:t>
            </a:r>
            <a:endParaRPr lang="en-US" sz="1100" dirty="0"/>
          </a:p>
        </p:txBody>
      </p:sp>
      <p:sp>
        <p:nvSpPr>
          <p:cNvPr id="19" name="Text 17"/>
          <p:cNvSpPr txBox="1"/>
          <p:nvPr/>
        </p:nvSpPr>
        <p:spPr>
          <a:xfrm>
            <a:off x="4480560" y="3429000"/>
            <a:ext cx="1828800" cy="548640"/>
          </a:xfrm>
          <a:prstGeom prst="rect">
            <a:avLst/>
          </a:prstGeom>
          <a:noFill/>
          <a:ln/>
        </p:spPr>
        <p:txBody>
          <a:bodyPr wrap="square" lIns="0" tIns="0" rIns="0" bIns="0" rtlCol="0" anchor="ctr"/>
          <a:lstStyle/>
          <a:p>
            <a:pPr indent="0" marL="0">
              <a:buNone/>
            </a:pPr>
            <a:r>
              <a:rPr lang="en-US" sz="2800" b="1" dirty="0">
                <a:solidFill>
                  <a:srgbClr val="1E40AF"/>
                </a:solidFill>
                <a:latin typeface="Arial" pitchFamily="34" charset="0"/>
                <a:ea typeface="Arial" pitchFamily="34" charset="-122"/>
                <a:cs typeface="Arial" pitchFamily="34" charset="-120"/>
              </a:rPr>
              <a:t>up to 3%</a:t>
            </a:r>
            <a:endParaRPr lang="en-US" sz="2800" dirty="0"/>
          </a:p>
        </p:txBody>
      </p:sp>
      <p:sp>
        <p:nvSpPr>
          <p:cNvPr id="20" name="Text 18"/>
          <p:cNvSpPr txBox="1"/>
          <p:nvPr/>
        </p:nvSpPr>
        <p:spPr>
          <a:xfrm>
            <a:off x="4480560" y="3977640"/>
            <a:ext cx="1828800" cy="36576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of Medicare payments at risk</a:t>
            </a:r>
            <a:endParaRPr lang="en-US" sz="1100" dirty="0"/>
          </a:p>
        </p:txBody>
      </p:sp>
      <p:sp>
        <p:nvSpPr>
          <p:cNvPr id="21" name="Text 19"/>
          <p:cNvSpPr txBox="1"/>
          <p:nvPr/>
        </p:nvSpPr>
        <p:spPr>
          <a:xfrm>
            <a:off x="6446520" y="3429000"/>
            <a:ext cx="1828800" cy="548640"/>
          </a:xfrm>
          <a:prstGeom prst="rect">
            <a:avLst/>
          </a:prstGeom>
          <a:noFill/>
          <a:ln/>
        </p:spPr>
        <p:txBody>
          <a:bodyPr wrap="square" lIns="0" tIns="0" rIns="0" bIns="0" rtlCol="0" anchor="ctr"/>
          <a:lstStyle/>
          <a:p>
            <a:pPr indent="0" marL="0">
              <a:buNone/>
            </a:pPr>
            <a:r>
              <a:rPr lang="en-US" sz="2800" b="1" dirty="0">
                <a:solidFill>
                  <a:srgbClr val="1E40AF"/>
                </a:solidFill>
                <a:latin typeface="Arial" pitchFamily="34" charset="0"/>
                <a:ea typeface="Arial" pitchFamily="34" charset="-122"/>
                <a:cs typeface="Arial" pitchFamily="34" charset="-120"/>
              </a:rPr>
              <a:t>$8 k</a:t>
            </a:r>
            <a:endParaRPr lang="en-US" sz="2800" dirty="0"/>
          </a:p>
        </p:txBody>
      </p:sp>
      <p:sp>
        <p:nvSpPr>
          <p:cNvPr id="22" name="Text 20"/>
          <p:cNvSpPr txBox="1"/>
          <p:nvPr/>
        </p:nvSpPr>
        <p:spPr>
          <a:xfrm>
            <a:off x="6446520" y="3977640"/>
            <a:ext cx="1828800" cy="36576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extra per delirium episode</a:t>
            </a:r>
            <a:endParaRPr lang="en-US" sz="1100" dirty="0"/>
          </a:p>
        </p:txBody>
      </p:sp>
      <p:sp>
        <p:nvSpPr>
          <p:cNvPr id="23" name="Text 21"/>
          <p:cNvSpPr txBox="1"/>
          <p:nvPr/>
        </p:nvSpPr>
        <p:spPr>
          <a:xfrm>
            <a:off x="548640" y="4526280"/>
            <a:ext cx="5486400" cy="27432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HCUP 2020 · CMS HRRP · AHRQ</a:t>
            </a:r>
            <a:endParaRPr lang="en-US" sz="900" dirty="0"/>
          </a:p>
        </p:txBody>
      </p:sp>
      <p:pic>
        <p:nvPicPr>
          <p:cNvPr id="24" name="Image 0" descr="../shots/doodle-half-a-house-blue.png">    </p:cNvPr>
          <p:cNvPicPr>
            <a:picLocks noChangeAspect="1"/>
          </p:cNvPicPr>
          <p:nvPr/>
        </p:nvPicPr>
        <p:blipFill>
          <a:blip r:embed="rId1"/>
          <a:stretch>
            <a:fillRect/>
          </a:stretch>
        </p:blipFill>
        <p:spPr>
          <a:xfrm>
            <a:off x="7818120" y="4069080"/>
            <a:ext cx="960120" cy="96012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No tests. Just a visit.</a:t>
            </a:r>
            <a:endParaRPr lang="en-US" sz="3200" dirty="0"/>
          </a:p>
        </p:txBody>
      </p:sp>
      <p:sp>
        <p:nvSpPr>
          <p:cNvPr id="3" name="Text 1"/>
          <p:cNvSpPr txBox="1"/>
          <p:nvPr/>
        </p:nvSpPr>
        <p:spPr>
          <a:xfrm>
            <a:off x="548640" y="914400"/>
            <a:ext cx="8046720" cy="548640"/>
          </a:xfrm>
          <a:prstGeom prst="rect">
            <a:avLst/>
          </a:prstGeom>
          <a:noFill/>
          <a:ln/>
        </p:spPr>
        <p:txBody>
          <a:bodyPr wrap="square" lIns="0" tIns="0" rIns="0" bIns="0" rtlCol="0" anchor="ctr"/>
          <a:lstStyle/>
          <a:p>
            <a:pPr indent="0" marL="0">
              <a:buNone/>
            </a:pPr>
            <a:r>
              <a:rPr lang="en-US" sz="1500" dirty="0">
                <a:solidFill>
                  <a:srgbClr val="4B5563"/>
                </a:solidFill>
                <a:latin typeface="Arial" pitchFamily="34" charset="0"/>
                <a:ea typeface="Arial" pitchFamily="34" charset="-122"/>
                <a:cs typeface="Arial" pitchFamily="34" charset="-120"/>
              </a:rPr>
              <a:t>She makes something every day: a signature, her own words, a finished picture. Each one is also a measurement.</a:t>
            </a:r>
            <a:endParaRPr lang="en-US" sz="1500" dirty="0"/>
          </a:p>
        </p:txBody>
      </p:sp>
      <p:sp>
        <p:nvSpPr>
          <p:cNvPr id="4" name="Shape 2"/>
          <p:cNvSpPr/>
          <p:nvPr/>
        </p:nvSpPr>
        <p:spPr>
          <a:xfrm>
            <a:off x="493776" y="1572768"/>
            <a:ext cx="1464247" cy="2898648"/>
          </a:xfrm>
          <a:prstGeom prst="roundRect">
            <a:avLst>
              <a:gd name="adj" fmla="val 13739"/>
            </a:avLst>
          </a:prstGeom>
          <a:solidFill>
            <a:srgbClr val="111827"/>
          </a:solidFill>
          <a:ln w="12700">
            <a:solidFill>
              <a:srgbClr val="4B5563"/>
            </a:solidFill>
            <a:prstDash val="solid"/>
          </a:ln>
        </p:spPr>
      </p:sp>
      <p:pic>
        <p:nvPicPr>
          <p:cNvPr id="5" name="Image 0" descr="../shots/01-sign-c.png">    </p:cNvPr>
          <p:cNvPicPr>
            <a:picLocks noChangeAspect="1"/>
          </p:cNvPicPr>
          <p:nvPr/>
        </p:nvPicPr>
        <p:blipFill>
          <a:blip r:embed="rId1"/>
          <a:stretch>
            <a:fillRect/>
          </a:stretch>
        </p:blipFill>
        <p:spPr>
          <a:xfrm>
            <a:off x="548640" y="1627632"/>
            <a:ext cx="1354519" cy="2788920"/>
          </a:xfrm>
          <a:prstGeom prst="rect">
            <a:avLst/>
          </a:prstGeom>
        </p:spPr>
      </p:pic>
      <p:sp>
        <p:nvSpPr>
          <p:cNvPr id="6" name="Text 3"/>
          <p:cNvSpPr txBox="1"/>
          <p:nvPr/>
        </p:nvSpPr>
        <p:spPr>
          <a:xfrm>
            <a:off x="228600" y="4507992"/>
            <a:ext cx="1994599" cy="256032"/>
          </a:xfrm>
          <a:prstGeom prst="rect">
            <a:avLst/>
          </a:prstGeom>
          <a:noFill/>
          <a:ln/>
        </p:spPr>
        <p:txBody>
          <a:bodyPr wrap="square" lIns="0" tIns="0" rIns="0" bIns="0" rtlCol="0" anchor="ctr"/>
          <a:lstStyle/>
          <a:p>
            <a:pPr algn="ctr" indent="0" marL="0">
              <a:buNone/>
            </a:pPr>
            <a:r>
              <a:rPr lang="en-US" sz="1300" b="1" dirty="0">
                <a:solidFill>
                  <a:srgbClr val="111827"/>
                </a:solidFill>
                <a:latin typeface="Arial" pitchFamily="34" charset="0"/>
                <a:ea typeface="Arial" pitchFamily="34" charset="-122"/>
                <a:cs typeface="Arial" pitchFamily="34" charset="-120"/>
              </a:rPr>
              <a:t>Sign the book</a:t>
            </a:r>
            <a:endParaRPr lang="en-US" sz="1300" dirty="0"/>
          </a:p>
        </p:txBody>
      </p:sp>
      <p:sp>
        <p:nvSpPr>
          <p:cNvPr id="7" name="Text 4"/>
          <p:cNvSpPr txBox="1"/>
          <p:nvPr/>
        </p:nvSpPr>
        <p:spPr>
          <a:xfrm>
            <a:off x="228600" y="4764024"/>
            <a:ext cx="1994599" cy="274320"/>
          </a:xfrm>
          <a:prstGeom prst="rect">
            <a:avLst/>
          </a:prstGeom>
          <a:noFill/>
          <a:ln/>
        </p:spPr>
        <p:txBody>
          <a:bodyPr wrap="square" lIns="0" tIns="0" rIns="0" bIns="0" rtlCol="0" anchor="ctr"/>
          <a:lstStyle/>
          <a:p>
            <a:pPr algn="ctr" indent="0" marL="0">
              <a:buNone/>
            </a:pPr>
            <a:r>
              <a:rPr lang="en-US" sz="1000" dirty="0">
                <a:solidFill>
                  <a:srgbClr val="4B5563"/>
                </a:solidFill>
                <a:latin typeface="Arial" pitchFamily="34" charset="0"/>
                <a:ea typeface="Arial" pitchFamily="34" charset="-122"/>
                <a:cs typeface="Arial" pitchFamily="34" charset="-120"/>
              </a:rPr>
              <a:t>motor baseline · orientation</a:t>
            </a:r>
            <a:endParaRPr lang="en-US" sz="1000" dirty="0"/>
          </a:p>
        </p:txBody>
      </p:sp>
      <p:sp>
        <p:nvSpPr>
          <p:cNvPr id="8" name="Shape 5"/>
          <p:cNvSpPr/>
          <p:nvPr/>
        </p:nvSpPr>
        <p:spPr>
          <a:xfrm>
            <a:off x="2506663" y="1572768"/>
            <a:ext cx="1464247" cy="2898648"/>
          </a:xfrm>
          <a:prstGeom prst="roundRect">
            <a:avLst>
              <a:gd name="adj" fmla="val 13739"/>
            </a:avLst>
          </a:prstGeom>
          <a:solidFill>
            <a:srgbClr val="111827"/>
          </a:solidFill>
          <a:ln w="12700">
            <a:solidFill>
              <a:srgbClr val="4B5563"/>
            </a:solidFill>
            <a:prstDash val="solid"/>
          </a:ln>
        </p:spPr>
      </p:sp>
      <p:pic>
        <p:nvPicPr>
          <p:cNvPr id="9" name="Image 1" descr="../shots/05-chat-question-c.png">    </p:cNvPr>
          <p:cNvPicPr>
            <a:picLocks noChangeAspect="1"/>
          </p:cNvPicPr>
          <p:nvPr/>
        </p:nvPicPr>
        <p:blipFill>
          <a:blip r:embed="rId2"/>
          <a:stretch>
            <a:fillRect/>
          </a:stretch>
        </p:blipFill>
        <p:spPr>
          <a:xfrm>
            <a:off x="2561527" y="1627632"/>
            <a:ext cx="1354519" cy="2788920"/>
          </a:xfrm>
          <a:prstGeom prst="rect">
            <a:avLst/>
          </a:prstGeom>
        </p:spPr>
      </p:pic>
      <p:sp>
        <p:nvSpPr>
          <p:cNvPr id="10" name="Text 6"/>
          <p:cNvSpPr txBox="1"/>
          <p:nvPr/>
        </p:nvSpPr>
        <p:spPr>
          <a:xfrm>
            <a:off x="2241487" y="4507992"/>
            <a:ext cx="1994599" cy="256032"/>
          </a:xfrm>
          <a:prstGeom prst="rect">
            <a:avLst/>
          </a:prstGeom>
          <a:noFill/>
          <a:ln/>
        </p:spPr>
        <p:txBody>
          <a:bodyPr wrap="square" lIns="0" tIns="0" rIns="0" bIns="0" rtlCol="0" anchor="ctr"/>
          <a:lstStyle/>
          <a:p>
            <a:pPr algn="ctr" indent="0" marL="0">
              <a:buNone/>
            </a:pPr>
            <a:r>
              <a:rPr lang="en-US" sz="1300" b="1" dirty="0">
                <a:solidFill>
                  <a:srgbClr val="111827"/>
                </a:solidFill>
                <a:latin typeface="Arial" pitchFamily="34" charset="0"/>
                <a:ea typeface="Arial" pitchFamily="34" charset="-122"/>
                <a:cs typeface="Arial" pitchFamily="34" charset="-120"/>
              </a:rPr>
              <a:t>A few questions</a:t>
            </a:r>
            <a:endParaRPr lang="en-US" sz="1300" dirty="0"/>
          </a:p>
        </p:txBody>
      </p:sp>
      <p:sp>
        <p:nvSpPr>
          <p:cNvPr id="11" name="Text 7"/>
          <p:cNvSpPr txBox="1"/>
          <p:nvPr/>
        </p:nvSpPr>
        <p:spPr>
          <a:xfrm>
            <a:off x="2241487" y="4764024"/>
            <a:ext cx="1994599" cy="274320"/>
          </a:xfrm>
          <a:prstGeom prst="rect">
            <a:avLst/>
          </a:prstGeom>
          <a:noFill/>
          <a:ln/>
        </p:spPr>
        <p:txBody>
          <a:bodyPr wrap="square" lIns="0" tIns="0" rIns="0" bIns="0" rtlCol="0" anchor="ctr"/>
          <a:lstStyle/>
          <a:p>
            <a:pPr algn="ctr" indent="0" marL="0">
              <a:buNone/>
            </a:pPr>
            <a:r>
              <a:rPr lang="en-US" sz="1000" dirty="0">
                <a:solidFill>
                  <a:srgbClr val="4B5563"/>
                </a:solidFill>
                <a:latin typeface="Arial" pitchFamily="34" charset="0"/>
                <a:ea typeface="Arial" pitchFamily="34" charset="-122"/>
                <a:cs typeface="Arial" pitchFamily="34" charset="-120"/>
              </a:rPr>
              <a:t>her own words · latency</a:t>
            </a:r>
            <a:endParaRPr lang="en-US" sz="1000" dirty="0"/>
          </a:p>
        </p:txBody>
      </p:sp>
      <p:sp>
        <p:nvSpPr>
          <p:cNvPr id="12" name="Shape 8"/>
          <p:cNvSpPr/>
          <p:nvPr/>
        </p:nvSpPr>
        <p:spPr>
          <a:xfrm>
            <a:off x="4519550" y="1572768"/>
            <a:ext cx="1464247" cy="2898648"/>
          </a:xfrm>
          <a:prstGeom prst="roundRect">
            <a:avLst>
              <a:gd name="adj" fmla="val 13739"/>
            </a:avLst>
          </a:prstGeom>
          <a:solidFill>
            <a:srgbClr val="111827"/>
          </a:solidFill>
          <a:ln w="12700">
            <a:solidFill>
              <a:srgbClr val="4B5563"/>
            </a:solidFill>
            <a:prstDash val="solid"/>
          </a:ln>
        </p:spPr>
      </p:sp>
      <p:pic>
        <p:nvPicPr>
          <p:cNvPr id="13" name="Image 2" descr="../shots/07-puzzle-anna-c.png">    </p:cNvPr>
          <p:cNvPicPr>
            <a:picLocks noChangeAspect="1"/>
          </p:cNvPicPr>
          <p:nvPr/>
        </p:nvPicPr>
        <p:blipFill>
          <a:blip r:embed="rId3"/>
          <a:stretch>
            <a:fillRect/>
          </a:stretch>
        </p:blipFill>
        <p:spPr>
          <a:xfrm>
            <a:off x="4574414" y="1627632"/>
            <a:ext cx="1354519" cy="2788920"/>
          </a:xfrm>
          <a:prstGeom prst="rect">
            <a:avLst/>
          </a:prstGeom>
        </p:spPr>
      </p:pic>
      <p:sp>
        <p:nvSpPr>
          <p:cNvPr id="14" name="Text 9"/>
          <p:cNvSpPr txBox="1"/>
          <p:nvPr/>
        </p:nvSpPr>
        <p:spPr>
          <a:xfrm>
            <a:off x="4254374" y="4507992"/>
            <a:ext cx="1994599" cy="256032"/>
          </a:xfrm>
          <a:prstGeom prst="rect">
            <a:avLst/>
          </a:prstGeom>
          <a:noFill/>
          <a:ln/>
        </p:spPr>
        <p:txBody>
          <a:bodyPr wrap="square" lIns="0" tIns="0" rIns="0" bIns="0" rtlCol="0" anchor="ctr"/>
          <a:lstStyle/>
          <a:p>
            <a:pPr algn="ctr" indent="0" marL="0">
              <a:buNone/>
            </a:pPr>
            <a:r>
              <a:rPr lang="en-US" sz="1300" b="1" dirty="0">
                <a:solidFill>
                  <a:srgbClr val="111827"/>
                </a:solidFill>
                <a:latin typeface="Arial" pitchFamily="34" charset="0"/>
                <a:ea typeface="Arial" pitchFamily="34" charset="-122"/>
                <a:cs typeface="Arial" pitchFamily="34" charset="-120"/>
              </a:rPr>
              <a:t>A puzzle, with Anna</a:t>
            </a:r>
            <a:endParaRPr lang="en-US" sz="1300" dirty="0"/>
          </a:p>
        </p:txBody>
      </p:sp>
      <p:sp>
        <p:nvSpPr>
          <p:cNvPr id="15" name="Text 10"/>
          <p:cNvSpPr txBox="1"/>
          <p:nvPr/>
        </p:nvSpPr>
        <p:spPr>
          <a:xfrm>
            <a:off x="4254374" y="4764024"/>
            <a:ext cx="1994599" cy="274320"/>
          </a:xfrm>
          <a:prstGeom prst="rect">
            <a:avLst/>
          </a:prstGeom>
          <a:noFill/>
          <a:ln/>
        </p:spPr>
        <p:txBody>
          <a:bodyPr wrap="square" lIns="0" tIns="0" rIns="0" bIns="0" rtlCol="0" anchor="ctr"/>
          <a:lstStyle/>
          <a:p>
            <a:pPr algn="ctr" indent="0" marL="0">
              <a:buNone/>
            </a:pPr>
            <a:r>
              <a:rPr lang="en-US" sz="1000" dirty="0">
                <a:solidFill>
                  <a:srgbClr val="4B5563"/>
                </a:solidFill>
                <a:latin typeface="Arial" pitchFamily="34" charset="0"/>
                <a:ea typeface="Arial" pitchFamily="34" charset="-122"/>
                <a:cs typeface="Arial" pitchFamily="34" charset="-120"/>
              </a:rPr>
              <a:t>attention · space · company</a:t>
            </a:r>
            <a:endParaRPr lang="en-US" sz="1000" dirty="0"/>
          </a:p>
        </p:txBody>
      </p:sp>
      <p:sp>
        <p:nvSpPr>
          <p:cNvPr id="16" name="Shape 11"/>
          <p:cNvSpPr/>
          <p:nvPr/>
        </p:nvSpPr>
        <p:spPr>
          <a:xfrm>
            <a:off x="6532437" y="1572768"/>
            <a:ext cx="1464247" cy="2898648"/>
          </a:xfrm>
          <a:prstGeom prst="roundRect">
            <a:avLst>
              <a:gd name="adj" fmla="val 13739"/>
            </a:avLst>
          </a:prstGeom>
          <a:solidFill>
            <a:srgbClr val="111827"/>
          </a:solidFill>
          <a:ln w="12700">
            <a:solidFill>
              <a:srgbClr val="4B5563"/>
            </a:solidFill>
            <a:prstDash val="solid"/>
          </a:ln>
        </p:spPr>
      </p:sp>
      <p:pic>
        <p:nvPicPr>
          <p:cNvPr id="17" name="Image 3" descr="../shots/08-goodbye-c.png">    </p:cNvPr>
          <p:cNvPicPr>
            <a:picLocks noChangeAspect="1"/>
          </p:cNvPicPr>
          <p:nvPr/>
        </p:nvPicPr>
        <p:blipFill>
          <a:blip r:embed="rId4"/>
          <a:stretch>
            <a:fillRect/>
          </a:stretch>
        </p:blipFill>
        <p:spPr>
          <a:xfrm>
            <a:off x="6587301" y="1627632"/>
            <a:ext cx="1354519" cy="2788920"/>
          </a:xfrm>
          <a:prstGeom prst="rect">
            <a:avLst/>
          </a:prstGeom>
        </p:spPr>
      </p:pic>
      <p:sp>
        <p:nvSpPr>
          <p:cNvPr id="18" name="Text 12"/>
          <p:cNvSpPr txBox="1"/>
          <p:nvPr/>
        </p:nvSpPr>
        <p:spPr>
          <a:xfrm>
            <a:off x="6267261" y="4507992"/>
            <a:ext cx="1994599" cy="256032"/>
          </a:xfrm>
          <a:prstGeom prst="rect">
            <a:avLst/>
          </a:prstGeom>
          <a:noFill/>
          <a:ln/>
        </p:spPr>
        <p:txBody>
          <a:bodyPr wrap="square" lIns="0" tIns="0" rIns="0" bIns="0" rtlCol="0" anchor="ctr"/>
          <a:lstStyle/>
          <a:p>
            <a:pPr algn="ctr" indent="0" marL="0">
              <a:buNone/>
            </a:pPr>
            <a:r>
              <a:rPr lang="en-US" sz="1300" b="1" dirty="0">
                <a:solidFill>
                  <a:srgbClr val="111827"/>
                </a:solidFill>
                <a:latin typeface="Arial" pitchFamily="34" charset="0"/>
                <a:ea typeface="Arial" pitchFamily="34" charset="-122"/>
                <a:cs typeface="Arial" pitchFamily="34" charset="-120"/>
              </a:rPr>
              <a:t>Goodbye</a:t>
            </a:r>
            <a:endParaRPr lang="en-US" sz="1300" dirty="0"/>
          </a:p>
        </p:txBody>
      </p:sp>
      <p:sp>
        <p:nvSpPr>
          <p:cNvPr id="19" name="Text 13"/>
          <p:cNvSpPr txBox="1"/>
          <p:nvPr/>
        </p:nvSpPr>
        <p:spPr>
          <a:xfrm>
            <a:off x="6267261" y="4764024"/>
            <a:ext cx="1994599" cy="274320"/>
          </a:xfrm>
          <a:prstGeom prst="rect">
            <a:avLst/>
          </a:prstGeom>
          <a:noFill/>
          <a:ln/>
        </p:spPr>
        <p:txBody>
          <a:bodyPr wrap="square" lIns="0" tIns="0" rIns="0" bIns="0" rtlCol="0" anchor="ctr"/>
          <a:lstStyle/>
          <a:p>
            <a:pPr algn="ctr" indent="0" marL="0">
              <a:buNone/>
            </a:pPr>
            <a:r>
              <a:rPr lang="en-US" sz="1000" dirty="0">
                <a:solidFill>
                  <a:srgbClr val="4B5563"/>
                </a:solidFill>
                <a:latin typeface="Arial" pitchFamily="34" charset="0"/>
                <a:ea typeface="Arial" pitchFamily="34" charset="-122"/>
                <a:cs typeface="Arial" pitchFamily="34" charset="-120"/>
              </a:rPr>
              <a:t>did she come · how fast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475488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What the phone saw.</a:t>
            </a:r>
            <a:endParaRPr lang="en-US" sz="3200" dirty="0"/>
          </a:p>
        </p:txBody>
      </p:sp>
      <p:sp>
        <p:nvSpPr>
          <p:cNvPr id="3" name="Shape 1"/>
          <p:cNvSpPr/>
          <p:nvPr/>
        </p:nvSpPr>
        <p:spPr>
          <a:xfrm>
            <a:off x="548640" y="1051560"/>
            <a:ext cx="4480560" cy="960120"/>
          </a:xfrm>
          <a:prstGeom prst="roundRect">
            <a:avLst>
              <a:gd name="adj" fmla="val 14286"/>
            </a:avLst>
          </a:prstGeom>
          <a:solidFill>
            <a:srgbClr val="FDE2E2"/>
          </a:solidFill>
          <a:ln w="19050">
            <a:solidFill>
              <a:srgbClr val="C8402F"/>
            </a:solidFill>
            <a:prstDash val="solid"/>
          </a:ln>
        </p:spPr>
      </p:sp>
      <p:sp>
        <p:nvSpPr>
          <p:cNvPr id="4" name="Text 2"/>
          <p:cNvSpPr txBox="1"/>
          <p:nvPr/>
        </p:nvSpPr>
        <p:spPr>
          <a:xfrm>
            <a:off x="731520" y="1115568"/>
            <a:ext cx="4114800" cy="822960"/>
          </a:xfrm>
          <a:prstGeom prst="rect">
            <a:avLst/>
          </a:prstGeom>
          <a:noFill/>
          <a:ln/>
        </p:spPr>
        <p:txBody>
          <a:bodyPr wrap="square" lIns="0" tIns="0" rIns="0" bIns="0" rtlCol="0" anchor="ctr"/>
          <a:lstStyle/>
          <a:p>
            <a:pPr indent="0" marL="0">
              <a:buNone/>
            </a:pPr>
            <a:r>
              <a:rPr lang="en-US" sz="1600" i="1" dirty="0">
                <a:solidFill>
                  <a:srgbClr val="C8402F"/>
                </a:solidFill>
                <a:latin typeface="Arial" pitchFamily="34" charset="0"/>
                <a:ea typeface="Arial" pitchFamily="34" charset="-122"/>
                <a:cs typeface="Arial" pitchFamily="34" charset="-120"/>
              </a:rPr>
              <a:t>“Margaret’s signature was slower, more hesitant and a different shape than usual today.”</a:t>
            </a:r>
            <a:endParaRPr lang="en-US" sz="1600" dirty="0"/>
          </a:p>
        </p:txBody>
      </p:sp>
      <p:pic>
        <p:nvPicPr>
          <p:cNvPr id="5" name="Image 0" descr="../shots/14-sig-baseline.png">    </p:cNvPr>
          <p:cNvPicPr>
            <a:picLocks noChangeAspect="1"/>
          </p:cNvPicPr>
          <p:nvPr/>
        </p:nvPicPr>
        <p:blipFill>
          <a:blip r:embed="rId1"/>
          <a:stretch>
            <a:fillRect/>
          </a:stretch>
        </p:blipFill>
        <p:spPr>
          <a:xfrm>
            <a:off x="548640" y="2194560"/>
            <a:ext cx="2103120" cy="1488057"/>
          </a:xfrm>
          <a:prstGeom prst="rect">
            <a:avLst/>
          </a:prstGeom>
        </p:spPr>
      </p:pic>
      <p:pic>
        <p:nvPicPr>
          <p:cNvPr id="6" name="Image 1" descr="../shots/15-sig-today.png">    </p:cNvPr>
          <p:cNvPicPr>
            <a:picLocks noChangeAspect="1"/>
          </p:cNvPicPr>
          <p:nvPr/>
        </p:nvPicPr>
        <p:blipFill>
          <a:blip r:embed="rId2"/>
          <a:stretch>
            <a:fillRect/>
          </a:stretch>
        </p:blipFill>
        <p:spPr>
          <a:xfrm>
            <a:off x="2926080" y="2194560"/>
            <a:ext cx="2103120" cy="1488057"/>
          </a:xfrm>
          <a:prstGeom prst="rect">
            <a:avLst/>
          </a:prstGeom>
        </p:spPr>
      </p:pic>
      <p:sp>
        <p:nvSpPr>
          <p:cNvPr id="7" name="Text 3"/>
          <p:cNvSpPr txBox="1"/>
          <p:nvPr/>
        </p:nvSpPr>
        <p:spPr>
          <a:xfrm>
            <a:off x="548640" y="3794760"/>
            <a:ext cx="4480560" cy="365760"/>
          </a:xfrm>
          <a:prstGeom prst="rect">
            <a:avLst/>
          </a:prstGeom>
          <a:noFill/>
          <a:ln/>
        </p:spPr>
        <p:txBody>
          <a:bodyPr wrap="square" lIns="0" tIns="0" rIns="0" bIns="0" rtlCol="0" anchor="ctr"/>
          <a:lstStyle/>
          <a:p>
            <a:pPr indent="0" marL="0">
              <a:buNone/>
            </a:pPr>
            <a:r>
              <a:rPr lang="en-US" sz="1300" b="1" dirty="0">
                <a:solidFill>
                  <a:srgbClr val="111827"/>
                </a:solidFill>
                <a:latin typeface="Arial" pitchFamily="34" charset="0"/>
                <a:ea typeface="Arial" pitchFamily="34" charset="-122"/>
                <a:cs typeface="Arial" pitchFamily="34" charset="-120"/>
              </a:rPr>
              <a:t>Her usual, and today. It looks the same. It wasn’t.</a:t>
            </a:r>
            <a:endParaRPr lang="en-US" sz="1300" dirty="0"/>
          </a:p>
        </p:txBody>
      </p:sp>
      <p:sp>
        <p:nvSpPr>
          <p:cNvPr id="8" name="Text 4"/>
          <p:cNvSpPr txBox="1"/>
          <p:nvPr/>
        </p:nvSpPr>
        <p:spPr>
          <a:xfrm>
            <a:off x="548640" y="4206240"/>
            <a:ext cx="4480560" cy="45720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What the family sees. Margaret sees a thank-you and her page in the book.</a:t>
            </a:r>
            <a:endParaRPr lang="en-US" sz="1100" dirty="0"/>
          </a:p>
        </p:txBody>
      </p:sp>
      <p:pic>
        <p:nvPicPr>
          <p:cNvPr id="9" name="Image 2" descr="../shots/ztable-5.png">    </p:cNvPr>
          <p:cNvPicPr>
            <a:picLocks noChangeAspect="1"/>
          </p:cNvPicPr>
          <p:nvPr/>
        </p:nvPicPr>
        <p:blipFill>
          <a:blip r:embed="rId3"/>
          <a:stretch>
            <a:fillRect/>
          </a:stretch>
        </p:blipFill>
        <p:spPr>
          <a:xfrm>
            <a:off x="5349240" y="1051560"/>
            <a:ext cx="3429000" cy="1330083"/>
          </a:xfrm>
          <a:prstGeom prst="rect">
            <a:avLst/>
          </a:prstGeom>
        </p:spPr>
      </p:pic>
      <p:sp>
        <p:nvSpPr>
          <p:cNvPr id="10" name="Text 5"/>
          <p:cNvSpPr txBox="1"/>
          <p:nvPr/>
        </p:nvSpPr>
        <p:spPr>
          <a:xfrm>
            <a:off x="5349240" y="2514600"/>
            <a:ext cx="3429000" cy="68580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Nine features against her own five-day baseline: time to start, total time, pauses, strokes, speed, smoothness, size, shape.</a:t>
            </a:r>
            <a:endParaRPr lang="en-US" sz="1100" dirty="0"/>
          </a:p>
        </p:txBody>
      </p:sp>
      <p:sp>
        <p:nvSpPr>
          <p:cNvPr id="11" name="Text 6"/>
          <p:cNvSpPr txBox="1"/>
          <p:nvPr/>
        </p:nvSpPr>
        <p:spPr>
          <a:xfrm>
            <a:off x="5349240" y="3246120"/>
            <a:ext cx="3429000" cy="68580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Robust z: today minus her usual, over her usual spread. Well outside on two features is a flag. Three days is a trend.</a:t>
            </a:r>
            <a:endParaRPr lang="en-US" sz="1100" dirty="0"/>
          </a:p>
        </p:txBody>
      </p:sp>
      <p:sp>
        <p:nvSpPr>
          <p:cNvPr id="12" name="Text 7"/>
          <p:cNvSpPr txBox="1"/>
          <p:nvPr/>
        </p:nvSpPr>
        <p:spPr>
          <a:xfrm>
            <a:off x="5349240" y="3977640"/>
            <a:ext cx="3429000" cy="274320"/>
          </a:xfrm>
          <a:prstGeom prst="rect">
            <a:avLst/>
          </a:prstGeom>
          <a:noFill/>
          <a:ln/>
        </p:spPr>
        <p:txBody>
          <a:bodyPr wrap="square" lIns="0" tIns="0" rIns="0" bIns="0" rtlCol="0" anchor="ctr"/>
          <a:lstStyle/>
          <a:p>
            <a:pPr indent="0" marL="0">
              <a:buNone/>
            </a:pPr>
            <a:r>
              <a:rPr lang="en-US" sz="900" i="1" dirty="0">
                <a:solidFill>
                  <a:srgbClr val="9CA3AF"/>
                </a:solidFill>
                <a:latin typeface="Arial" pitchFamily="34" charset="0"/>
                <a:ea typeface="Arial" pitchFamily="34" charset="-122"/>
                <a:cs typeface="Arial" pitchFamily="34" charset="-120"/>
              </a:rPr>
              <a:t>Real numbers from the demo build.</a:t>
            </a:r>
            <a:endParaRPr lang="en-US" sz="900" dirty="0"/>
          </a:p>
        </p:txBody>
      </p:sp>
      <p:pic>
        <p:nvPicPr>
          <p:cNvPr id="13" name="Image 3" descr="../shots/doodle-cat-with-no-face-blue.png">    </p:cNvPr>
          <p:cNvPicPr>
            <a:picLocks noChangeAspect="1"/>
          </p:cNvPicPr>
          <p:nvPr/>
        </p:nvPicPr>
        <p:blipFill>
          <a:blip r:embed="rId4"/>
          <a:stretch>
            <a:fillRect/>
          </a:stretch>
        </p:blipFill>
        <p:spPr>
          <a:xfrm>
            <a:off x="7818120" y="4069080"/>
            <a:ext cx="960120" cy="9601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Five things, one visit.</a:t>
            </a:r>
            <a:endParaRPr lang="en-US" sz="3200" dirty="0"/>
          </a:p>
        </p:txBody>
      </p:sp>
      <p:sp>
        <p:nvSpPr>
          <p:cNvPr id="3" name="Text 1"/>
          <p:cNvSpPr txBox="1"/>
          <p:nvPr/>
        </p:nvSpPr>
        <p:spPr>
          <a:xfrm>
            <a:off x="548640" y="914400"/>
            <a:ext cx="8046720" cy="548640"/>
          </a:xfrm>
          <a:prstGeom prst="rect">
            <a:avLst/>
          </a:prstGeom>
          <a:noFill/>
          <a:ln/>
        </p:spPr>
        <p:txBody>
          <a:bodyPr wrap="square" lIns="0" tIns="0" rIns="0" bIns="0" rtlCol="0" anchor="ctr"/>
          <a:lstStyle/>
          <a:p>
            <a:pPr indent="0" marL="0">
              <a:buNone/>
            </a:pPr>
            <a:r>
              <a:rPr lang="en-US" sz="1500" dirty="0">
                <a:solidFill>
                  <a:srgbClr val="4B5563"/>
                </a:solidFill>
                <a:latin typeface="Arial" pitchFamily="34" charset="0"/>
                <a:ea typeface="Arial" pitchFamily="34" charset="-122"/>
                <a:cs typeface="Arial" pitchFamily="34" charset="-120"/>
              </a:rPr>
              <a:t>Every bedside instrument checks the first four, once a shift, in hospital. None sees the fifth, because nobody comes back hours later.</a:t>
            </a:r>
            <a:endParaRPr lang="en-US" sz="1500" dirty="0"/>
          </a:p>
        </p:txBody>
      </p:sp>
      <p:sp>
        <p:nvSpPr>
          <p:cNvPr id="4" name="Shape 2"/>
          <p:cNvSpPr/>
          <p:nvPr/>
        </p:nvSpPr>
        <p:spPr>
          <a:xfrm>
            <a:off x="548640" y="1600200"/>
            <a:ext cx="2514600" cy="1143000"/>
          </a:xfrm>
          <a:prstGeom prst="roundRect">
            <a:avLst>
              <a:gd name="adj" fmla="val 12000"/>
            </a:avLst>
          </a:prstGeom>
          <a:solidFill>
            <a:srgbClr val="F3F4F6"/>
          </a:solidFill>
          <a:ln w="12700">
            <a:solidFill>
              <a:srgbClr val="4B5563"/>
            </a:solidFill>
            <a:prstDash val="solid"/>
          </a:ln>
        </p:spPr>
      </p:sp>
      <p:sp>
        <p:nvSpPr>
          <p:cNvPr id="5" name="Text 3"/>
          <p:cNvSpPr txBox="1"/>
          <p:nvPr/>
        </p:nvSpPr>
        <p:spPr>
          <a:xfrm>
            <a:off x="713232" y="1709928"/>
            <a:ext cx="2194560" cy="347472"/>
          </a:xfrm>
          <a:prstGeom prst="rect">
            <a:avLst/>
          </a:prstGeom>
          <a:noFill/>
          <a:ln/>
        </p:spPr>
        <p:txBody>
          <a:bodyPr wrap="square" lIns="0" tIns="0" rIns="0" bIns="0" rtlCol="0" anchor="ctr"/>
          <a:lstStyle/>
          <a:p>
            <a:pPr indent="0" marL="0">
              <a:buNone/>
            </a:pPr>
            <a:r>
              <a:rPr lang="en-US" sz="1500" b="1" dirty="0">
                <a:solidFill>
                  <a:srgbClr val="111827"/>
                </a:solidFill>
                <a:latin typeface="Arial" pitchFamily="34" charset="0"/>
                <a:ea typeface="Arial" pitchFamily="34" charset="-122"/>
                <a:cs typeface="Arial" pitchFamily="34" charset="-120"/>
              </a:rPr>
              <a:t>Attention</a:t>
            </a:r>
            <a:endParaRPr lang="en-US" sz="1500" dirty="0"/>
          </a:p>
        </p:txBody>
      </p:sp>
      <p:sp>
        <p:nvSpPr>
          <p:cNvPr id="6" name="Text 4"/>
          <p:cNvSpPr txBox="1"/>
          <p:nvPr/>
        </p:nvSpPr>
        <p:spPr>
          <a:xfrm>
            <a:off x="713232" y="2075688"/>
            <a:ext cx="2194560" cy="64008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Days backwards in the chat. Search time between pieces in the puzzle.</a:t>
            </a:r>
            <a:endParaRPr lang="en-US" sz="1100" dirty="0"/>
          </a:p>
        </p:txBody>
      </p:sp>
      <p:sp>
        <p:nvSpPr>
          <p:cNvPr id="7" name="Shape 5"/>
          <p:cNvSpPr/>
          <p:nvPr/>
        </p:nvSpPr>
        <p:spPr>
          <a:xfrm>
            <a:off x="3337560" y="1600200"/>
            <a:ext cx="2514600" cy="1143000"/>
          </a:xfrm>
          <a:prstGeom prst="roundRect">
            <a:avLst>
              <a:gd name="adj" fmla="val 12000"/>
            </a:avLst>
          </a:prstGeom>
          <a:solidFill>
            <a:srgbClr val="F3F4F6"/>
          </a:solidFill>
          <a:ln w="12700">
            <a:solidFill>
              <a:srgbClr val="4B5563"/>
            </a:solidFill>
            <a:prstDash val="solid"/>
          </a:ln>
        </p:spPr>
      </p:sp>
      <p:sp>
        <p:nvSpPr>
          <p:cNvPr id="8" name="Text 6"/>
          <p:cNvSpPr txBox="1"/>
          <p:nvPr/>
        </p:nvSpPr>
        <p:spPr>
          <a:xfrm>
            <a:off x="3502152" y="1709928"/>
            <a:ext cx="2194560" cy="347472"/>
          </a:xfrm>
          <a:prstGeom prst="rect">
            <a:avLst/>
          </a:prstGeom>
          <a:noFill/>
          <a:ln/>
        </p:spPr>
        <p:txBody>
          <a:bodyPr wrap="square" lIns="0" tIns="0" rIns="0" bIns="0" rtlCol="0" anchor="ctr"/>
          <a:lstStyle/>
          <a:p>
            <a:pPr indent="0" marL="0">
              <a:buNone/>
            </a:pPr>
            <a:r>
              <a:rPr lang="en-US" sz="1500" b="1" dirty="0">
                <a:solidFill>
                  <a:srgbClr val="111827"/>
                </a:solidFill>
                <a:latin typeface="Arial" pitchFamily="34" charset="0"/>
                <a:ea typeface="Arial" pitchFamily="34" charset="-122"/>
                <a:cs typeface="Arial" pitchFamily="34" charset="-120"/>
              </a:rPr>
              <a:t>Orientation</a:t>
            </a:r>
            <a:endParaRPr lang="en-US" sz="1500" dirty="0"/>
          </a:p>
        </p:txBody>
      </p:sp>
      <p:sp>
        <p:nvSpPr>
          <p:cNvPr id="9" name="Text 7"/>
          <p:cNvSpPr txBox="1"/>
          <p:nvPr/>
        </p:nvSpPr>
        <p:spPr>
          <a:xfrm>
            <a:off x="3502152" y="2075688"/>
            <a:ext cx="2194560" cy="64008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“What is today?”, asked the way a friend would.</a:t>
            </a:r>
            <a:endParaRPr lang="en-US" sz="1100" dirty="0"/>
          </a:p>
        </p:txBody>
      </p:sp>
      <p:sp>
        <p:nvSpPr>
          <p:cNvPr id="10" name="Shape 8"/>
          <p:cNvSpPr/>
          <p:nvPr/>
        </p:nvSpPr>
        <p:spPr>
          <a:xfrm>
            <a:off x="6126480" y="1600200"/>
            <a:ext cx="2514600" cy="1143000"/>
          </a:xfrm>
          <a:prstGeom prst="roundRect">
            <a:avLst>
              <a:gd name="adj" fmla="val 12000"/>
            </a:avLst>
          </a:prstGeom>
          <a:solidFill>
            <a:srgbClr val="F3F4F6"/>
          </a:solidFill>
          <a:ln w="12700">
            <a:solidFill>
              <a:srgbClr val="4B5563"/>
            </a:solidFill>
            <a:prstDash val="solid"/>
          </a:ln>
        </p:spPr>
      </p:sp>
      <p:sp>
        <p:nvSpPr>
          <p:cNvPr id="11" name="Text 9"/>
          <p:cNvSpPr txBox="1"/>
          <p:nvPr/>
        </p:nvSpPr>
        <p:spPr>
          <a:xfrm>
            <a:off x="6291072" y="1709928"/>
            <a:ext cx="2194560" cy="347472"/>
          </a:xfrm>
          <a:prstGeom prst="rect">
            <a:avLst/>
          </a:prstGeom>
          <a:noFill/>
          <a:ln/>
        </p:spPr>
        <p:txBody>
          <a:bodyPr wrap="square" lIns="0" tIns="0" rIns="0" bIns="0" rtlCol="0" anchor="ctr"/>
          <a:lstStyle/>
          <a:p>
            <a:pPr indent="0" marL="0">
              <a:buNone/>
            </a:pPr>
            <a:r>
              <a:rPr lang="en-US" sz="1500" b="1" dirty="0">
                <a:solidFill>
                  <a:srgbClr val="111827"/>
                </a:solidFill>
                <a:latin typeface="Arial" pitchFamily="34" charset="0"/>
                <a:ea typeface="Arial" pitchFamily="34" charset="-122"/>
                <a:cs typeface="Arial" pitchFamily="34" charset="-120"/>
              </a:rPr>
              <a:t>Disorganised thinking</a:t>
            </a:r>
            <a:endParaRPr lang="en-US" sz="1500" dirty="0"/>
          </a:p>
        </p:txBody>
      </p:sp>
      <p:sp>
        <p:nvSpPr>
          <p:cNvPr id="12" name="Text 10"/>
          <p:cNvSpPr txBox="1"/>
          <p:nvPr/>
        </p:nvSpPr>
        <p:spPr>
          <a:xfrm>
            <a:off x="6291072" y="2075688"/>
            <a:ext cx="2194560" cy="64008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Coherence of her own words. Order of placement in the puzzle.</a:t>
            </a:r>
            <a:endParaRPr lang="en-US" sz="1100" dirty="0"/>
          </a:p>
        </p:txBody>
      </p:sp>
      <p:sp>
        <p:nvSpPr>
          <p:cNvPr id="13" name="Shape 11"/>
          <p:cNvSpPr/>
          <p:nvPr/>
        </p:nvSpPr>
        <p:spPr>
          <a:xfrm>
            <a:off x="548640" y="2926080"/>
            <a:ext cx="2514600" cy="1143000"/>
          </a:xfrm>
          <a:prstGeom prst="roundRect">
            <a:avLst>
              <a:gd name="adj" fmla="val 12000"/>
            </a:avLst>
          </a:prstGeom>
          <a:solidFill>
            <a:srgbClr val="F3F4F6"/>
          </a:solidFill>
          <a:ln w="12700">
            <a:solidFill>
              <a:srgbClr val="4B5563"/>
            </a:solidFill>
            <a:prstDash val="solid"/>
          </a:ln>
        </p:spPr>
      </p:sp>
      <p:sp>
        <p:nvSpPr>
          <p:cNvPr id="14" name="Text 12"/>
          <p:cNvSpPr txBox="1"/>
          <p:nvPr/>
        </p:nvSpPr>
        <p:spPr>
          <a:xfrm>
            <a:off x="713232" y="3035808"/>
            <a:ext cx="2194560" cy="347472"/>
          </a:xfrm>
          <a:prstGeom prst="rect">
            <a:avLst/>
          </a:prstGeom>
          <a:noFill/>
          <a:ln/>
        </p:spPr>
        <p:txBody>
          <a:bodyPr wrap="square" lIns="0" tIns="0" rIns="0" bIns="0" rtlCol="0" anchor="ctr"/>
          <a:lstStyle/>
          <a:p>
            <a:pPr indent="0" marL="0">
              <a:buNone/>
            </a:pPr>
            <a:r>
              <a:rPr lang="en-US" sz="1500" b="1" dirty="0">
                <a:solidFill>
                  <a:srgbClr val="111827"/>
                </a:solidFill>
                <a:latin typeface="Arial" pitchFamily="34" charset="0"/>
                <a:ea typeface="Arial" pitchFamily="34" charset="-122"/>
                <a:cs typeface="Arial" pitchFamily="34" charset="-120"/>
              </a:rPr>
              <a:t>Arousal</a:t>
            </a:r>
            <a:endParaRPr lang="en-US" sz="1500" dirty="0"/>
          </a:p>
        </p:txBody>
      </p:sp>
      <p:sp>
        <p:nvSpPr>
          <p:cNvPr id="15" name="Text 13"/>
          <p:cNvSpPr txBox="1"/>
          <p:nvPr/>
        </p:nvSpPr>
        <p:spPr>
          <a:xfrm>
            <a:off x="713232" y="3401568"/>
            <a:ext cx="2194560" cy="64008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Did she open it. How long before the first stroke.</a:t>
            </a:r>
            <a:endParaRPr lang="en-US" sz="1100" dirty="0"/>
          </a:p>
        </p:txBody>
      </p:sp>
      <p:sp>
        <p:nvSpPr>
          <p:cNvPr id="16" name="Shape 14"/>
          <p:cNvSpPr/>
          <p:nvPr/>
        </p:nvSpPr>
        <p:spPr>
          <a:xfrm>
            <a:off x="3337560" y="2926080"/>
            <a:ext cx="2514600" cy="1143000"/>
          </a:xfrm>
          <a:prstGeom prst="roundRect">
            <a:avLst>
              <a:gd name="adj" fmla="val 12000"/>
            </a:avLst>
          </a:prstGeom>
          <a:solidFill>
            <a:srgbClr val="1E40AF"/>
          </a:solidFill>
          <a:ln w="12700">
            <a:solidFill>
              <a:srgbClr val="4B5563"/>
            </a:solidFill>
            <a:prstDash val="solid"/>
          </a:ln>
        </p:spPr>
      </p:sp>
      <p:sp>
        <p:nvSpPr>
          <p:cNvPr id="17" name="Text 15"/>
          <p:cNvSpPr txBox="1"/>
          <p:nvPr/>
        </p:nvSpPr>
        <p:spPr>
          <a:xfrm>
            <a:off x="3502152" y="3035808"/>
            <a:ext cx="2194560" cy="347472"/>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Fluctuation</a:t>
            </a:r>
            <a:endParaRPr lang="en-US" sz="1500" dirty="0"/>
          </a:p>
        </p:txBody>
      </p:sp>
      <p:sp>
        <p:nvSpPr>
          <p:cNvPr id="18" name="Text 16"/>
          <p:cNvSpPr txBox="1"/>
          <p:nvPr/>
        </p:nvSpPr>
        <p:spPr>
          <a:xfrm>
            <a:off x="3502152" y="3401568"/>
            <a:ext cx="2194560" cy="640080"/>
          </a:xfrm>
          <a:prstGeom prst="rect">
            <a:avLst/>
          </a:prstGeom>
          <a:noFill/>
          <a:ln/>
        </p:spPr>
        <p:txBody>
          <a:bodyPr wrap="square" lIns="0" tIns="0" rIns="0" bIns="0" rtlCol="0" anchor="ctr"/>
          <a:lstStyle/>
          <a:p>
            <a:pPr indent="0" marL="0">
              <a:buNone/>
            </a:pPr>
            <a:r>
              <a:rPr lang="en-US" sz="1100" dirty="0">
                <a:solidFill>
                  <a:srgbClr val="C7D2FE"/>
                </a:solidFill>
                <a:latin typeface="Arial" pitchFamily="34" charset="0"/>
                <a:ea typeface="Arial" pitchFamily="34" charset="-122"/>
                <a:cs typeface="Arial" pitchFamily="34" charset="-120"/>
              </a:rPr>
              <a:t>Morning against evening. Today against her own baseline.</a:t>
            </a:r>
            <a:endParaRPr lang="en-US" sz="1100" dirty="0"/>
          </a:p>
        </p:txBody>
      </p:sp>
      <p:sp>
        <p:nvSpPr>
          <p:cNvPr id="19" name="Shape 17"/>
          <p:cNvSpPr/>
          <p:nvPr/>
        </p:nvSpPr>
        <p:spPr>
          <a:xfrm>
            <a:off x="6126480" y="2926080"/>
            <a:ext cx="2514600" cy="1143000"/>
          </a:xfrm>
          <a:prstGeom prst="roundRect">
            <a:avLst>
              <a:gd name="adj" fmla="val 12000"/>
            </a:avLst>
          </a:prstGeom>
          <a:solidFill>
            <a:srgbClr val="1E40AF"/>
          </a:solidFill>
          <a:ln w="12700">
            <a:solidFill>
              <a:srgbClr val="4B5563"/>
            </a:solidFill>
            <a:prstDash val="solid"/>
          </a:ln>
        </p:spPr>
      </p:sp>
      <p:sp>
        <p:nvSpPr>
          <p:cNvPr id="20" name="Text 18"/>
          <p:cNvSpPr txBox="1"/>
          <p:nvPr/>
        </p:nvSpPr>
        <p:spPr>
          <a:xfrm>
            <a:off x="6291072" y="3035808"/>
            <a:ext cx="2194560" cy="347472"/>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40% preventable</a:t>
            </a:r>
            <a:endParaRPr lang="en-US" sz="1500" dirty="0"/>
          </a:p>
        </p:txBody>
      </p:sp>
      <p:sp>
        <p:nvSpPr>
          <p:cNvPr id="21" name="Text 19"/>
          <p:cNvSpPr txBox="1"/>
          <p:nvPr/>
        </p:nvSpPr>
        <p:spPr>
          <a:xfrm>
            <a:off x="6291072" y="3401568"/>
            <a:ext cx="2194560" cy="640080"/>
          </a:xfrm>
          <a:prstGeom prst="rect">
            <a:avLst/>
          </a:prstGeom>
          <a:noFill/>
          <a:ln/>
        </p:spPr>
        <p:txBody>
          <a:bodyPr wrap="square" lIns="0" tIns="0" rIns="0" bIns="0" rtlCol="0" anchor="ctr"/>
          <a:lstStyle/>
          <a:p>
            <a:pPr indent="0" marL="0">
              <a:buNone/>
            </a:pPr>
            <a:r>
              <a:rPr lang="en-US" sz="1100" dirty="0">
                <a:solidFill>
                  <a:srgbClr val="C7D2FE"/>
                </a:solidFill>
                <a:latin typeface="Arial" pitchFamily="34" charset="0"/>
                <a:ea typeface="Arial" pitchFamily="34" charset="-122"/>
                <a:cs typeface="Arial" pitchFamily="34" charset="-120"/>
              </a:rPr>
              <a:t>Water, sleep, glasses, hearing aids, a phone call. A flag has a cheap answer.</a:t>
            </a:r>
            <a:endParaRPr lang="en-US" sz="1100" dirty="0"/>
          </a:p>
        </p:txBody>
      </p:sp>
      <p:sp>
        <p:nvSpPr>
          <p:cNvPr id="22" name="Text 20"/>
          <p:cNvSpPr txBox="1"/>
          <p:nvPr/>
        </p:nvSpPr>
        <p:spPr>
          <a:xfrm>
            <a:off x="548640" y="4343400"/>
            <a:ext cx="7132320" cy="411480"/>
          </a:xfrm>
          <a:prstGeom prst="rect">
            <a:avLst/>
          </a:prstGeom>
          <a:noFill/>
          <a:ln/>
        </p:spPr>
        <p:txBody>
          <a:bodyPr wrap="square" lIns="0" tIns="0" rIns="0" bIns="0" rtlCol="0" anchor="ctr"/>
          <a:lstStyle/>
          <a:p>
            <a:pPr indent="0" marL="0">
              <a:buNone/>
            </a:pPr>
            <a:r>
              <a:rPr lang="en-US" sz="1400" i="1" dirty="0">
                <a:solidFill>
                  <a:srgbClr val="1E40AF"/>
                </a:solidFill>
                <a:latin typeface="Arial" pitchFamily="34" charset="0"/>
                <a:ea typeface="Arial" pitchFamily="34" charset="-122"/>
                <a:cs typeface="Arial" pitchFamily="34" charset="-120"/>
              </a:rPr>
              <a:t>The same construct every day, at home, against her own usual. That is the white space.</a:t>
            </a:r>
            <a:endParaRPr lang="en-US" sz="1400" dirty="0"/>
          </a:p>
        </p:txBody>
      </p:sp>
      <p:pic>
        <p:nvPicPr>
          <p:cNvPr id="23" name="Image 0" descr="../shots/doodle-flower-with-no-petals-blue.png">    </p:cNvPr>
          <p:cNvPicPr>
            <a:picLocks noChangeAspect="1"/>
          </p:cNvPicPr>
          <p:nvPr/>
        </p:nvPicPr>
        <p:blipFill>
          <a:blip r:embed="rId1"/>
          <a:stretch>
            <a:fillRect/>
          </a:stretch>
        </p:blipFill>
        <p:spPr>
          <a:xfrm>
            <a:off x="7818120" y="4069080"/>
            <a:ext cx="960120" cy="9601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The visit carries the clinic’s questions.</a:t>
            </a:r>
            <a:endParaRPr lang="en-US" sz="3200" dirty="0"/>
          </a:p>
        </p:txBody>
      </p:sp>
      <p:sp>
        <p:nvSpPr>
          <p:cNvPr id="3" name="Text 1"/>
          <p:cNvSpPr txBox="1"/>
          <p:nvPr/>
        </p:nvSpPr>
        <p:spPr>
          <a:xfrm>
            <a:off x="548640" y="1005840"/>
            <a:ext cx="4023360" cy="502920"/>
          </a:xfrm>
          <a:prstGeom prst="rect">
            <a:avLst/>
          </a:prstGeom>
          <a:noFill/>
          <a:ln/>
        </p:spPr>
        <p:txBody>
          <a:bodyPr wrap="square" lIns="0" tIns="0" rIns="0" bIns="0" rtlCol="0" anchor="ctr"/>
          <a:lstStyle/>
          <a:p>
            <a:pPr indent="0" marL="0">
              <a:buNone/>
            </a:pPr>
            <a:r>
              <a:rPr lang="en-US" sz="1400" dirty="0">
                <a:solidFill>
                  <a:srgbClr val="4B5563"/>
                </a:solidFill>
                <a:latin typeface="Arial" pitchFamily="34" charset="0"/>
                <a:ea typeface="Arial" pitchFamily="34" charset="-122"/>
                <a:cs typeface="Arial" pitchFamily="34" charset="-120"/>
              </a:rPr>
              <a:t>A nurse writes the question in plain words. Ernie asks it every morning and reads the answer.</a:t>
            </a:r>
            <a:endParaRPr lang="en-US" sz="1400" dirty="0"/>
          </a:p>
        </p:txBody>
      </p:sp>
      <p:sp>
        <p:nvSpPr>
          <p:cNvPr id="4" name="Shape 2"/>
          <p:cNvSpPr/>
          <p:nvPr/>
        </p:nvSpPr>
        <p:spPr>
          <a:xfrm>
            <a:off x="548640" y="1600200"/>
            <a:ext cx="4023360" cy="493776"/>
          </a:xfrm>
          <a:prstGeom prst="roundRect">
            <a:avLst>
              <a:gd name="adj" fmla="val 27778"/>
            </a:avLst>
          </a:prstGeom>
          <a:solidFill>
            <a:srgbClr val="F3F4F6"/>
          </a:solidFill>
          <a:ln w="12700">
            <a:solidFill>
              <a:srgbClr val="4B5563"/>
            </a:solidFill>
            <a:prstDash val="solid"/>
          </a:ln>
        </p:spPr>
      </p:sp>
      <p:sp>
        <p:nvSpPr>
          <p:cNvPr id="5" name="Text 3"/>
          <p:cNvSpPr txBox="1"/>
          <p:nvPr/>
        </p:nvSpPr>
        <p:spPr>
          <a:xfrm>
            <a:off x="731520" y="1600200"/>
            <a:ext cx="3749040" cy="493776"/>
          </a:xfrm>
          <a:prstGeom prst="rect">
            <a:avLst/>
          </a:prstGeom>
          <a:noFill/>
          <a:ln/>
        </p:spPr>
        <p:txBody>
          <a:bodyPr wrap="square" lIns="0" tIns="0" rIns="0" bIns="0" rtlCol="0" anchor="ctr"/>
          <a:lstStyle/>
          <a:p>
            <a:pPr indent="0" marL="0">
              <a:buNone/>
            </a:pPr>
            <a:r>
              <a:rPr lang="en-US" sz="1300" dirty="0">
                <a:solidFill>
                  <a:srgbClr val="111827"/>
                </a:solidFill>
                <a:latin typeface="Arial" pitchFamily="34" charset="0"/>
                <a:ea typeface="Arial" pitchFamily="34" charset="-122"/>
                <a:cs typeface="Arial" pitchFamily="34" charset="-120"/>
              </a:rPr>
              <a:t>What does the scale say this morning?</a:t>
            </a:r>
            <a:endParaRPr lang="en-US" sz="1300" dirty="0"/>
          </a:p>
        </p:txBody>
      </p:sp>
      <p:sp>
        <p:nvSpPr>
          <p:cNvPr id="6" name="Shape 4"/>
          <p:cNvSpPr/>
          <p:nvPr/>
        </p:nvSpPr>
        <p:spPr>
          <a:xfrm>
            <a:off x="548640" y="2203704"/>
            <a:ext cx="4023360" cy="493776"/>
          </a:xfrm>
          <a:prstGeom prst="roundRect">
            <a:avLst>
              <a:gd name="adj" fmla="val 27778"/>
            </a:avLst>
          </a:prstGeom>
          <a:solidFill>
            <a:srgbClr val="F3F4F6"/>
          </a:solidFill>
          <a:ln w="12700">
            <a:solidFill>
              <a:srgbClr val="4B5563"/>
            </a:solidFill>
            <a:prstDash val="solid"/>
          </a:ln>
        </p:spPr>
      </p:sp>
      <p:sp>
        <p:nvSpPr>
          <p:cNvPr id="7" name="Text 5"/>
          <p:cNvSpPr txBox="1"/>
          <p:nvPr/>
        </p:nvSpPr>
        <p:spPr>
          <a:xfrm>
            <a:off x="731520" y="2203704"/>
            <a:ext cx="3749040" cy="493776"/>
          </a:xfrm>
          <a:prstGeom prst="rect">
            <a:avLst/>
          </a:prstGeom>
          <a:noFill/>
          <a:ln/>
        </p:spPr>
        <p:txBody>
          <a:bodyPr wrap="square" lIns="0" tIns="0" rIns="0" bIns="0" rtlCol="0" anchor="ctr"/>
          <a:lstStyle/>
          <a:p>
            <a:pPr indent="0" marL="0">
              <a:buNone/>
            </a:pPr>
            <a:r>
              <a:rPr lang="en-US" sz="1300" dirty="0">
                <a:solidFill>
                  <a:srgbClr val="111827"/>
                </a:solidFill>
                <a:latin typeface="Arial" pitchFamily="34" charset="0"/>
                <a:ea typeface="Arial" pitchFamily="34" charset="-122"/>
                <a:cs typeface="Arial" pitchFamily="34" charset="-120"/>
              </a:rPr>
              <a:t>Is it harder to breathe today than yesterday?</a:t>
            </a:r>
            <a:endParaRPr lang="en-US" sz="1300" dirty="0"/>
          </a:p>
        </p:txBody>
      </p:sp>
      <p:sp>
        <p:nvSpPr>
          <p:cNvPr id="8" name="Shape 6"/>
          <p:cNvSpPr/>
          <p:nvPr/>
        </p:nvSpPr>
        <p:spPr>
          <a:xfrm>
            <a:off x="548640" y="2807208"/>
            <a:ext cx="4023360" cy="493776"/>
          </a:xfrm>
          <a:prstGeom prst="roundRect">
            <a:avLst>
              <a:gd name="adj" fmla="val 27778"/>
            </a:avLst>
          </a:prstGeom>
          <a:solidFill>
            <a:srgbClr val="F3F4F6"/>
          </a:solidFill>
          <a:ln w="12700">
            <a:solidFill>
              <a:srgbClr val="4B5563"/>
            </a:solidFill>
            <a:prstDash val="solid"/>
          </a:ln>
        </p:spPr>
      </p:sp>
      <p:sp>
        <p:nvSpPr>
          <p:cNvPr id="9" name="Text 7"/>
          <p:cNvSpPr txBox="1"/>
          <p:nvPr/>
        </p:nvSpPr>
        <p:spPr>
          <a:xfrm>
            <a:off x="731520" y="2807208"/>
            <a:ext cx="3749040" cy="493776"/>
          </a:xfrm>
          <a:prstGeom prst="rect">
            <a:avLst/>
          </a:prstGeom>
          <a:noFill/>
          <a:ln/>
        </p:spPr>
        <p:txBody>
          <a:bodyPr wrap="square" lIns="0" tIns="0" rIns="0" bIns="0" rtlCol="0" anchor="ctr"/>
          <a:lstStyle/>
          <a:p>
            <a:pPr indent="0" marL="0">
              <a:buNone/>
            </a:pPr>
            <a:r>
              <a:rPr lang="en-US" sz="1300" dirty="0">
                <a:solidFill>
                  <a:srgbClr val="111827"/>
                </a:solidFill>
                <a:latin typeface="Arial" pitchFamily="34" charset="0"/>
                <a:ea typeface="Arial" pitchFamily="34" charset="-122"/>
                <a:cs typeface="Arial" pitchFamily="34" charset="-120"/>
              </a:rPr>
              <a:t>Can you say the days of the week backwards?</a:t>
            </a:r>
            <a:endParaRPr lang="en-US" sz="1300" dirty="0"/>
          </a:p>
        </p:txBody>
      </p:sp>
      <p:sp>
        <p:nvSpPr>
          <p:cNvPr id="10" name="Shape 8"/>
          <p:cNvSpPr/>
          <p:nvPr/>
        </p:nvSpPr>
        <p:spPr>
          <a:xfrm>
            <a:off x="548640" y="3410712"/>
            <a:ext cx="4023360" cy="493776"/>
          </a:xfrm>
          <a:prstGeom prst="roundRect">
            <a:avLst>
              <a:gd name="adj" fmla="val 27778"/>
            </a:avLst>
          </a:prstGeom>
          <a:solidFill>
            <a:srgbClr val="F3F4F6"/>
          </a:solidFill>
          <a:ln w="12700">
            <a:solidFill>
              <a:srgbClr val="4B5563"/>
            </a:solidFill>
            <a:prstDash val="solid"/>
          </a:ln>
        </p:spPr>
      </p:sp>
      <p:sp>
        <p:nvSpPr>
          <p:cNvPr id="11" name="Text 9"/>
          <p:cNvSpPr txBox="1"/>
          <p:nvPr/>
        </p:nvSpPr>
        <p:spPr>
          <a:xfrm>
            <a:off x="731520" y="3410712"/>
            <a:ext cx="3749040" cy="493776"/>
          </a:xfrm>
          <a:prstGeom prst="rect">
            <a:avLst/>
          </a:prstGeom>
          <a:noFill/>
          <a:ln/>
        </p:spPr>
        <p:txBody>
          <a:bodyPr wrap="square" lIns="0" tIns="0" rIns="0" bIns="0" rtlCol="0" anchor="ctr"/>
          <a:lstStyle/>
          <a:p>
            <a:pPr indent="0" marL="0">
              <a:buNone/>
            </a:pPr>
            <a:r>
              <a:rPr lang="en-US" sz="1300" dirty="0">
                <a:solidFill>
                  <a:srgbClr val="111827"/>
                </a:solidFill>
                <a:latin typeface="Arial" pitchFamily="34" charset="0"/>
                <a:ea typeface="Arial" pitchFamily="34" charset="-122"/>
                <a:cs typeface="Arial" pitchFamily="34" charset="-120"/>
              </a:rPr>
              <a:t>What have you been up to today?</a:t>
            </a:r>
            <a:endParaRPr lang="en-US" sz="1300" dirty="0"/>
          </a:p>
        </p:txBody>
      </p:sp>
      <p:sp>
        <p:nvSpPr>
          <p:cNvPr id="12" name="Text 10"/>
          <p:cNvSpPr txBox="1"/>
          <p:nvPr/>
        </p:nvSpPr>
        <p:spPr>
          <a:xfrm>
            <a:off x="548640" y="4114800"/>
            <a:ext cx="4023360" cy="457200"/>
          </a:xfrm>
          <a:prstGeom prst="rect">
            <a:avLst/>
          </a:prstGeom>
          <a:noFill/>
          <a:ln/>
        </p:spPr>
        <p:txBody>
          <a:bodyPr wrap="square" lIns="0" tIns="0" rIns="0" bIns="0" rtlCol="0" anchor="ctr"/>
          <a:lstStyle/>
          <a:p>
            <a:pPr indent="0" marL="0">
              <a:buNone/>
            </a:pPr>
            <a:r>
              <a:rPr lang="en-US" sz="1100" i="1" dirty="0">
                <a:solidFill>
                  <a:srgbClr val="4B5563"/>
                </a:solidFill>
                <a:latin typeface="Arial" pitchFamily="34" charset="0"/>
                <a:ea typeface="Arial" pitchFamily="34" charset="-122"/>
                <a:cs typeface="Arial" pitchFamily="34" charset="-120"/>
              </a:rPr>
              <a:t>The runbook refuses clinical words, instructions, and more than six questions a day.</a:t>
            </a:r>
            <a:endParaRPr lang="en-US" sz="1100" dirty="0"/>
          </a:p>
        </p:txBody>
      </p:sp>
      <p:sp>
        <p:nvSpPr>
          <p:cNvPr id="13" name="Shape 11"/>
          <p:cNvSpPr/>
          <p:nvPr/>
        </p:nvSpPr>
        <p:spPr>
          <a:xfrm>
            <a:off x="4937760" y="1005840"/>
            <a:ext cx="3657600" cy="3566160"/>
          </a:xfrm>
          <a:prstGeom prst="roundRect">
            <a:avLst>
              <a:gd name="adj" fmla="val 3846"/>
            </a:avLst>
          </a:prstGeom>
          <a:solidFill>
            <a:srgbClr val="1E40AF"/>
          </a:solidFill>
          <a:ln w="12700">
            <a:solidFill>
              <a:srgbClr val="4B5563"/>
            </a:solidFill>
            <a:prstDash val="solid"/>
          </a:ln>
        </p:spPr>
      </p:sp>
      <p:sp>
        <p:nvSpPr>
          <p:cNvPr id="14" name="Text 12"/>
          <p:cNvSpPr txBox="1"/>
          <p:nvPr/>
        </p:nvSpPr>
        <p:spPr>
          <a:xfrm>
            <a:off x="5120640" y="1143000"/>
            <a:ext cx="3291840" cy="5486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When something changes, explain the loop</a:t>
            </a:r>
            <a:endParaRPr lang="en-US" sz="1500" dirty="0"/>
          </a:p>
        </p:txBody>
      </p:sp>
      <p:sp>
        <p:nvSpPr>
          <p:cNvPr id="15" name="Text 13"/>
          <p:cNvSpPr txBox="1"/>
          <p:nvPr/>
        </p:nvSpPr>
        <p:spPr>
          <a:xfrm>
            <a:off x="5120640" y="1783080"/>
            <a:ext cx="3291840" cy="274320"/>
          </a:xfrm>
          <a:prstGeom prst="rect">
            <a:avLst/>
          </a:prstGeom>
          <a:noFill/>
          <a:ln/>
        </p:spPr>
        <p:txBody>
          <a:bodyPr wrap="square" lIns="0" tIns="0" rIns="0" bIns="0" rtlCol="0" anchor="ctr"/>
          <a:lstStyle/>
          <a:p>
            <a:pPr indent="0" marL="0">
              <a:buNone/>
            </a:pPr>
            <a:r>
              <a:rPr lang="en-US" sz="1100" b="1" dirty="0">
                <a:solidFill>
                  <a:srgbClr val="C7D2FE"/>
                </a:solidFill>
                <a:latin typeface="Arial" pitchFamily="34" charset="0"/>
                <a:ea typeface="Arial" pitchFamily="34" charset="-122"/>
                <a:cs typeface="Arial" pitchFamily="34" charset="-120"/>
              </a:rPr>
              <a:t>What changed</a:t>
            </a:r>
            <a:endParaRPr lang="en-US" sz="1100" dirty="0"/>
          </a:p>
        </p:txBody>
      </p:sp>
      <p:sp>
        <p:nvSpPr>
          <p:cNvPr id="16" name="Text 14"/>
          <p:cNvSpPr txBox="1"/>
          <p:nvPr/>
        </p:nvSpPr>
        <p:spPr>
          <a:xfrm>
            <a:off x="5120640" y="2057400"/>
            <a:ext cx="3291840" cy="45720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Her signature was slower and she paused longer.</a:t>
            </a:r>
            <a:endParaRPr lang="en-US" sz="1200" dirty="0"/>
          </a:p>
        </p:txBody>
      </p:sp>
      <p:sp>
        <p:nvSpPr>
          <p:cNvPr id="17" name="Text 15"/>
          <p:cNvSpPr txBox="1"/>
          <p:nvPr/>
        </p:nvSpPr>
        <p:spPr>
          <a:xfrm>
            <a:off x="5120640" y="2560320"/>
            <a:ext cx="3291840" cy="274320"/>
          </a:xfrm>
          <a:prstGeom prst="rect">
            <a:avLst/>
          </a:prstGeom>
          <a:noFill/>
          <a:ln/>
        </p:spPr>
        <p:txBody>
          <a:bodyPr wrap="square" lIns="0" tIns="0" rIns="0" bIns="0" rtlCol="0" anchor="ctr"/>
          <a:lstStyle/>
          <a:p>
            <a:pPr indent="0" marL="0">
              <a:buNone/>
            </a:pPr>
            <a:r>
              <a:rPr lang="en-US" sz="1100" b="1" dirty="0">
                <a:solidFill>
                  <a:srgbClr val="C7D2FE"/>
                </a:solidFill>
                <a:latin typeface="Arial" pitchFamily="34" charset="0"/>
                <a:ea typeface="Arial" pitchFamily="34" charset="-122"/>
                <a:cs typeface="Arial" pitchFamily="34" charset="-120"/>
              </a:rPr>
              <a:t>What it usually means</a:t>
            </a:r>
            <a:endParaRPr lang="en-US" sz="1100" dirty="0"/>
          </a:p>
        </p:txBody>
      </p:sp>
      <p:sp>
        <p:nvSpPr>
          <p:cNvPr id="18" name="Text 16"/>
          <p:cNvSpPr txBox="1"/>
          <p:nvPr/>
        </p:nvSpPr>
        <p:spPr>
          <a:xfrm>
            <a:off x="5120640" y="2834640"/>
            <a:ext cx="3291840" cy="45720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A change in attention can be the first sign of an infection or a new tablet.</a:t>
            </a:r>
            <a:endParaRPr lang="en-US" sz="1200" dirty="0"/>
          </a:p>
        </p:txBody>
      </p:sp>
      <p:sp>
        <p:nvSpPr>
          <p:cNvPr id="19" name="Text 17"/>
          <p:cNvSpPr txBox="1"/>
          <p:nvPr/>
        </p:nvSpPr>
        <p:spPr>
          <a:xfrm>
            <a:off x="5120640" y="3337560"/>
            <a:ext cx="3291840" cy="274320"/>
          </a:xfrm>
          <a:prstGeom prst="rect">
            <a:avLst/>
          </a:prstGeom>
          <a:noFill/>
          <a:ln/>
        </p:spPr>
        <p:txBody>
          <a:bodyPr wrap="square" lIns="0" tIns="0" rIns="0" bIns="0" rtlCol="0" anchor="ctr"/>
          <a:lstStyle/>
          <a:p>
            <a:pPr indent="0" marL="0">
              <a:buNone/>
            </a:pPr>
            <a:r>
              <a:rPr lang="en-US" sz="1100" b="1" dirty="0">
                <a:solidFill>
                  <a:srgbClr val="C7D2FE"/>
                </a:solidFill>
                <a:latin typeface="Arial" pitchFamily="34" charset="0"/>
                <a:ea typeface="Arial" pitchFamily="34" charset="-122"/>
                <a:cs typeface="Arial" pitchFamily="34" charset="-120"/>
              </a:rPr>
              <a:t>Who to call</a:t>
            </a:r>
            <a:endParaRPr lang="en-US" sz="1100" dirty="0"/>
          </a:p>
        </p:txBody>
      </p:sp>
      <p:sp>
        <p:nvSpPr>
          <p:cNvPr id="20" name="Text 18"/>
          <p:cNvSpPr txBox="1"/>
          <p:nvPr/>
        </p:nvSpPr>
        <p:spPr>
          <a:xfrm>
            <a:off x="5120640" y="3611880"/>
            <a:ext cx="3291840" cy="45720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The care line today. Not 911.</a:t>
            </a:r>
            <a:endParaRPr lang="en-US" sz="1200" dirty="0"/>
          </a:p>
        </p:txBody>
      </p:sp>
      <p:sp>
        <p:nvSpPr>
          <p:cNvPr id="21" name="Text 19"/>
          <p:cNvSpPr txBox="1"/>
          <p:nvPr/>
        </p:nvSpPr>
        <p:spPr>
          <a:xfrm>
            <a:off x="5120640" y="4114800"/>
            <a:ext cx="3291840" cy="411480"/>
          </a:xfrm>
          <a:prstGeom prst="rect">
            <a:avLst/>
          </a:prstGeom>
          <a:noFill/>
          <a:ln/>
        </p:spPr>
        <p:txBody>
          <a:bodyPr wrap="square" lIns="0" tIns="0" rIns="0" bIns="0" rtlCol="0" anchor="ctr"/>
          <a:lstStyle/>
          <a:p>
            <a:pPr indent="0" marL="0">
              <a:buNone/>
            </a:pPr>
            <a:r>
              <a:rPr lang="en-US" sz="950" i="1" dirty="0">
                <a:solidFill>
                  <a:srgbClr val="C7D2FE"/>
                </a:solidFill>
                <a:latin typeface="Arial" pitchFamily="34" charset="0"/>
                <a:ea typeface="Arial" pitchFamily="34" charset="-122"/>
                <a:cs typeface="Arial" pitchFamily="34" charset="-120"/>
              </a:rPr>
              <a:t>Designed, not yet built. Decision support, never a diagnosis; a human on every flag.</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6400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What’s next</a:t>
            </a:r>
            <a:endParaRPr lang="en-US" sz="3600" dirty="0"/>
          </a:p>
        </p:txBody>
      </p:sp>
      <p:sp>
        <p:nvSpPr>
          <p:cNvPr id="3" name="Shape 1"/>
          <p:cNvSpPr/>
          <p:nvPr/>
        </p:nvSpPr>
        <p:spPr>
          <a:xfrm>
            <a:off x="548640" y="1325880"/>
            <a:ext cx="502920" cy="502920"/>
          </a:xfrm>
          <a:prstGeom prst="roundRect">
            <a:avLst>
              <a:gd name="adj" fmla="val 50909"/>
            </a:avLst>
          </a:prstGeom>
          <a:solidFill>
            <a:srgbClr val="1E40AF"/>
          </a:solidFill>
          <a:ln w="12700">
            <a:solidFill>
              <a:srgbClr val="4B5563"/>
            </a:solidFill>
            <a:prstDash val="solid"/>
          </a:ln>
        </p:spPr>
      </p:sp>
      <p:sp>
        <p:nvSpPr>
          <p:cNvPr id="4" name="Text 2"/>
          <p:cNvSpPr txBox="1"/>
          <p:nvPr/>
        </p:nvSpPr>
        <p:spPr>
          <a:xfrm>
            <a:off x="548640" y="13258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5" name="Text 3"/>
          <p:cNvSpPr txBox="1"/>
          <p:nvPr/>
        </p:nvSpPr>
        <p:spPr>
          <a:xfrm>
            <a:off x="1234440" y="1307592"/>
            <a:ext cx="438912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Data leaves the phone</a:t>
            </a:r>
            <a:endParaRPr lang="en-US" sz="1600" dirty="0"/>
          </a:p>
        </p:txBody>
      </p:sp>
      <p:sp>
        <p:nvSpPr>
          <p:cNvPr id="6" name="Text 4"/>
          <p:cNvSpPr txBox="1"/>
          <p:nvPr/>
        </p:nvSpPr>
        <p:spPr>
          <a:xfrm>
            <a:off x="1234440" y="1627632"/>
            <a:ext cx="4389120" cy="457200"/>
          </a:xfrm>
          <a:prstGeom prst="rect">
            <a:avLst/>
          </a:prstGeom>
          <a:noFill/>
          <a:ln/>
        </p:spPr>
        <p:txBody>
          <a:bodyPr wrap="square" lIns="0" tIns="0" rIns="0" bIns="0" rtlCol="0" anchor="ctr"/>
          <a:lstStyle/>
          <a:p>
            <a:pPr indent="0" marL="0">
              <a:buNone/>
            </a:pPr>
            <a:r>
              <a:rPr lang="en-US" sz="1200" dirty="0">
                <a:solidFill>
                  <a:srgbClr val="C7D2FE"/>
                </a:solidFill>
                <a:latin typeface="Arial" pitchFamily="34" charset="0"/>
                <a:ea typeface="Arial" pitchFamily="34" charset="-122"/>
                <a:cs typeface="Arial" pitchFamily="34" charset="-120"/>
              </a:rPr>
              <a:t>One process, one file: events, baselines, a family link.</a:t>
            </a:r>
            <a:endParaRPr lang="en-US" sz="1200" dirty="0"/>
          </a:p>
        </p:txBody>
      </p:sp>
      <p:sp>
        <p:nvSpPr>
          <p:cNvPr id="7" name="Shape 5"/>
          <p:cNvSpPr/>
          <p:nvPr/>
        </p:nvSpPr>
        <p:spPr>
          <a:xfrm>
            <a:off x="548640" y="2240280"/>
            <a:ext cx="502920" cy="502920"/>
          </a:xfrm>
          <a:prstGeom prst="roundRect">
            <a:avLst>
              <a:gd name="adj" fmla="val 50909"/>
            </a:avLst>
          </a:prstGeom>
          <a:solidFill>
            <a:srgbClr val="1E40AF"/>
          </a:solidFill>
          <a:ln w="12700">
            <a:solidFill>
              <a:srgbClr val="4B5563"/>
            </a:solidFill>
            <a:prstDash val="solid"/>
          </a:ln>
        </p:spPr>
      </p:sp>
      <p:sp>
        <p:nvSpPr>
          <p:cNvPr id="8" name="Text 6"/>
          <p:cNvSpPr txBox="1"/>
          <p:nvPr/>
        </p:nvSpPr>
        <p:spPr>
          <a:xfrm>
            <a:off x="548640" y="22402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9" name="Text 7"/>
          <p:cNvSpPr txBox="1"/>
          <p:nvPr/>
        </p:nvSpPr>
        <p:spPr>
          <a:xfrm>
            <a:off x="1234440" y="2221992"/>
            <a:ext cx="438912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Three real people, three days</a:t>
            </a:r>
            <a:endParaRPr lang="en-US" sz="1600" dirty="0"/>
          </a:p>
        </p:txBody>
      </p:sp>
      <p:sp>
        <p:nvSpPr>
          <p:cNvPr id="10" name="Text 8"/>
          <p:cNvSpPr txBox="1"/>
          <p:nvPr/>
        </p:nvSpPr>
        <p:spPr>
          <a:xfrm>
            <a:off x="1234440" y="2542032"/>
            <a:ext cx="4389120" cy="457200"/>
          </a:xfrm>
          <a:prstGeom prst="rect">
            <a:avLst/>
          </a:prstGeom>
          <a:noFill/>
          <a:ln/>
        </p:spPr>
        <p:txBody>
          <a:bodyPr wrap="square" lIns="0" tIns="0" rIns="0" bIns="0" rtlCol="0" anchor="ctr"/>
          <a:lstStyle/>
          <a:p>
            <a:pPr indent="0" marL="0">
              <a:buNone/>
            </a:pPr>
            <a:r>
              <a:rPr lang="en-US" sz="1200" dirty="0">
                <a:solidFill>
                  <a:srgbClr val="C7D2FE"/>
                </a:solidFill>
                <a:latin typeface="Arial" pitchFamily="34" charset="0"/>
                <a:ea typeface="Arial" pitchFamily="34" charset="-122"/>
                <a:cs typeface="Arial" pitchFamily="34" charset="-120"/>
              </a:rPr>
              <a:t>Does a finger signature hold a baseline? Does a live doodle beat a check-in?</a:t>
            </a:r>
            <a:endParaRPr lang="en-US" sz="1200" dirty="0"/>
          </a:p>
        </p:txBody>
      </p:sp>
      <p:sp>
        <p:nvSpPr>
          <p:cNvPr id="11" name="Shape 9"/>
          <p:cNvSpPr/>
          <p:nvPr/>
        </p:nvSpPr>
        <p:spPr>
          <a:xfrm>
            <a:off x="548640" y="3154680"/>
            <a:ext cx="502920" cy="502920"/>
          </a:xfrm>
          <a:prstGeom prst="roundRect">
            <a:avLst>
              <a:gd name="adj" fmla="val 50909"/>
            </a:avLst>
          </a:prstGeom>
          <a:solidFill>
            <a:srgbClr val="1E40AF"/>
          </a:solidFill>
          <a:ln w="12700">
            <a:solidFill>
              <a:srgbClr val="4B5563"/>
            </a:solidFill>
            <a:prstDash val="solid"/>
          </a:ln>
        </p:spPr>
      </p:sp>
      <p:sp>
        <p:nvSpPr>
          <p:cNvPr id="12" name="Text 10"/>
          <p:cNvSpPr txBox="1"/>
          <p:nvPr/>
        </p:nvSpPr>
        <p:spPr>
          <a:xfrm>
            <a:off x="548640" y="31546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3" name="Text 11"/>
          <p:cNvSpPr txBox="1"/>
          <p:nvPr/>
        </p:nvSpPr>
        <p:spPr>
          <a:xfrm>
            <a:off x="1234440" y="3136392"/>
            <a:ext cx="438912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The explanation layer</a:t>
            </a:r>
            <a:endParaRPr lang="en-US" sz="1600" dirty="0"/>
          </a:p>
        </p:txBody>
      </p:sp>
      <p:sp>
        <p:nvSpPr>
          <p:cNvPr id="14" name="Text 12"/>
          <p:cNvSpPr txBox="1"/>
          <p:nvPr/>
        </p:nvSpPr>
        <p:spPr>
          <a:xfrm>
            <a:off x="1234440" y="3456432"/>
            <a:ext cx="4389120" cy="457200"/>
          </a:xfrm>
          <a:prstGeom prst="rect">
            <a:avLst/>
          </a:prstGeom>
          <a:noFill/>
          <a:ln/>
        </p:spPr>
        <p:txBody>
          <a:bodyPr wrap="square" lIns="0" tIns="0" rIns="0" bIns="0" rtlCol="0" anchor="ctr"/>
          <a:lstStyle/>
          <a:p>
            <a:pPr indent="0" marL="0">
              <a:buNone/>
            </a:pPr>
            <a:r>
              <a:rPr lang="en-US" sz="1200" dirty="0">
                <a:solidFill>
                  <a:srgbClr val="C7D2FE"/>
                </a:solidFill>
                <a:latin typeface="Arial" pitchFamily="34" charset="0"/>
                <a:ea typeface="Arial" pitchFamily="34" charset="-122"/>
                <a:cs typeface="Arial" pitchFamily="34" charset="-120"/>
              </a:rPr>
              <a:t>A flag opens what changed, what it means, who to call.</a:t>
            </a:r>
            <a:endParaRPr lang="en-US" sz="1200" dirty="0"/>
          </a:p>
        </p:txBody>
      </p:sp>
      <p:sp>
        <p:nvSpPr>
          <p:cNvPr id="15" name="Text 13"/>
          <p:cNvSpPr txBox="1"/>
          <p:nvPr/>
        </p:nvSpPr>
        <p:spPr>
          <a:xfrm>
            <a:off x="548640" y="4114800"/>
            <a:ext cx="5303520" cy="731520"/>
          </a:xfrm>
          <a:prstGeom prst="rect">
            <a:avLst/>
          </a:prstGeom>
          <a:noFill/>
          <a:ln/>
        </p:spPr>
        <p:txBody>
          <a:bodyPr wrap="square" lIns="0" tIns="0" rIns="0" bIns="0" rtlCol="0" anchor="ctr"/>
          <a:lstStyle/>
          <a:p>
            <a:pPr indent="0" marL="0">
              <a:buNone/>
            </a:pPr>
            <a:r>
              <a:rPr lang="en-US" sz="1100" dirty="0">
                <a:solidFill>
                  <a:srgbClr val="9CA3AF"/>
                </a:solidFill>
                <a:latin typeface="Arial" pitchFamily="34" charset="0"/>
                <a:ea typeface="Arial" pitchFamily="34" charset="-122"/>
                <a:cs typeface="Arial" pitchFamily="34" charset="-120"/>
              </a:rPr>
              <a:t>How it was built: nine design docs, a component kit that bakes in the 80+ criteria, a critic that audits every screen, and Claude for the research, for reading replies, and for the code.</a:t>
            </a:r>
            <a:endParaRPr lang="en-US" sz="1100" dirty="0"/>
          </a:p>
        </p:txBody>
      </p:sp>
      <p:pic>
        <p:nvPicPr>
          <p:cNvPr id="16" name="Image 0" descr="../shots/doodle-half-a-house-white.png">    </p:cNvPr>
          <p:cNvPicPr>
            <a:picLocks noChangeAspect="1"/>
          </p:cNvPicPr>
          <p:nvPr/>
        </p:nvPicPr>
        <p:blipFill>
          <a:blip r:embed="rId1"/>
          <a:stretch>
            <a:fillRect/>
          </a:stretch>
        </p:blipFill>
        <p:spPr>
          <a:xfrm>
            <a:off x="6035040" y="457200"/>
            <a:ext cx="1463040" cy="1463040"/>
          </a:xfrm>
          <a:prstGeom prst="rect">
            <a:avLst/>
          </a:prstGeom>
        </p:spPr>
      </p:pic>
      <p:pic>
        <p:nvPicPr>
          <p:cNvPr id="17" name="Image 1" descr="../shots/doodle-cat-with-no-face-white.png">    </p:cNvPr>
          <p:cNvPicPr>
            <a:picLocks noChangeAspect="1"/>
          </p:cNvPicPr>
          <p:nvPr/>
        </p:nvPicPr>
        <p:blipFill>
          <a:blip r:embed="rId2"/>
          <a:stretch>
            <a:fillRect/>
          </a:stretch>
        </p:blipFill>
        <p:spPr>
          <a:xfrm>
            <a:off x="7315200" y="1554480"/>
            <a:ext cx="1463040" cy="1463040"/>
          </a:xfrm>
          <a:prstGeom prst="rect">
            <a:avLst/>
          </a:prstGeom>
        </p:spPr>
      </p:pic>
      <p:pic>
        <p:nvPicPr>
          <p:cNvPr id="18" name="Image 2" descr="../shots/doodle-flower-with-no-petals-white.png">    </p:cNvPr>
          <p:cNvPicPr>
            <a:picLocks noChangeAspect="1"/>
          </p:cNvPicPr>
          <p:nvPr/>
        </p:nvPicPr>
        <p:blipFill>
          <a:blip r:embed="rId3"/>
          <a:stretch>
            <a:fillRect/>
          </a:stretch>
        </p:blipFill>
        <p:spPr>
          <a:xfrm>
            <a:off x="6035040" y="2651760"/>
            <a:ext cx="1463040" cy="1463040"/>
          </a:xfrm>
          <a:prstGeom prst="rect">
            <a:avLst/>
          </a:prstGeom>
        </p:spPr>
      </p:pic>
      <p:sp>
        <p:nvSpPr>
          <p:cNvPr id="19" name="Text 14"/>
          <p:cNvSpPr txBox="1"/>
          <p:nvPr/>
        </p:nvSpPr>
        <p:spPr>
          <a:xfrm>
            <a:off x="6035040" y="4343400"/>
            <a:ext cx="2743200" cy="365760"/>
          </a:xfrm>
          <a:prstGeom prst="rect">
            <a:avLst/>
          </a:prstGeom>
          <a:noFill/>
          <a:ln/>
        </p:spPr>
        <p:txBody>
          <a:bodyPr wrap="square" lIns="0" tIns="0" rIns="0" bIns="0" rtlCol="0" anchor="ctr"/>
          <a:lstStyle/>
          <a:p>
            <a:pPr indent="0" marL="0">
              <a:buNone/>
            </a:pPr>
            <a:r>
              <a:rPr lang="en-US" sz="1000" i="1" dirty="0">
                <a:solidFill>
                  <a:srgbClr val="9CA3AF"/>
                </a:solidFill>
                <a:latin typeface="Arial" pitchFamily="34" charset="0"/>
                <a:ea typeface="Arial" pitchFamily="34" charset="-122"/>
                <a:cs typeface="Arial" pitchFamily="34" charset="-120"/>
              </a:rPr>
              <a:t>Synthetic people only. Not a medical device.</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ernie: a daily visit</dc:title>
  <dc:subject>PptxGenJS Presentation</dc:subject>
  <dc:creator>Christopher Pluntke</dc:creator>
  <cp:lastModifiedBy>Christopher Pluntke</cp:lastModifiedBy>
  <cp:revision>1</cp:revision>
  <dcterms:created xsi:type="dcterms:W3CDTF">2026-09-17T04:03:52Z</dcterms:created>
  <dcterms:modified xsi:type="dcterms:W3CDTF">2026-09-17T04:03:52Z</dcterms:modified>
</cp:coreProperties>
</file>