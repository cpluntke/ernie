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One line. "This is ernie, a daily visit for someone like Margaret. Five minutes: who she is, what is missing in her care, what we built, why delirium, and what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Margaret is a person, not a use case. Hypoactive delirium is withdrawal; the first anyone knows is the ER. It is missed in 60 to 75 percent of hospital cases, and nothing at home looks for it at all. The cause is usually cheap to fix if you catch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Value-based care moved the risk to providers: readmission penalties, 36 billion a year in readmissions, delirium and heart failure at the top of the list. The outcome is decided at home, between visits, and nobody is there. So the product is a daily visit. Sources: HCUP 2020, CMS HRRP, artifact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to 3:00. Play the 75-second clip, or click through. Narrate: she signs in (motor baseline, orientation); she answers a nurse's questions in her own words (a model reads what she meant, never advises); she does a puzzle and her granddaughter joins (attention, visuospatial, and the social pull); goodbye. Nothing on her screen is a score. Then switch to the next slide: what the phone 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This is the backend view from the same visit, real numbers. Her signature today took 4.1 seconds against a usual 3.1, and she paused four times longer between strokes. Nine features, robust z against her own five-day baseline. She never sees this; the family gets one plain sentence, the clinic gets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3:45. CAM, 4AT, UB-2: all measure attention, orientation, disorganised thinking and arousal, once a shift at best, in hospital. The fifth feature, fluctuation, needs the same measure every day, at home, against the person's own normal. That is the white space. And 40 percent of delirium is preventable with cheap responses, so a flag is worth having.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 Two shipped scripts, delirium watch and heart failure watch. The rails matter: the nurse owns the wording, the model only reads answers, and nothing is ever told to Margaret about a score. The explanation layer, on the right, is the design: what changed, what it usually means, who to call before the ER. Say clearly it is not built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 Three next steps, then the honesty line: synthetic data, decision support, a human on every flag. Close on Margaret: the point is that someone notices on the day it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40AF"/>
        </a:solidFill>
      </p:bgPr>
    </p:bg>
    <p:spTree>
      <p:nvGrpSpPr>
        <p:cNvPr id="1" name=""/>
        <p:cNvGrpSpPr/>
        <p:nvPr/>
      </p:nvGrpSpPr>
      <p:grpSpPr>
        <a:xfrm>
          <a:off x="0" y="0"/>
          <a:ext cx="0" cy="0"/>
          <a:chOff x="0" y="0"/>
          <a:chExt cx="0" cy="0"/>
        </a:xfrm>
      </p:grpSpPr>
      <p:pic>
        <p:nvPicPr>
          <p:cNvPr id="2" name="Image 0" descr="../shots/doodle-half-a-house-white.png">    </p:cNvPr>
          <p:cNvPicPr>
            <a:picLocks noChangeAspect="1"/>
          </p:cNvPicPr>
          <p:nvPr/>
        </p:nvPicPr>
        <p:blipFill>
          <a:blip r:embed="rId1"/>
          <a:stretch>
            <a:fillRect/>
          </a:stretch>
        </p:blipFill>
        <p:spPr>
          <a:xfrm>
            <a:off x="5577840" y="457200"/>
            <a:ext cx="1828800" cy="1828800"/>
          </a:xfrm>
          <a:prstGeom prst="rect">
            <a:avLst/>
          </a:prstGeom>
        </p:spPr>
      </p:pic>
      <p:pic>
        <p:nvPicPr>
          <p:cNvPr id="3" name="Image 1" descr="../shots/doodle-cat-with-no-face-white.png">    </p:cNvPr>
          <p:cNvPicPr>
            <a:picLocks noChangeAspect="1"/>
          </p:cNvPicPr>
          <p:nvPr/>
        </p:nvPicPr>
        <p:blipFill>
          <a:blip r:embed="rId2"/>
          <a:stretch>
            <a:fillRect/>
          </a:stretch>
        </p:blipFill>
        <p:spPr>
          <a:xfrm>
            <a:off x="7040880" y="1737360"/>
            <a:ext cx="1828800" cy="1828800"/>
          </a:xfrm>
          <a:prstGeom prst="rect">
            <a:avLst/>
          </a:prstGeom>
        </p:spPr>
      </p:pic>
      <p:pic>
        <p:nvPicPr>
          <p:cNvPr id="4" name="Image 2" descr="../shots/doodle-flower-with-no-petals-white.png">    </p:cNvPr>
          <p:cNvPicPr>
            <a:picLocks noChangeAspect="1"/>
          </p:cNvPicPr>
          <p:nvPr/>
        </p:nvPicPr>
        <p:blipFill>
          <a:blip r:embed="rId3"/>
          <a:stretch>
            <a:fillRect/>
          </a:stretch>
        </p:blipFill>
        <p:spPr>
          <a:xfrm>
            <a:off x="5486400" y="2834640"/>
            <a:ext cx="1828800" cy="1828800"/>
          </a:xfrm>
          <a:prstGeom prst="rect">
            <a:avLst/>
          </a:prstGeom>
        </p:spPr>
      </p:pic>
      <p:sp>
        <p:nvSpPr>
          <p:cNvPr id="5" name="Text 0"/>
          <p:cNvSpPr txBox="1"/>
          <p:nvPr/>
        </p:nvSpPr>
        <p:spPr>
          <a:xfrm>
            <a:off x="548640" y="1188720"/>
            <a:ext cx="4937760" cy="91440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ernie</a:t>
            </a:r>
            <a:endParaRPr lang="en-US" sz="6000" dirty="0"/>
          </a:p>
        </p:txBody>
      </p:sp>
      <p:sp>
        <p:nvSpPr>
          <p:cNvPr id="6" name="Text 1"/>
          <p:cNvSpPr txBox="1"/>
          <p:nvPr/>
        </p:nvSpPr>
        <p:spPr>
          <a:xfrm>
            <a:off x="548640" y="2148840"/>
            <a:ext cx="4754880" cy="1280160"/>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A daily visit that notices a bad day at home before it becomes a hospital day.</a:t>
            </a:r>
            <a:endParaRPr lang="en-US" sz="2200" dirty="0"/>
          </a:p>
        </p:txBody>
      </p:sp>
      <p:sp>
        <p:nvSpPr>
          <p:cNvPr id="7" name="Text 2"/>
          <p:cNvSpPr txBox="1"/>
          <p:nvPr/>
        </p:nvSpPr>
        <p:spPr>
          <a:xfrm>
            <a:off x="548640" y="4206240"/>
            <a:ext cx="4937760" cy="365760"/>
          </a:xfrm>
          <a:prstGeom prst="rect">
            <a:avLst/>
          </a:prstGeom>
          <a:noFill/>
          <a:ln/>
        </p:spPr>
        <p:txBody>
          <a:bodyPr wrap="square" lIns="0" tIns="0" rIns="0" bIns="0" rtlCol="0" anchor="ctr"/>
          <a:lstStyle/>
          <a:p>
            <a:pPr indent="0" marL="0">
              <a:buNone/>
            </a:pPr>
            <a:r>
              <a:rPr lang="en-US" sz="1300" dirty="0">
                <a:solidFill>
                  <a:srgbClr val="C7D2FE"/>
                </a:solidFill>
                <a:latin typeface="Arial" pitchFamily="34" charset="0"/>
                <a:ea typeface="Arial" pitchFamily="34" charset="-122"/>
                <a:cs typeface="Arial" pitchFamily="34" charset="-120"/>
              </a:rPr>
              <a:t>Christopher Pluntke  ·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120640" cy="640080"/>
          </a:xfrm>
          <a:prstGeom prst="rect">
            <a:avLst/>
          </a:prstGeom>
          <a:noFill/>
          <a:ln/>
        </p:spPr>
        <p:txBody>
          <a:bodyPr wrap="square" lIns="0" tIns="0" rIns="0" bIns="0" rtlCol="0" anchor="ctr"/>
          <a:lstStyle/>
          <a:p>
            <a:pPr indent="0" marL="0">
              <a:buNone/>
            </a:pPr>
            <a:r>
              <a:rPr lang="en-US" sz="4000" b="1" dirty="0">
                <a:solidFill>
                  <a:srgbClr val="111827"/>
                </a:solidFill>
                <a:latin typeface="Arial" pitchFamily="34" charset="0"/>
                <a:ea typeface="Arial" pitchFamily="34" charset="-122"/>
                <a:cs typeface="Arial" pitchFamily="34" charset="-120"/>
              </a:rPr>
              <a:t>Margaret is 84.</a:t>
            </a:r>
            <a:endParaRPr lang="en-US" sz="4000" dirty="0"/>
          </a:p>
        </p:txBody>
      </p:sp>
      <p:sp>
        <p:nvSpPr>
          <p:cNvPr id="3" name="Text 1"/>
          <p:cNvSpPr txBox="1"/>
          <p:nvPr/>
        </p:nvSpPr>
        <p:spPr>
          <a:xfrm>
            <a:off x="548640" y="1188720"/>
            <a:ext cx="4937760" cy="1097280"/>
          </a:xfrm>
          <a:prstGeom prst="rect">
            <a:avLst/>
          </a:prstGeom>
          <a:noFill/>
          <a:ln/>
        </p:spPr>
        <p:txBody>
          <a:bodyPr wrap="square" lIns="0" tIns="0" rIns="0" bIns="0" rtlCol="0" anchor="ctr"/>
          <a:lstStyle/>
          <a:p>
            <a:pPr indent="0" marL="0">
              <a:buNone/>
            </a:pPr>
            <a:r>
              <a:rPr lang="en-US" sz="2400" dirty="0">
                <a:solidFill>
                  <a:srgbClr val="111827"/>
                </a:solidFill>
                <a:latin typeface="Arial" pitchFamily="34" charset="0"/>
                <a:ea typeface="Arial" pitchFamily="34" charset="-122"/>
                <a:cs typeface="Arial" pitchFamily="34" charset="-120"/>
              </a:rPr>
              <a:t>Every morning she signs Ernie’s book. This morning she didn’t.</a:t>
            </a:r>
            <a:endParaRPr lang="en-US" sz="2400" dirty="0"/>
          </a:p>
        </p:txBody>
      </p:sp>
      <p:sp>
        <p:nvSpPr>
          <p:cNvPr id="4" name="Text 2"/>
          <p:cNvSpPr txBox="1"/>
          <p:nvPr/>
        </p:nvSpPr>
        <p:spPr>
          <a:xfrm>
            <a:off x="548640" y="2331720"/>
            <a:ext cx="4937760" cy="1280160"/>
          </a:xfrm>
          <a:prstGeom prst="rect">
            <a:avLst/>
          </a:prstGeom>
          <a:noFill/>
          <a:ln/>
        </p:spPr>
        <p:txBody>
          <a:bodyPr wrap="square" lIns="0" tIns="0" rIns="0" bIns="0" rtlCol="0" anchor="ctr"/>
          <a:lstStyle/>
          <a:p>
            <a:pPr indent="0" marL="0">
              <a:buNone/>
            </a:pPr>
            <a:r>
              <a:rPr lang="en-US" sz="1500" dirty="0">
                <a:solidFill>
                  <a:srgbClr val="4B5563"/>
                </a:solidFill>
                <a:latin typeface="Arial" pitchFamily="34" charset="0"/>
                <a:ea typeface="Arial" pitchFamily="34" charset="-122"/>
                <a:cs typeface="Arial" pitchFamily="34" charset="-120"/>
              </a:rPr>
              <a:t>Hypoactive delirium, the most common kind, looks like nothing at all: quieter, slower, a little withdrawn. It has a cause you can treat in a day: an infection, dehydration, a new tablet.</a:t>
            </a:r>
            <a:endParaRPr lang="en-US" sz="1500" dirty="0"/>
          </a:p>
        </p:txBody>
      </p:sp>
      <p:sp>
        <p:nvSpPr>
          <p:cNvPr id="5" name="Shape 3"/>
          <p:cNvSpPr/>
          <p:nvPr/>
        </p:nvSpPr>
        <p:spPr>
          <a:xfrm>
            <a:off x="548640" y="3703320"/>
            <a:ext cx="2286000" cy="960120"/>
          </a:xfrm>
          <a:prstGeom prst="roundRect">
            <a:avLst>
              <a:gd name="adj" fmla="val 14286"/>
            </a:avLst>
          </a:prstGeom>
          <a:solidFill>
            <a:srgbClr val="DBEAFE"/>
          </a:solidFill>
          <a:ln w="12700">
            <a:solidFill>
              <a:srgbClr val="4B5563"/>
            </a:solidFill>
            <a:prstDash val="solid"/>
          </a:ln>
        </p:spPr>
      </p:sp>
      <p:sp>
        <p:nvSpPr>
          <p:cNvPr id="6" name="Text 4"/>
          <p:cNvSpPr txBox="1"/>
          <p:nvPr/>
        </p:nvSpPr>
        <p:spPr>
          <a:xfrm>
            <a:off x="685800" y="3749040"/>
            <a:ext cx="2103120" cy="502920"/>
          </a:xfrm>
          <a:prstGeom prst="rect">
            <a:avLst/>
          </a:prstGeom>
          <a:noFill/>
          <a:ln/>
        </p:spPr>
        <p:txBody>
          <a:bodyPr wrap="square" lIns="0" tIns="0" rIns="0" bIns="0" rtlCol="0" anchor="ctr"/>
          <a:lstStyle/>
          <a:p>
            <a:pPr indent="0" marL="0">
              <a:buNone/>
            </a:pPr>
            <a:r>
              <a:rPr lang="en-US" sz="3000" b="1" dirty="0">
                <a:solidFill>
                  <a:srgbClr val="1E40AF"/>
                </a:solidFill>
                <a:latin typeface="Arial" pitchFamily="34" charset="0"/>
                <a:ea typeface="Arial" pitchFamily="34" charset="-122"/>
                <a:cs typeface="Arial" pitchFamily="34" charset="-120"/>
              </a:rPr>
              <a:t>60–75%</a:t>
            </a:r>
            <a:endParaRPr lang="en-US" sz="3000" dirty="0"/>
          </a:p>
        </p:txBody>
      </p:sp>
      <p:sp>
        <p:nvSpPr>
          <p:cNvPr id="7" name="Text 5"/>
          <p:cNvSpPr txBox="1"/>
          <p:nvPr/>
        </p:nvSpPr>
        <p:spPr>
          <a:xfrm>
            <a:off x="685800" y="4251960"/>
            <a:ext cx="2103120" cy="32004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missed, even in hospital</a:t>
            </a:r>
            <a:endParaRPr lang="en-US" sz="1100" dirty="0"/>
          </a:p>
        </p:txBody>
      </p:sp>
      <p:sp>
        <p:nvSpPr>
          <p:cNvPr id="8" name="Shape 6"/>
          <p:cNvSpPr/>
          <p:nvPr/>
        </p:nvSpPr>
        <p:spPr>
          <a:xfrm>
            <a:off x="3017520" y="3703320"/>
            <a:ext cx="2468880" cy="960120"/>
          </a:xfrm>
          <a:prstGeom prst="roundRect">
            <a:avLst>
              <a:gd name="adj" fmla="val 14286"/>
            </a:avLst>
          </a:prstGeom>
          <a:solidFill>
            <a:srgbClr val="DBEAFE"/>
          </a:solidFill>
          <a:ln w="12700">
            <a:solidFill>
              <a:srgbClr val="4B5563"/>
            </a:solidFill>
            <a:prstDash val="solid"/>
          </a:ln>
        </p:spPr>
      </p:sp>
      <p:sp>
        <p:nvSpPr>
          <p:cNvPr id="9" name="Text 7"/>
          <p:cNvSpPr txBox="1"/>
          <p:nvPr/>
        </p:nvSpPr>
        <p:spPr>
          <a:xfrm>
            <a:off x="3154680" y="3749040"/>
            <a:ext cx="2286000" cy="502920"/>
          </a:xfrm>
          <a:prstGeom prst="rect">
            <a:avLst/>
          </a:prstGeom>
          <a:noFill/>
          <a:ln/>
        </p:spPr>
        <p:txBody>
          <a:bodyPr wrap="square" lIns="0" tIns="0" rIns="0" bIns="0" rtlCol="0" anchor="ctr"/>
          <a:lstStyle/>
          <a:p>
            <a:pPr indent="0" marL="0">
              <a:buNone/>
            </a:pPr>
            <a:r>
              <a:rPr lang="en-US" sz="3000" b="1" dirty="0">
                <a:solidFill>
                  <a:srgbClr val="1E40AF"/>
                </a:solidFill>
                <a:latin typeface="Arial" pitchFamily="34" charset="0"/>
                <a:ea typeface="Arial" pitchFamily="34" charset="-122"/>
                <a:cs typeface="Arial" pitchFamily="34" charset="-120"/>
              </a:rPr>
              <a:t>0%</a:t>
            </a:r>
            <a:endParaRPr lang="en-US" sz="3000" dirty="0"/>
          </a:p>
        </p:txBody>
      </p:sp>
      <p:sp>
        <p:nvSpPr>
          <p:cNvPr id="10" name="Text 8"/>
          <p:cNvSpPr txBox="1"/>
          <p:nvPr/>
        </p:nvSpPr>
        <p:spPr>
          <a:xfrm>
            <a:off x="3154680" y="4251960"/>
            <a:ext cx="2286000" cy="32004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noticed at home, where it starts</a:t>
            </a:r>
            <a:endParaRPr lang="en-US" sz="1100" dirty="0"/>
          </a:p>
        </p:txBody>
      </p:sp>
      <p:sp>
        <p:nvSpPr>
          <p:cNvPr id="11" name="Shape 9"/>
          <p:cNvSpPr/>
          <p:nvPr/>
        </p:nvSpPr>
        <p:spPr>
          <a:xfrm>
            <a:off x="6437376" y="402336"/>
            <a:ext cx="2152609" cy="4315968"/>
          </a:xfrm>
          <a:prstGeom prst="roundRect">
            <a:avLst>
              <a:gd name="adj" fmla="val 9345"/>
            </a:avLst>
          </a:prstGeom>
          <a:solidFill>
            <a:srgbClr val="111827"/>
          </a:solidFill>
          <a:ln w="12700">
            <a:solidFill>
              <a:srgbClr val="4B5563"/>
            </a:solidFill>
            <a:prstDash val="solid"/>
          </a:ln>
        </p:spPr>
      </p:sp>
      <p:pic>
        <p:nvPicPr>
          <p:cNvPr id="12" name="Image 0" descr="../shots/03-book-page-c.png">    </p:cNvPr>
          <p:cNvPicPr>
            <a:picLocks noChangeAspect="1"/>
          </p:cNvPicPr>
          <p:nvPr/>
        </p:nvPicPr>
        <p:blipFill>
          <a:blip r:embed="rId1"/>
          <a:stretch>
            <a:fillRect/>
          </a:stretch>
        </p:blipFill>
        <p:spPr>
          <a:xfrm>
            <a:off x="6492240" y="457200"/>
            <a:ext cx="2042881" cy="4206240"/>
          </a:xfrm>
          <a:prstGeom prst="rect">
            <a:avLst/>
          </a:prstGeom>
        </p:spPr>
      </p:pic>
      <p:pic>
        <p:nvPicPr>
          <p:cNvPr id="13" name="Image 1" descr="../shots/doodle-cat-with-no-face-blue.png">    </p:cNvPr>
          <p:cNvPicPr>
            <a:picLocks noChangeAspect="1"/>
          </p:cNvPicPr>
          <p:nvPr/>
        </p:nvPicPr>
        <p:blipFill>
          <a:blip r:embed="rId2"/>
          <a:stretch>
            <a:fillRect/>
          </a:stretch>
        </p:blipFill>
        <p:spPr>
          <a:xfrm>
            <a:off x="5349240" y="3611880"/>
            <a:ext cx="1005840" cy="10058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040880" cy="640080"/>
          </a:xfrm>
          <a:prstGeom prst="rect">
            <a:avLst/>
          </a:prstGeom>
          <a:noFill/>
          <a:ln/>
        </p:spPr>
        <p:txBody>
          <a:bodyPr wrap="square" lIns="0" tIns="0" rIns="0" bIns="0" rtlCol="0" anchor="ctr"/>
          <a:lstStyle/>
          <a:p>
            <a:pPr indent="0" marL="0">
              <a:buNone/>
            </a:pPr>
            <a:r>
              <a:rPr lang="en-US" sz="2700" b="1" dirty="0">
                <a:solidFill>
                  <a:srgbClr val="111827"/>
                </a:solidFill>
                <a:latin typeface="Arial" pitchFamily="34" charset="0"/>
                <a:ea typeface="Arial" pitchFamily="34" charset="-122"/>
                <a:cs typeface="Arial" pitchFamily="34" charset="-120"/>
              </a:rPr>
              <a:t>The missing link is the 30 days at home.</a:t>
            </a:r>
            <a:endParaRPr lang="en-US" sz="2700" dirty="0"/>
          </a:p>
        </p:txBody>
      </p:sp>
      <p:sp>
        <p:nvSpPr>
          <p:cNvPr id="3" name="Text 1"/>
          <p:cNvSpPr txBox="1"/>
          <p:nvPr/>
        </p:nvSpPr>
        <p:spPr>
          <a:xfrm>
            <a:off x="548640" y="1097280"/>
            <a:ext cx="8046720" cy="640080"/>
          </a:xfrm>
          <a:prstGeom prst="rect">
            <a:avLst/>
          </a:prstGeom>
          <a:noFill/>
          <a:ln/>
        </p:spPr>
        <p:txBody>
          <a:bodyPr wrap="square" lIns="0" tIns="0" rIns="0" bIns="0" rtlCol="0" anchor="ctr"/>
          <a:lstStyle/>
          <a:p>
            <a:pPr indent="0" marL="0">
              <a:buNone/>
            </a:pPr>
            <a:r>
              <a:rPr lang="en-US" sz="1600" dirty="0">
                <a:solidFill>
                  <a:srgbClr val="4B5563"/>
                </a:solidFill>
                <a:latin typeface="Arial" pitchFamily="34" charset="0"/>
                <a:ea typeface="Arial" pitchFamily="34" charset="-122"/>
                <a:cs typeface="Arial" pitchFamily="34" charset="-120"/>
              </a:rPr>
              <a:t>Value-based care pays providers for outcomes. The outcome is decided at home, between visits. Nobody is there daily.</a:t>
            </a:r>
            <a:endParaRPr lang="en-US" sz="1600" dirty="0"/>
          </a:p>
        </p:txBody>
      </p:sp>
      <p:sp>
        <p:nvSpPr>
          <p:cNvPr id="4" name="Shape 2"/>
          <p:cNvSpPr/>
          <p:nvPr/>
        </p:nvSpPr>
        <p:spPr>
          <a:xfrm>
            <a:off x="548640" y="1965960"/>
            <a:ext cx="2468880" cy="1234440"/>
          </a:xfrm>
          <a:prstGeom prst="roundRect">
            <a:avLst>
              <a:gd name="adj" fmla="val 11111"/>
            </a:avLst>
          </a:prstGeom>
          <a:solidFill>
            <a:srgbClr val="F3F4F6"/>
          </a:solidFill>
          <a:ln w="12700">
            <a:solidFill>
              <a:srgbClr val="4B5563"/>
            </a:solidFill>
            <a:prstDash val="solid"/>
          </a:ln>
        </p:spPr>
      </p:sp>
      <p:sp>
        <p:nvSpPr>
          <p:cNvPr id="5" name="Text 3"/>
          <p:cNvSpPr txBox="1"/>
          <p:nvPr/>
        </p:nvSpPr>
        <p:spPr>
          <a:xfrm>
            <a:off x="731520" y="2057400"/>
            <a:ext cx="2194560" cy="457200"/>
          </a:xfrm>
          <a:prstGeom prst="rect">
            <a:avLst/>
          </a:prstGeom>
          <a:noFill/>
          <a:ln/>
        </p:spPr>
        <p:txBody>
          <a:bodyPr wrap="square" lIns="0" tIns="0" rIns="0" bIns="0" rtlCol="0" anchor="ctr"/>
          <a:lstStyle/>
          <a:p>
            <a:pPr indent="0" marL="0">
              <a:buNone/>
            </a:pPr>
            <a:r>
              <a:rPr lang="en-US" sz="2000" b="1" dirty="0">
                <a:solidFill>
                  <a:srgbClr val="111827"/>
                </a:solidFill>
                <a:latin typeface="Arial" pitchFamily="34" charset="0"/>
                <a:ea typeface="Arial" pitchFamily="34" charset="-122"/>
                <a:cs typeface="Arial" pitchFamily="34" charset="-120"/>
              </a:rPr>
              <a:t>Discharge</a:t>
            </a:r>
            <a:endParaRPr lang="en-US" sz="2000" dirty="0"/>
          </a:p>
        </p:txBody>
      </p:sp>
      <p:sp>
        <p:nvSpPr>
          <p:cNvPr id="6" name="Text 4"/>
          <p:cNvSpPr txBox="1"/>
          <p:nvPr/>
        </p:nvSpPr>
        <p:spPr>
          <a:xfrm>
            <a:off x="731520" y="2514600"/>
            <a:ext cx="2194560" cy="594360"/>
          </a:xfrm>
          <a:prstGeom prst="rect">
            <a:avLst/>
          </a:prstGeom>
          <a:noFill/>
          <a:ln/>
        </p:spPr>
        <p:txBody>
          <a:bodyPr wrap="square" lIns="0" tIns="0" rIns="0" bIns="0" rtlCol="0" anchor="ctr"/>
          <a:lstStyle/>
          <a:p>
            <a:pPr indent="0" marL="0">
              <a:buNone/>
            </a:pPr>
            <a:r>
              <a:rPr lang="en-US" sz="1300" dirty="0">
                <a:solidFill>
                  <a:srgbClr val="4B5563"/>
                </a:solidFill>
                <a:latin typeface="Arial" pitchFamily="34" charset="0"/>
                <a:ea typeface="Arial" pitchFamily="34" charset="-122"/>
                <a:cs typeface="Arial" pitchFamily="34" charset="-120"/>
              </a:rPr>
              <a:t>A plan on the fridge</a:t>
            </a:r>
            <a:endParaRPr lang="en-US" sz="1300" dirty="0"/>
          </a:p>
        </p:txBody>
      </p:sp>
      <p:sp>
        <p:nvSpPr>
          <p:cNvPr id="7" name="Text 5"/>
          <p:cNvSpPr txBox="1"/>
          <p:nvPr/>
        </p:nvSpPr>
        <p:spPr>
          <a:xfrm>
            <a:off x="2999232" y="2286000"/>
            <a:ext cx="411480" cy="548640"/>
          </a:xfrm>
          <a:prstGeom prst="rect">
            <a:avLst/>
          </a:prstGeom>
          <a:noFill/>
          <a:ln/>
        </p:spPr>
        <p:txBody>
          <a:bodyPr wrap="square" lIns="0" tIns="0" rIns="0" bIns="0" rtlCol="0" anchor="ctr"/>
          <a:lstStyle/>
          <a:p>
            <a:pPr algn="ctr" indent="0" marL="0">
              <a:buNone/>
            </a:pPr>
            <a:r>
              <a:rPr lang="en-US" sz="2800" dirty="0">
                <a:solidFill>
                  <a:srgbClr val="4B5563"/>
                </a:solidFill>
                <a:latin typeface="Arial" pitchFamily="34" charset="0"/>
                <a:ea typeface="Arial" pitchFamily="34" charset="-122"/>
                <a:cs typeface="Arial" pitchFamily="34" charset="-120"/>
              </a:rPr>
              <a:t>→</a:t>
            </a:r>
            <a:endParaRPr lang="en-US" sz="2800" dirty="0"/>
          </a:p>
        </p:txBody>
      </p:sp>
      <p:sp>
        <p:nvSpPr>
          <p:cNvPr id="8" name="Shape 6"/>
          <p:cNvSpPr/>
          <p:nvPr/>
        </p:nvSpPr>
        <p:spPr>
          <a:xfrm>
            <a:off x="3337560" y="1965960"/>
            <a:ext cx="2468880" cy="1234440"/>
          </a:xfrm>
          <a:prstGeom prst="roundRect">
            <a:avLst>
              <a:gd name="adj" fmla="val 11111"/>
            </a:avLst>
          </a:prstGeom>
          <a:solidFill>
            <a:srgbClr val="DBEAFE"/>
          </a:solidFill>
          <a:ln w="12700">
            <a:solidFill>
              <a:srgbClr val="4B5563"/>
            </a:solidFill>
            <a:prstDash val="solid"/>
          </a:ln>
        </p:spPr>
      </p:sp>
      <p:sp>
        <p:nvSpPr>
          <p:cNvPr id="9" name="Text 7"/>
          <p:cNvSpPr txBox="1"/>
          <p:nvPr/>
        </p:nvSpPr>
        <p:spPr>
          <a:xfrm>
            <a:off x="3520440" y="2057400"/>
            <a:ext cx="2194560" cy="457200"/>
          </a:xfrm>
          <a:prstGeom prst="rect">
            <a:avLst/>
          </a:prstGeom>
          <a:noFill/>
          <a:ln/>
        </p:spPr>
        <p:txBody>
          <a:bodyPr wrap="square" lIns="0" tIns="0" rIns="0" bIns="0" rtlCol="0" anchor="ctr"/>
          <a:lstStyle/>
          <a:p>
            <a:pPr indent="0" marL="0">
              <a:buNone/>
            </a:pPr>
            <a:r>
              <a:rPr lang="en-US" sz="2000" b="1" dirty="0">
                <a:solidFill>
                  <a:srgbClr val="1E40AF"/>
                </a:solidFill>
                <a:latin typeface="Arial" pitchFamily="34" charset="0"/>
                <a:ea typeface="Arial" pitchFamily="34" charset="-122"/>
                <a:cs typeface="Arial" pitchFamily="34" charset="-120"/>
              </a:rPr>
              <a:t>30 days at home</a:t>
            </a:r>
            <a:endParaRPr lang="en-US" sz="2000" dirty="0"/>
          </a:p>
        </p:txBody>
      </p:sp>
      <p:sp>
        <p:nvSpPr>
          <p:cNvPr id="10" name="Text 8"/>
          <p:cNvSpPr txBox="1"/>
          <p:nvPr/>
        </p:nvSpPr>
        <p:spPr>
          <a:xfrm>
            <a:off x="3520440" y="2514600"/>
            <a:ext cx="2194560" cy="594360"/>
          </a:xfrm>
          <a:prstGeom prst="rect">
            <a:avLst/>
          </a:prstGeom>
          <a:noFill/>
          <a:ln/>
        </p:spPr>
        <p:txBody>
          <a:bodyPr wrap="square" lIns="0" tIns="0" rIns="0" bIns="0" rtlCol="0" anchor="ctr"/>
          <a:lstStyle/>
          <a:p>
            <a:pPr indent="0" marL="0">
              <a:buNone/>
            </a:pPr>
            <a:r>
              <a:rPr lang="en-US" sz="1300" dirty="0">
                <a:solidFill>
                  <a:srgbClr val="4B5563"/>
                </a:solidFill>
                <a:latin typeface="Arial" pitchFamily="34" charset="0"/>
                <a:ea typeface="Arial" pitchFamily="34" charset="-122"/>
                <a:cs typeface="Arial" pitchFamily="34" charset="-120"/>
              </a:rPr>
              <a:t>Nobody looks. The signal is quiet.</a:t>
            </a:r>
            <a:endParaRPr lang="en-US" sz="1300" dirty="0"/>
          </a:p>
        </p:txBody>
      </p:sp>
      <p:sp>
        <p:nvSpPr>
          <p:cNvPr id="11" name="Text 9"/>
          <p:cNvSpPr txBox="1"/>
          <p:nvPr/>
        </p:nvSpPr>
        <p:spPr>
          <a:xfrm>
            <a:off x="5788152" y="2286000"/>
            <a:ext cx="411480" cy="548640"/>
          </a:xfrm>
          <a:prstGeom prst="rect">
            <a:avLst/>
          </a:prstGeom>
          <a:noFill/>
          <a:ln/>
        </p:spPr>
        <p:txBody>
          <a:bodyPr wrap="square" lIns="0" tIns="0" rIns="0" bIns="0" rtlCol="0" anchor="ctr"/>
          <a:lstStyle/>
          <a:p>
            <a:pPr algn="ctr" indent="0" marL="0">
              <a:buNone/>
            </a:pPr>
            <a:r>
              <a:rPr lang="en-US" sz="2800" dirty="0">
                <a:solidFill>
                  <a:srgbClr val="4B5563"/>
                </a:solidFill>
                <a:latin typeface="Arial" pitchFamily="34" charset="0"/>
                <a:ea typeface="Arial" pitchFamily="34" charset="-122"/>
                <a:cs typeface="Arial" pitchFamily="34" charset="-120"/>
              </a:rPr>
              <a:t>→</a:t>
            </a:r>
            <a:endParaRPr lang="en-US" sz="2800" dirty="0"/>
          </a:p>
        </p:txBody>
      </p:sp>
      <p:sp>
        <p:nvSpPr>
          <p:cNvPr id="12" name="Shape 10"/>
          <p:cNvSpPr/>
          <p:nvPr/>
        </p:nvSpPr>
        <p:spPr>
          <a:xfrm>
            <a:off x="6126480" y="1965960"/>
            <a:ext cx="2468880" cy="1234440"/>
          </a:xfrm>
          <a:prstGeom prst="roundRect">
            <a:avLst>
              <a:gd name="adj" fmla="val 11111"/>
            </a:avLst>
          </a:prstGeom>
          <a:solidFill>
            <a:srgbClr val="FDE2E2"/>
          </a:solidFill>
          <a:ln w="12700">
            <a:solidFill>
              <a:srgbClr val="4B5563"/>
            </a:solidFill>
            <a:prstDash val="solid"/>
          </a:ln>
        </p:spPr>
      </p:sp>
      <p:sp>
        <p:nvSpPr>
          <p:cNvPr id="13" name="Text 11"/>
          <p:cNvSpPr txBox="1"/>
          <p:nvPr/>
        </p:nvSpPr>
        <p:spPr>
          <a:xfrm>
            <a:off x="6309360" y="2057400"/>
            <a:ext cx="2194560" cy="457200"/>
          </a:xfrm>
          <a:prstGeom prst="rect">
            <a:avLst/>
          </a:prstGeom>
          <a:noFill/>
          <a:ln/>
        </p:spPr>
        <p:txBody>
          <a:bodyPr wrap="square" lIns="0" tIns="0" rIns="0" bIns="0" rtlCol="0" anchor="ctr"/>
          <a:lstStyle/>
          <a:p>
            <a:pPr indent="0" marL="0">
              <a:buNone/>
            </a:pPr>
            <a:r>
              <a:rPr lang="en-US" sz="2000" b="1" dirty="0">
                <a:solidFill>
                  <a:srgbClr val="C8402F"/>
                </a:solidFill>
                <a:latin typeface="Arial" pitchFamily="34" charset="0"/>
                <a:ea typeface="Arial" pitchFamily="34" charset="-122"/>
                <a:cs typeface="Arial" pitchFamily="34" charset="-120"/>
              </a:rPr>
              <a:t>Readmission</a:t>
            </a:r>
            <a:endParaRPr lang="en-US" sz="2000" dirty="0"/>
          </a:p>
        </p:txBody>
      </p:sp>
      <p:sp>
        <p:nvSpPr>
          <p:cNvPr id="14" name="Text 12"/>
          <p:cNvSpPr txBox="1"/>
          <p:nvPr/>
        </p:nvSpPr>
        <p:spPr>
          <a:xfrm>
            <a:off x="6309360" y="2514600"/>
            <a:ext cx="2194560" cy="594360"/>
          </a:xfrm>
          <a:prstGeom prst="rect">
            <a:avLst/>
          </a:prstGeom>
          <a:noFill/>
          <a:ln/>
        </p:spPr>
        <p:txBody>
          <a:bodyPr wrap="square" lIns="0" tIns="0" rIns="0" bIns="0" rtlCol="0" anchor="ctr"/>
          <a:lstStyle/>
          <a:p>
            <a:pPr indent="0" marL="0">
              <a:buNone/>
            </a:pPr>
            <a:r>
              <a:rPr lang="en-US" sz="1300" dirty="0">
                <a:solidFill>
                  <a:srgbClr val="4B5563"/>
                </a:solidFill>
                <a:latin typeface="Arial" pitchFamily="34" charset="0"/>
                <a:ea typeface="Arial" pitchFamily="34" charset="-122"/>
                <a:cs typeface="Arial" pitchFamily="34" charset="-120"/>
              </a:rPr>
              <a:t>The provider pays a penalty.</a:t>
            </a:r>
            <a:endParaRPr lang="en-US" sz="1300" dirty="0"/>
          </a:p>
        </p:txBody>
      </p:sp>
      <p:sp>
        <p:nvSpPr>
          <p:cNvPr id="15" name="Text 13"/>
          <p:cNvSpPr txBox="1"/>
          <p:nvPr/>
        </p:nvSpPr>
        <p:spPr>
          <a:xfrm>
            <a:off x="548640" y="3520440"/>
            <a:ext cx="1920240" cy="548640"/>
          </a:xfrm>
          <a:prstGeom prst="rect">
            <a:avLst/>
          </a:prstGeom>
          <a:noFill/>
          <a:ln/>
        </p:spPr>
        <p:txBody>
          <a:bodyPr wrap="square" lIns="0" tIns="0" rIns="0" bIns="0" rtlCol="0" anchor="ctr"/>
          <a:lstStyle/>
          <a:p>
            <a:pPr indent="0" marL="0">
              <a:buNone/>
            </a:pPr>
            <a:r>
              <a:rPr lang="en-US" sz="2800" b="1" dirty="0">
                <a:solidFill>
                  <a:srgbClr val="1E40AF"/>
                </a:solidFill>
                <a:latin typeface="Arial" pitchFamily="34" charset="0"/>
                <a:ea typeface="Arial" pitchFamily="34" charset="-122"/>
                <a:cs typeface="Arial" pitchFamily="34" charset="-120"/>
              </a:rPr>
              <a:t>$36 B</a:t>
            </a:r>
            <a:endParaRPr lang="en-US" sz="2800" dirty="0"/>
          </a:p>
        </p:txBody>
      </p:sp>
      <p:sp>
        <p:nvSpPr>
          <p:cNvPr id="16" name="Text 14"/>
          <p:cNvSpPr txBox="1"/>
          <p:nvPr/>
        </p:nvSpPr>
        <p:spPr>
          <a:xfrm>
            <a:off x="548640" y="4069080"/>
            <a:ext cx="1920240" cy="54864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a year in 30-day readmissions</a:t>
            </a:r>
            <a:endParaRPr lang="en-US" sz="1100" dirty="0"/>
          </a:p>
        </p:txBody>
      </p:sp>
      <p:sp>
        <p:nvSpPr>
          <p:cNvPr id="17" name="Text 15"/>
          <p:cNvSpPr txBox="1"/>
          <p:nvPr/>
        </p:nvSpPr>
        <p:spPr>
          <a:xfrm>
            <a:off x="2606040" y="3520440"/>
            <a:ext cx="1920240" cy="548640"/>
          </a:xfrm>
          <a:prstGeom prst="rect">
            <a:avLst/>
          </a:prstGeom>
          <a:noFill/>
          <a:ln/>
        </p:spPr>
        <p:txBody>
          <a:bodyPr wrap="square" lIns="0" tIns="0" rIns="0" bIns="0" rtlCol="0" anchor="ctr"/>
          <a:lstStyle/>
          <a:p>
            <a:pPr indent="0" marL="0">
              <a:buNone/>
            </a:pPr>
            <a:r>
              <a:rPr lang="en-US" sz="2800" b="1" dirty="0">
                <a:solidFill>
                  <a:srgbClr val="1E40AF"/>
                </a:solidFill>
                <a:latin typeface="Arial" pitchFamily="34" charset="0"/>
                <a:ea typeface="Arial" pitchFamily="34" charset="-122"/>
                <a:cs typeface="Arial" pitchFamily="34" charset="-120"/>
              </a:rPr>
              <a:t>2.0 M</a:t>
            </a:r>
            <a:endParaRPr lang="en-US" sz="2800" dirty="0"/>
          </a:p>
        </p:txBody>
      </p:sp>
      <p:sp>
        <p:nvSpPr>
          <p:cNvPr id="18" name="Text 16"/>
          <p:cNvSpPr txBox="1"/>
          <p:nvPr/>
        </p:nvSpPr>
        <p:spPr>
          <a:xfrm>
            <a:off x="2606040" y="4069080"/>
            <a:ext cx="1920240" cy="54864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readmissions a year</a:t>
            </a:r>
            <a:endParaRPr lang="en-US" sz="1100" dirty="0"/>
          </a:p>
        </p:txBody>
      </p:sp>
      <p:sp>
        <p:nvSpPr>
          <p:cNvPr id="19" name="Text 17"/>
          <p:cNvSpPr txBox="1"/>
          <p:nvPr/>
        </p:nvSpPr>
        <p:spPr>
          <a:xfrm>
            <a:off x="4663440" y="3520440"/>
            <a:ext cx="1920240" cy="548640"/>
          </a:xfrm>
          <a:prstGeom prst="rect">
            <a:avLst/>
          </a:prstGeom>
          <a:noFill/>
          <a:ln/>
        </p:spPr>
        <p:txBody>
          <a:bodyPr wrap="square" lIns="0" tIns="0" rIns="0" bIns="0" rtlCol="0" anchor="ctr"/>
          <a:lstStyle/>
          <a:p>
            <a:pPr indent="0" marL="0">
              <a:buNone/>
            </a:pPr>
            <a:r>
              <a:rPr lang="en-US" sz="2800" b="1" dirty="0">
                <a:solidFill>
                  <a:srgbClr val="1E40AF"/>
                </a:solidFill>
                <a:latin typeface="Arial" pitchFamily="34" charset="0"/>
                <a:ea typeface="Arial" pitchFamily="34" charset="-122"/>
                <a:cs typeface="Arial" pitchFamily="34" charset="-120"/>
              </a:rPr>
              <a:t>up to 3%</a:t>
            </a:r>
            <a:endParaRPr lang="en-US" sz="2800" dirty="0"/>
          </a:p>
        </p:txBody>
      </p:sp>
      <p:sp>
        <p:nvSpPr>
          <p:cNvPr id="20" name="Text 18"/>
          <p:cNvSpPr txBox="1"/>
          <p:nvPr/>
        </p:nvSpPr>
        <p:spPr>
          <a:xfrm>
            <a:off x="4663440" y="4069080"/>
            <a:ext cx="1920240" cy="54864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of Medicare payments at risk (HRRP)</a:t>
            </a:r>
            <a:endParaRPr lang="en-US" sz="1100" dirty="0"/>
          </a:p>
        </p:txBody>
      </p:sp>
      <p:sp>
        <p:nvSpPr>
          <p:cNvPr id="21" name="Text 19"/>
          <p:cNvSpPr txBox="1"/>
          <p:nvPr/>
        </p:nvSpPr>
        <p:spPr>
          <a:xfrm>
            <a:off x="6720840" y="3520440"/>
            <a:ext cx="1920240" cy="548640"/>
          </a:xfrm>
          <a:prstGeom prst="rect">
            <a:avLst/>
          </a:prstGeom>
          <a:noFill/>
          <a:ln/>
        </p:spPr>
        <p:txBody>
          <a:bodyPr wrap="square" lIns="0" tIns="0" rIns="0" bIns="0" rtlCol="0" anchor="ctr"/>
          <a:lstStyle/>
          <a:p>
            <a:pPr indent="0" marL="0">
              <a:buNone/>
            </a:pPr>
            <a:r>
              <a:rPr lang="en-US" sz="2800" b="1" dirty="0">
                <a:solidFill>
                  <a:srgbClr val="1E40AF"/>
                </a:solidFill>
                <a:latin typeface="Arial" pitchFamily="34" charset="0"/>
                <a:ea typeface="Arial" pitchFamily="34" charset="-122"/>
                <a:cs typeface="Arial" pitchFamily="34" charset="-120"/>
              </a:rPr>
              <a:t>$8 k</a:t>
            </a:r>
            <a:endParaRPr lang="en-US" sz="2800" dirty="0"/>
          </a:p>
        </p:txBody>
      </p:sp>
      <p:sp>
        <p:nvSpPr>
          <p:cNvPr id="22" name="Text 20"/>
          <p:cNvSpPr txBox="1"/>
          <p:nvPr/>
        </p:nvSpPr>
        <p:spPr>
          <a:xfrm>
            <a:off x="6720840" y="4069080"/>
            <a:ext cx="1920240" cy="54864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extra per delirium episode</a:t>
            </a:r>
            <a:endParaRPr lang="en-US" sz="1100" dirty="0"/>
          </a:p>
        </p:txBody>
      </p:sp>
      <p:pic>
        <p:nvPicPr>
          <p:cNvPr id="23" name="Image 0" descr="../shots/doodle-half-a-house-blue.png">    </p:cNvPr>
          <p:cNvPicPr>
            <a:picLocks noChangeAspect="1"/>
          </p:cNvPicPr>
          <p:nvPr/>
        </p:nvPicPr>
        <p:blipFill>
          <a:blip r:embed="rId1"/>
          <a:stretch>
            <a:fillRect/>
          </a:stretch>
        </p:blipFill>
        <p:spPr>
          <a:xfrm>
            <a:off x="7726680" y="228600"/>
            <a:ext cx="1051560" cy="105156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94360"/>
          </a:xfrm>
          <a:prstGeom prst="rect">
            <a:avLst/>
          </a:prstGeom>
          <a:noFill/>
          <a:ln/>
        </p:spPr>
        <p:txBody>
          <a:bodyPr wrap="square" lIns="0" tIns="0" rIns="0" bIns="0" rtlCol="0" anchor="ctr"/>
          <a:lstStyle/>
          <a:p>
            <a:pPr indent="0" marL="0">
              <a:buNone/>
            </a:pPr>
            <a:r>
              <a:rPr lang="en-US" sz="3400" b="1" dirty="0">
                <a:solidFill>
                  <a:srgbClr val="111827"/>
                </a:solidFill>
                <a:latin typeface="Arial" pitchFamily="34" charset="0"/>
                <a:ea typeface="Arial" pitchFamily="34" charset="-122"/>
                <a:cs typeface="Arial" pitchFamily="34" charset="-120"/>
              </a:rPr>
              <a:t>No tests. Just a visit.</a:t>
            </a:r>
            <a:endParaRPr lang="en-US" sz="3400" dirty="0"/>
          </a:p>
        </p:txBody>
      </p:sp>
      <p:sp>
        <p:nvSpPr>
          <p:cNvPr id="3" name="Text 1"/>
          <p:cNvSpPr txBox="1"/>
          <p:nvPr/>
        </p:nvSpPr>
        <p:spPr>
          <a:xfrm>
            <a:off x="548640" y="960120"/>
            <a:ext cx="8046720" cy="457200"/>
          </a:xfrm>
          <a:prstGeom prst="rect">
            <a:avLst/>
          </a:prstGeom>
          <a:noFill/>
          <a:ln/>
        </p:spPr>
        <p:txBody>
          <a:bodyPr wrap="square" lIns="0" tIns="0" rIns="0" bIns="0" rtlCol="0" anchor="ctr"/>
          <a:lstStyle/>
          <a:p>
            <a:pPr indent="0" marL="0">
              <a:buNone/>
            </a:pPr>
            <a:r>
              <a:rPr lang="en-US" sz="1500" dirty="0">
                <a:solidFill>
                  <a:srgbClr val="4B5563"/>
                </a:solidFill>
                <a:latin typeface="Arial" pitchFamily="34" charset="0"/>
                <a:ea typeface="Arial" pitchFamily="34" charset="-122"/>
                <a:cs typeface="Arial" pitchFamily="34" charset="-120"/>
              </a:rPr>
              <a:t>Sign in, a few questions in her own words, a puzzle with Anna, goodbye. Every one of them is also a measurement.</a:t>
            </a:r>
            <a:endParaRPr lang="en-US" sz="1500" dirty="0"/>
          </a:p>
        </p:txBody>
      </p:sp>
      <p:sp>
        <p:nvSpPr>
          <p:cNvPr id="4" name="Shape 2"/>
          <p:cNvSpPr/>
          <p:nvPr/>
        </p:nvSpPr>
        <p:spPr>
          <a:xfrm>
            <a:off x="493776" y="1545336"/>
            <a:ext cx="1508658" cy="2990088"/>
          </a:xfrm>
          <a:prstGeom prst="roundRect">
            <a:avLst>
              <a:gd name="adj" fmla="val 13334"/>
            </a:avLst>
          </a:prstGeom>
          <a:solidFill>
            <a:srgbClr val="111827"/>
          </a:solidFill>
          <a:ln w="12700">
            <a:solidFill>
              <a:srgbClr val="4B5563"/>
            </a:solidFill>
            <a:prstDash val="solid"/>
          </a:ln>
        </p:spPr>
      </p:sp>
      <p:pic>
        <p:nvPicPr>
          <p:cNvPr id="5" name="Image 0" descr="../shots/01-sign-c.png">    </p:cNvPr>
          <p:cNvPicPr>
            <a:picLocks noChangeAspect="1"/>
          </p:cNvPicPr>
          <p:nvPr/>
        </p:nvPicPr>
        <p:blipFill>
          <a:blip r:embed="rId1"/>
          <a:stretch>
            <a:fillRect/>
          </a:stretch>
        </p:blipFill>
        <p:spPr>
          <a:xfrm>
            <a:off x="548640" y="1600200"/>
            <a:ext cx="1398930" cy="2880360"/>
          </a:xfrm>
          <a:prstGeom prst="rect">
            <a:avLst/>
          </a:prstGeom>
        </p:spPr>
      </p:pic>
      <p:sp>
        <p:nvSpPr>
          <p:cNvPr id="6" name="Text 3"/>
          <p:cNvSpPr txBox="1"/>
          <p:nvPr/>
        </p:nvSpPr>
        <p:spPr>
          <a:xfrm>
            <a:off x="274320" y="4572000"/>
            <a:ext cx="1947570" cy="457200"/>
          </a:xfrm>
          <a:prstGeom prst="rect">
            <a:avLst/>
          </a:prstGeom>
          <a:noFill/>
          <a:ln/>
        </p:spPr>
        <p:txBody>
          <a:bodyPr wrap="square" lIns="0" tIns="0" rIns="0" bIns="0" rtlCol="0" anchor="t"/>
          <a:lstStyle/>
          <a:p>
            <a:pPr algn="ctr" indent="0" marL="0">
              <a:buNone/>
            </a:pPr>
            <a:r>
              <a:rPr lang="en-US" sz="1200" dirty="0">
                <a:solidFill>
                  <a:srgbClr val="4B5563"/>
                </a:solidFill>
                <a:latin typeface="Arial" pitchFamily="34" charset="0"/>
                <a:ea typeface="Arial" pitchFamily="34" charset="-122"/>
                <a:cs typeface="Arial" pitchFamily="34" charset="-120"/>
              </a:rPr>
              <a:t>1  Sign the book</a:t>
            </a:r>
            <a:endParaRPr lang="en-US" sz="1200" dirty="0"/>
          </a:p>
        </p:txBody>
      </p:sp>
      <p:sp>
        <p:nvSpPr>
          <p:cNvPr id="7" name="Shape 4"/>
          <p:cNvSpPr/>
          <p:nvPr/>
        </p:nvSpPr>
        <p:spPr>
          <a:xfrm>
            <a:off x="2551074" y="1545336"/>
            <a:ext cx="1508658" cy="2990088"/>
          </a:xfrm>
          <a:prstGeom prst="roundRect">
            <a:avLst>
              <a:gd name="adj" fmla="val 13334"/>
            </a:avLst>
          </a:prstGeom>
          <a:solidFill>
            <a:srgbClr val="111827"/>
          </a:solidFill>
          <a:ln w="12700">
            <a:solidFill>
              <a:srgbClr val="4B5563"/>
            </a:solidFill>
            <a:prstDash val="solid"/>
          </a:ln>
        </p:spPr>
      </p:sp>
      <p:pic>
        <p:nvPicPr>
          <p:cNvPr id="8" name="Image 1" descr="../shots/04-chat-invite-c.png">    </p:cNvPr>
          <p:cNvPicPr>
            <a:picLocks noChangeAspect="1"/>
          </p:cNvPicPr>
          <p:nvPr/>
        </p:nvPicPr>
        <p:blipFill>
          <a:blip r:embed="rId2"/>
          <a:stretch>
            <a:fillRect/>
          </a:stretch>
        </p:blipFill>
        <p:spPr>
          <a:xfrm>
            <a:off x="2605938" y="1600200"/>
            <a:ext cx="1398930" cy="2880360"/>
          </a:xfrm>
          <a:prstGeom prst="rect">
            <a:avLst/>
          </a:prstGeom>
        </p:spPr>
      </p:pic>
      <p:sp>
        <p:nvSpPr>
          <p:cNvPr id="9" name="Text 5"/>
          <p:cNvSpPr txBox="1"/>
          <p:nvPr/>
        </p:nvSpPr>
        <p:spPr>
          <a:xfrm>
            <a:off x="2331618" y="4572000"/>
            <a:ext cx="1947570" cy="457200"/>
          </a:xfrm>
          <a:prstGeom prst="rect">
            <a:avLst/>
          </a:prstGeom>
          <a:noFill/>
          <a:ln/>
        </p:spPr>
        <p:txBody>
          <a:bodyPr wrap="square" lIns="0" tIns="0" rIns="0" bIns="0" rtlCol="0" anchor="t"/>
          <a:lstStyle/>
          <a:p>
            <a:pPr algn="ctr" indent="0" marL="0">
              <a:buNone/>
            </a:pPr>
            <a:r>
              <a:rPr lang="en-US" sz="1200" dirty="0">
                <a:solidFill>
                  <a:srgbClr val="4B5563"/>
                </a:solidFill>
                <a:latin typeface="Arial" pitchFamily="34" charset="0"/>
                <a:ea typeface="Arial" pitchFamily="34" charset="-122"/>
                <a:cs typeface="Arial" pitchFamily="34" charset="-120"/>
              </a:rPr>
              <a:t>2  A few questions</a:t>
            </a:r>
            <a:endParaRPr lang="en-US" sz="1200" dirty="0"/>
          </a:p>
        </p:txBody>
      </p:sp>
      <p:sp>
        <p:nvSpPr>
          <p:cNvPr id="10" name="Shape 6"/>
          <p:cNvSpPr/>
          <p:nvPr/>
        </p:nvSpPr>
        <p:spPr>
          <a:xfrm>
            <a:off x="4608371" y="1545336"/>
            <a:ext cx="1508658" cy="2990088"/>
          </a:xfrm>
          <a:prstGeom prst="roundRect">
            <a:avLst>
              <a:gd name="adj" fmla="val 13334"/>
            </a:avLst>
          </a:prstGeom>
          <a:solidFill>
            <a:srgbClr val="111827"/>
          </a:solidFill>
          <a:ln w="12700">
            <a:solidFill>
              <a:srgbClr val="4B5563"/>
            </a:solidFill>
            <a:prstDash val="solid"/>
          </a:ln>
        </p:spPr>
      </p:sp>
      <p:pic>
        <p:nvPicPr>
          <p:cNvPr id="11" name="Image 2" descr="../shots/07-puzzle-anna-c.png">    </p:cNvPr>
          <p:cNvPicPr>
            <a:picLocks noChangeAspect="1"/>
          </p:cNvPicPr>
          <p:nvPr/>
        </p:nvPicPr>
        <p:blipFill>
          <a:blip r:embed="rId3"/>
          <a:stretch>
            <a:fillRect/>
          </a:stretch>
        </p:blipFill>
        <p:spPr>
          <a:xfrm>
            <a:off x="4663235" y="1600200"/>
            <a:ext cx="1398930" cy="2880360"/>
          </a:xfrm>
          <a:prstGeom prst="rect">
            <a:avLst/>
          </a:prstGeom>
        </p:spPr>
      </p:pic>
      <p:sp>
        <p:nvSpPr>
          <p:cNvPr id="12" name="Text 7"/>
          <p:cNvSpPr txBox="1"/>
          <p:nvPr/>
        </p:nvSpPr>
        <p:spPr>
          <a:xfrm>
            <a:off x="4388915" y="4572000"/>
            <a:ext cx="1947570" cy="457200"/>
          </a:xfrm>
          <a:prstGeom prst="rect">
            <a:avLst/>
          </a:prstGeom>
          <a:noFill/>
          <a:ln/>
        </p:spPr>
        <p:txBody>
          <a:bodyPr wrap="square" lIns="0" tIns="0" rIns="0" bIns="0" rtlCol="0" anchor="t"/>
          <a:lstStyle/>
          <a:p>
            <a:pPr algn="ctr" indent="0" marL="0">
              <a:buNone/>
            </a:pPr>
            <a:r>
              <a:rPr lang="en-US" sz="1200" dirty="0">
                <a:solidFill>
                  <a:srgbClr val="4B5563"/>
                </a:solidFill>
                <a:latin typeface="Arial" pitchFamily="34" charset="0"/>
                <a:ea typeface="Arial" pitchFamily="34" charset="-122"/>
                <a:cs typeface="Arial" pitchFamily="34" charset="-120"/>
              </a:rPr>
              <a:t>3  A puzzle, with Anna</a:t>
            </a:r>
            <a:endParaRPr lang="en-US" sz="1200" dirty="0"/>
          </a:p>
        </p:txBody>
      </p:sp>
      <p:sp>
        <p:nvSpPr>
          <p:cNvPr id="13" name="Shape 8"/>
          <p:cNvSpPr/>
          <p:nvPr/>
        </p:nvSpPr>
        <p:spPr>
          <a:xfrm>
            <a:off x="6665669" y="1545336"/>
            <a:ext cx="1508658" cy="2990088"/>
          </a:xfrm>
          <a:prstGeom prst="roundRect">
            <a:avLst>
              <a:gd name="adj" fmla="val 13334"/>
            </a:avLst>
          </a:prstGeom>
          <a:solidFill>
            <a:srgbClr val="111827"/>
          </a:solidFill>
          <a:ln w="12700">
            <a:solidFill>
              <a:srgbClr val="4B5563"/>
            </a:solidFill>
            <a:prstDash val="solid"/>
          </a:ln>
        </p:spPr>
      </p:sp>
      <p:pic>
        <p:nvPicPr>
          <p:cNvPr id="14" name="Image 3" descr="../shots/08-goodbye-c.png">    </p:cNvPr>
          <p:cNvPicPr>
            <a:picLocks noChangeAspect="1"/>
          </p:cNvPicPr>
          <p:nvPr/>
        </p:nvPicPr>
        <p:blipFill>
          <a:blip r:embed="rId4"/>
          <a:stretch>
            <a:fillRect/>
          </a:stretch>
        </p:blipFill>
        <p:spPr>
          <a:xfrm>
            <a:off x="6720533" y="1600200"/>
            <a:ext cx="1398930" cy="2880360"/>
          </a:xfrm>
          <a:prstGeom prst="rect">
            <a:avLst/>
          </a:prstGeom>
        </p:spPr>
      </p:pic>
      <p:sp>
        <p:nvSpPr>
          <p:cNvPr id="15" name="Text 9"/>
          <p:cNvSpPr txBox="1"/>
          <p:nvPr/>
        </p:nvSpPr>
        <p:spPr>
          <a:xfrm>
            <a:off x="6446213" y="4572000"/>
            <a:ext cx="1947570" cy="457200"/>
          </a:xfrm>
          <a:prstGeom prst="rect">
            <a:avLst/>
          </a:prstGeom>
          <a:noFill/>
          <a:ln/>
        </p:spPr>
        <p:txBody>
          <a:bodyPr wrap="square" lIns="0" tIns="0" rIns="0" bIns="0" rtlCol="0" anchor="t"/>
          <a:lstStyle/>
          <a:p>
            <a:pPr algn="ctr" indent="0" marL="0">
              <a:buNone/>
            </a:pPr>
            <a:r>
              <a:rPr lang="en-US" sz="1200" dirty="0">
                <a:solidFill>
                  <a:srgbClr val="4B5563"/>
                </a:solidFill>
                <a:latin typeface="Arial" pitchFamily="34" charset="0"/>
                <a:ea typeface="Arial" pitchFamily="34" charset="-122"/>
                <a:cs typeface="Arial" pitchFamily="34" charset="-120"/>
              </a:rPr>
              <a:t>4  Goodbye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4754880" cy="594360"/>
          </a:xfrm>
          <a:prstGeom prst="rect">
            <a:avLst/>
          </a:prstGeom>
          <a:noFill/>
          <a:ln/>
        </p:spPr>
        <p:txBody>
          <a:bodyPr wrap="square" lIns="0" tIns="0" rIns="0" bIns="0" rtlCol="0" anchor="ctr"/>
          <a:lstStyle/>
          <a:p>
            <a:pPr indent="0" marL="0">
              <a:buNone/>
            </a:pPr>
            <a:r>
              <a:rPr lang="en-US" sz="3400" b="1" dirty="0">
                <a:solidFill>
                  <a:srgbClr val="111827"/>
                </a:solidFill>
                <a:latin typeface="Arial" pitchFamily="34" charset="0"/>
                <a:ea typeface="Arial" pitchFamily="34" charset="-122"/>
                <a:cs typeface="Arial" pitchFamily="34" charset="-120"/>
              </a:rPr>
              <a:t>What the phone saw.</a:t>
            </a:r>
            <a:endParaRPr lang="en-US" sz="3400" dirty="0"/>
          </a:p>
        </p:txBody>
      </p:sp>
      <p:sp>
        <p:nvSpPr>
          <p:cNvPr id="3" name="Shape 1"/>
          <p:cNvSpPr/>
          <p:nvPr/>
        </p:nvSpPr>
        <p:spPr>
          <a:xfrm>
            <a:off x="548640" y="1051560"/>
            <a:ext cx="4480560" cy="1188720"/>
          </a:xfrm>
          <a:prstGeom prst="roundRect">
            <a:avLst>
              <a:gd name="adj" fmla="val 11538"/>
            </a:avLst>
          </a:prstGeom>
          <a:solidFill>
            <a:srgbClr val="DBEAFE"/>
          </a:solidFill>
          <a:ln w="12700">
            <a:solidFill>
              <a:srgbClr val="4B5563"/>
            </a:solidFill>
            <a:prstDash val="solid"/>
          </a:ln>
        </p:spPr>
      </p:sp>
      <p:sp>
        <p:nvSpPr>
          <p:cNvPr id="4" name="Text 2"/>
          <p:cNvSpPr txBox="1"/>
          <p:nvPr/>
        </p:nvSpPr>
        <p:spPr>
          <a:xfrm>
            <a:off x="731520" y="1143000"/>
            <a:ext cx="4114800" cy="1005840"/>
          </a:xfrm>
          <a:prstGeom prst="rect">
            <a:avLst/>
          </a:prstGeom>
          <a:noFill/>
          <a:ln/>
        </p:spPr>
        <p:txBody>
          <a:bodyPr wrap="square" lIns="0" tIns="0" rIns="0" bIns="0" rtlCol="0" anchor="ctr"/>
          <a:lstStyle/>
          <a:p>
            <a:pPr indent="0" marL="0">
              <a:buNone/>
            </a:pPr>
            <a:r>
              <a:rPr lang="en-US" sz="1700" i="1" dirty="0">
                <a:solidFill>
                  <a:srgbClr val="1E40AF"/>
                </a:solidFill>
                <a:latin typeface="Arial" pitchFamily="34" charset="0"/>
                <a:ea typeface="Arial" pitchFamily="34" charset="-122"/>
                <a:cs typeface="Arial" pitchFamily="34" charset="-120"/>
              </a:rPr>
              <a:t>“Margaret’s signature was slower, more hesitant and a different shape than usual today.”</a:t>
            </a:r>
            <a:endParaRPr lang="en-US" sz="1700" dirty="0"/>
          </a:p>
        </p:txBody>
      </p:sp>
      <p:sp>
        <p:nvSpPr>
          <p:cNvPr id="5" name="Text 3"/>
          <p:cNvSpPr txBox="1"/>
          <p:nvPr/>
        </p:nvSpPr>
        <p:spPr>
          <a:xfrm>
            <a:off x="548640" y="2423160"/>
            <a:ext cx="1554480" cy="548640"/>
          </a:xfrm>
          <a:prstGeom prst="rect">
            <a:avLst/>
          </a:prstGeom>
          <a:noFill/>
          <a:ln/>
        </p:spPr>
        <p:txBody>
          <a:bodyPr wrap="square" lIns="0" tIns="0" rIns="0" bIns="0" rtlCol="0" anchor="ctr"/>
          <a:lstStyle/>
          <a:p>
            <a:pPr indent="0" marL="0">
              <a:buNone/>
            </a:pPr>
            <a:r>
              <a:rPr lang="en-US" sz="1300" b="1" dirty="0">
                <a:solidFill>
                  <a:srgbClr val="111827"/>
                </a:solidFill>
                <a:latin typeface="Arial" pitchFamily="34" charset="0"/>
                <a:ea typeface="Arial" pitchFamily="34" charset="-122"/>
                <a:cs typeface="Arial" pitchFamily="34" charset="-120"/>
              </a:rPr>
              <a:t>Her own baseline</a:t>
            </a:r>
            <a:endParaRPr lang="en-US" sz="1300" dirty="0"/>
          </a:p>
        </p:txBody>
      </p:sp>
      <p:sp>
        <p:nvSpPr>
          <p:cNvPr id="6" name="Text 4"/>
          <p:cNvSpPr txBox="1"/>
          <p:nvPr/>
        </p:nvSpPr>
        <p:spPr>
          <a:xfrm>
            <a:off x="2103120" y="2423160"/>
            <a:ext cx="2926080" cy="54864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Five signings, median and spread per feature. No population norms; delirium is a change from your usual.</a:t>
            </a:r>
            <a:endParaRPr lang="en-US" sz="1100" dirty="0"/>
          </a:p>
        </p:txBody>
      </p:sp>
      <p:sp>
        <p:nvSpPr>
          <p:cNvPr id="7" name="Text 5"/>
          <p:cNvSpPr txBox="1"/>
          <p:nvPr/>
        </p:nvSpPr>
        <p:spPr>
          <a:xfrm>
            <a:off x="548640" y="3026664"/>
            <a:ext cx="1554480" cy="548640"/>
          </a:xfrm>
          <a:prstGeom prst="rect">
            <a:avLst/>
          </a:prstGeom>
          <a:noFill/>
          <a:ln/>
        </p:spPr>
        <p:txBody>
          <a:bodyPr wrap="square" lIns="0" tIns="0" rIns="0" bIns="0" rtlCol="0" anchor="ctr"/>
          <a:lstStyle/>
          <a:p>
            <a:pPr indent="0" marL="0">
              <a:buNone/>
            </a:pPr>
            <a:r>
              <a:rPr lang="en-US" sz="1300" b="1" dirty="0">
                <a:solidFill>
                  <a:srgbClr val="111827"/>
                </a:solidFill>
                <a:latin typeface="Arial" pitchFamily="34" charset="0"/>
                <a:ea typeface="Arial" pitchFamily="34" charset="-122"/>
                <a:cs typeface="Arial" pitchFamily="34" charset="-120"/>
              </a:rPr>
              <a:t>Nine features</a:t>
            </a:r>
            <a:endParaRPr lang="en-US" sz="1300" dirty="0"/>
          </a:p>
        </p:txBody>
      </p:sp>
      <p:sp>
        <p:nvSpPr>
          <p:cNvPr id="8" name="Text 6"/>
          <p:cNvSpPr txBox="1"/>
          <p:nvPr/>
        </p:nvSpPr>
        <p:spPr>
          <a:xfrm>
            <a:off x="2103120" y="3026664"/>
            <a:ext cx="2926080" cy="54864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Time to start, total time, pauses, strokes, speed, smoothness, size, shape.</a:t>
            </a:r>
            <a:endParaRPr lang="en-US" sz="1100" dirty="0"/>
          </a:p>
        </p:txBody>
      </p:sp>
      <p:sp>
        <p:nvSpPr>
          <p:cNvPr id="9" name="Text 7"/>
          <p:cNvSpPr txBox="1"/>
          <p:nvPr/>
        </p:nvSpPr>
        <p:spPr>
          <a:xfrm>
            <a:off x="548640" y="3630168"/>
            <a:ext cx="1554480" cy="548640"/>
          </a:xfrm>
          <a:prstGeom prst="rect">
            <a:avLst/>
          </a:prstGeom>
          <a:noFill/>
          <a:ln/>
        </p:spPr>
        <p:txBody>
          <a:bodyPr wrap="square" lIns="0" tIns="0" rIns="0" bIns="0" rtlCol="0" anchor="ctr"/>
          <a:lstStyle/>
          <a:p>
            <a:pPr indent="0" marL="0">
              <a:buNone/>
            </a:pPr>
            <a:r>
              <a:rPr lang="en-US" sz="1300" b="1" dirty="0">
                <a:solidFill>
                  <a:srgbClr val="111827"/>
                </a:solidFill>
                <a:latin typeface="Arial" pitchFamily="34" charset="0"/>
                <a:ea typeface="Arial" pitchFamily="34" charset="-122"/>
                <a:cs typeface="Arial" pitchFamily="34" charset="-120"/>
              </a:rPr>
              <a:t>Robust z</a:t>
            </a:r>
            <a:endParaRPr lang="en-US" sz="1300" dirty="0"/>
          </a:p>
        </p:txBody>
      </p:sp>
      <p:sp>
        <p:nvSpPr>
          <p:cNvPr id="10" name="Text 8"/>
          <p:cNvSpPr txBox="1"/>
          <p:nvPr/>
        </p:nvSpPr>
        <p:spPr>
          <a:xfrm>
            <a:off x="2103120" y="3630168"/>
            <a:ext cx="2926080" cy="54864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Today minus usual, over the spread. Two features past 2 is different from usual; three days is a trend.</a:t>
            </a:r>
            <a:endParaRPr lang="en-US" sz="1100" dirty="0"/>
          </a:p>
        </p:txBody>
      </p:sp>
      <p:sp>
        <p:nvSpPr>
          <p:cNvPr id="11" name="Text 9"/>
          <p:cNvSpPr txBox="1"/>
          <p:nvPr/>
        </p:nvSpPr>
        <p:spPr>
          <a:xfrm>
            <a:off x="548640" y="4233672"/>
            <a:ext cx="1554480" cy="548640"/>
          </a:xfrm>
          <a:prstGeom prst="rect">
            <a:avLst/>
          </a:prstGeom>
          <a:noFill/>
          <a:ln/>
        </p:spPr>
        <p:txBody>
          <a:bodyPr wrap="square" lIns="0" tIns="0" rIns="0" bIns="0" rtlCol="0" anchor="ctr"/>
          <a:lstStyle/>
          <a:p>
            <a:pPr indent="0" marL="0">
              <a:buNone/>
            </a:pPr>
            <a:r>
              <a:rPr lang="en-US" sz="1300" b="1" dirty="0">
                <a:solidFill>
                  <a:srgbClr val="111827"/>
                </a:solidFill>
                <a:latin typeface="Arial" pitchFamily="34" charset="0"/>
                <a:ea typeface="Arial" pitchFamily="34" charset="-122"/>
                <a:cs typeface="Arial" pitchFamily="34" charset="-120"/>
              </a:rPr>
              <a:t>Who sees it</a:t>
            </a:r>
            <a:endParaRPr lang="en-US" sz="1300" dirty="0"/>
          </a:p>
        </p:txBody>
      </p:sp>
      <p:sp>
        <p:nvSpPr>
          <p:cNvPr id="12" name="Text 10"/>
          <p:cNvSpPr txBox="1"/>
          <p:nvPr/>
        </p:nvSpPr>
        <p:spPr>
          <a:xfrm>
            <a:off x="2103120" y="4233672"/>
            <a:ext cx="2926080" cy="54864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The family and the clinic. Margaret sees a thank-you and her page in the book.</a:t>
            </a:r>
            <a:endParaRPr lang="en-US" sz="1100" dirty="0"/>
          </a:p>
        </p:txBody>
      </p:sp>
      <p:sp>
        <p:nvSpPr>
          <p:cNvPr id="13" name="Shape 11"/>
          <p:cNvSpPr/>
          <p:nvPr/>
        </p:nvSpPr>
        <p:spPr>
          <a:xfrm>
            <a:off x="5349240" y="411480"/>
            <a:ext cx="3429000" cy="4343400"/>
          </a:xfrm>
          <a:prstGeom prst="roundRect">
            <a:avLst>
              <a:gd name="adj" fmla="val 4000"/>
            </a:avLst>
          </a:prstGeom>
          <a:solidFill>
            <a:srgbClr val="F3F4F6"/>
          </a:solidFill>
          <a:ln w="12700">
            <a:solidFill>
              <a:srgbClr val="4B5563"/>
            </a:solidFill>
            <a:prstDash val="solid"/>
          </a:ln>
        </p:spPr>
      </p:sp>
      <p:pic>
        <p:nvPicPr>
          <p:cNvPr id="14" name="Image 0" descr="../shots/backend-fit.png">    </p:cNvPr>
          <p:cNvPicPr>
            <a:picLocks noChangeAspect="1"/>
          </p:cNvPicPr>
          <p:nvPr/>
        </p:nvPicPr>
        <p:blipFill>
          <a:blip r:embed="rId1"/>
          <a:stretch>
            <a:fillRect/>
          </a:stretch>
        </p:blipFill>
        <p:spPr>
          <a:xfrm>
            <a:off x="5486400" y="548640"/>
            <a:ext cx="3154680" cy="395978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5486400" cy="594360"/>
          </a:xfrm>
          <a:prstGeom prst="rect">
            <a:avLst/>
          </a:prstGeom>
          <a:noFill/>
          <a:ln/>
        </p:spPr>
        <p:txBody>
          <a:bodyPr wrap="square" lIns="0" tIns="0" rIns="0" bIns="0" rtlCol="0" anchor="ctr"/>
          <a:lstStyle/>
          <a:p>
            <a:pPr indent="0" marL="0">
              <a:buNone/>
            </a:pPr>
            <a:r>
              <a:rPr lang="en-US" sz="3400" b="1" dirty="0">
                <a:solidFill>
                  <a:srgbClr val="111827"/>
                </a:solidFill>
                <a:latin typeface="Arial" pitchFamily="34" charset="0"/>
                <a:ea typeface="Arial" pitchFamily="34" charset="-122"/>
                <a:cs typeface="Arial" pitchFamily="34" charset="-120"/>
              </a:rPr>
              <a:t>Why delirium first.</a:t>
            </a:r>
            <a:endParaRPr lang="en-US" sz="3400" dirty="0"/>
          </a:p>
        </p:txBody>
      </p:sp>
      <p:sp>
        <p:nvSpPr>
          <p:cNvPr id="3" name="Text 1"/>
          <p:cNvSpPr txBox="1"/>
          <p:nvPr/>
        </p:nvSpPr>
        <p:spPr>
          <a:xfrm>
            <a:off x="548640" y="960120"/>
            <a:ext cx="5669280" cy="594360"/>
          </a:xfrm>
          <a:prstGeom prst="rect">
            <a:avLst/>
          </a:prstGeom>
          <a:noFill/>
          <a:ln/>
        </p:spPr>
        <p:txBody>
          <a:bodyPr wrap="square" lIns="0" tIns="0" rIns="0" bIns="0" rtlCol="0" anchor="ctr"/>
          <a:lstStyle/>
          <a:p>
            <a:pPr indent="0" marL="0">
              <a:buNone/>
            </a:pPr>
            <a:r>
              <a:rPr lang="en-US" sz="1500" dirty="0">
                <a:solidFill>
                  <a:srgbClr val="4B5563"/>
                </a:solidFill>
                <a:latin typeface="Arial" pitchFamily="34" charset="0"/>
                <a:ea typeface="Arial" pitchFamily="34" charset="-122"/>
                <a:cs typeface="Arial" pitchFamily="34" charset="-120"/>
              </a:rPr>
              <a:t>Every instrument measures the same four things. None can see the fifth, because nobody re-tests hours later. A daily visit can.</a:t>
            </a:r>
            <a:endParaRPr lang="en-US" sz="1500" dirty="0"/>
          </a:p>
        </p:txBody>
      </p:sp>
      <p:sp>
        <p:nvSpPr>
          <p:cNvPr id="4" name="Shape 2"/>
          <p:cNvSpPr/>
          <p:nvPr/>
        </p:nvSpPr>
        <p:spPr>
          <a:xfrm>
            <a:off x="548640" y="1691640"/>
            <a:ext cx="1828800" cy="1188720"/>
          </a:xfrm>
          <a:prstGeom prst="roundRect">
            <a:avLst>
              <a:gd name="adj" fmla="val 11538"/>
            </a:avLst>
          </a:prstGeom>
          <a:solidFill>
            <a:srgbClr val="F3F4F6"/>
          </a:solidFill>
          <a:ln w="12700">
            <a:solidFill>
              <a:srgbClr val="4B5563"/>
            </a:solidFill>
            <a:prstDash val="solid"/>
          </a:ln>
        </p:spPr>
      </p:sp>
      <p:sp>
        <p:nvSpPr>
          <p:cNvPr id="5" name="Text 3"/>
          <p:cNvSpPr txBox="1"/>
          <p:nvPr/>
        </p:nvSpPr>
        <p:spPr>
          <a:xfrm>
            <a:off x="685800" y="1801368"/>
            <a:ext cx="1600200" cy="365760"/>
          </a:xfrm>
          <a:prstGeom prst="rect">
            <a:avLst/>
          </a:prstGeom>
          <a:noFill/>
          <a:ln/>
        </p:spPr>
        <p:txBody>
          <a:bodyPr wrap="square" lIns="0" tIns="0" rIns="0" bIns="0" rtlCol="0" anchor="ctr"/>
          <a:lstStyle/>
          <a:p>
            <a:pPr indent="0" marL="0">
              <a:buNone/>
            </a:pPr>
            <a:r>
              <a:rPr lang="en-US" sz="1400" b="1" dirty="0">
                <a:solidFill>
                  <a:srgbClr val="111827"/>
                </a:solidFill>
                <a:latin typeface="Arial" pitchFamily="34" charset="0"/>
                <a:ea typeface="Arial" pitchFamily="34" charset="-122"/>
                <a:cs typeface="Arial" pitchFamily="34" charset="-120"/>
              </a:rPr>
              <a:t>Attention</a:t>
            </a:r>
            <a:endParaRPr lang="en-US" sz="1400" dirty="0"/>
          </a:p>
        </p:txBody>
      </p:sp>
      <p:sp>
        <p:nvSpPr>
          <p:cNvPr id="6" name="Text 4"/>
          <p:cNvSpPr txBox="1"/>
          <p:nvPr/>
        </p:nvSpPr>
        <p:spPr>
          <a:xfrm>
            <a:off x="685800" y="2194560"/>
            <a:ext cx="1600200" cy="640080"/>
          </a:xfrm>
          <a:prstGeom prst="rect">
            <a:avLst/>
          </a:prstGeom>
          <a:noFill/>
          <a:ln/>
        </p:spPr>
        <p:txBody>
          <a:bodyPr wrap="square" lIns="0" tIns="0" rIns="0" bIns="0" rtlCol="0" anchor="ctr"/>
          <a:lstStyle/>
          <a:p>
            <a:pPr indent="0" marL="0">
              <a:buNone/>
            </a:pPr>
            <a:r>
              <a:rPr lang="en-US" sz="1050" dirty="0">
                <a:solidFill>
                  <a:srgbClr val="4B5563"/>
                </a:solidFill>
                <a:latin typeface="Arial" pitchFamily="34" charset="0"/>
                <a:ea typeface="Arial" pitchFamily="34" charset="-122"/>
                <a:cs typeface="Arial" pitchFamily="34" charset="-120"/>
              </a:rPr>
              <a:t>days backwards, search time in the puzzle</a:t>
            </a:r>
            <a:endParaRPr lang="en-US" sz="1050" dirty="0"/>
          </a:p>
        </p:txBody>
      </p:sp>
      <p:sp>
        <p:nvSpPr>
          <p:cNvPr id="7" name="Shape 5"/>
          <p:cNvSpPr/>
          <p:nvPr/>
        </p:nvSpPr>
        <p:spPr>
          <a:xfrm>
            <a:off x="2514600" y="1691640"/>
            <a:ext cx="1828800" cy="1188720"/>
          </a:xfrm>
          <a:prstGeom prst="roundRect">
            <a:avLst>
              <a:gd name="adj" fmla="val 11538"/>
            </a:avLst>
          </a:prstGeom>
          <a:solidFill>
            <a:srgbClr val="F3F4F6"/>
          </a:solidFill>
          <a:ln w="12700">
            <a:solidFill>
              <a:srgbClr val="4B5563"/>
            </a:solidFill>
            <a:prstDash val="solid"/>
          </a:ln>
        </p:spPr>
      </p:sp>
      <p:sp>
        <p:nvSpPr>
          <p:cNvPr id="8" name="Text 6"/>
          <p:cNvSpPr txBox="1"/>
          <p:nvPr/>
        </p:nvSpPr>
        <p:spPr>
          <a:xfrm>
            <a:off x="2651760" y="1801368"/>
            <a:ext cx="1600200" cy="365760"/>
          </a:xfrm>
          <a:prstGeom prst="rect">
            <a:avLst/>
          </a:prstGeom>
          <a:noFill/>
          <a:ln/>
        </p:spPr>
        <p:txBody>
          <a:bodyPr wrap="square" lIns="0" tIns="0" rIns="0" bIns="0" rtlCol="0" anchor="ctr"/>
          <a:lstStyle/>
          <a:p>
            <a:pPr indent="0" marL="0">
              <a:buNone/>
            </a:pPr>
            <a:r>
              <a:rPr lang="en-US" sz="1400" b="1" dirty="0">
                <a:solidFill>
                  <a:srgbClr val="111827"/>
                </a:solidFill>
                <a:latin typeface="Arial" pitchFamily="34" charset="0"/>
                <a:ea typeface="Arial" pitchFamily="34" charset="-122"/>
                <a:cs typeface="Arial" pitchFamily="34" charset="-120"/>
              </a:rPr>
              <a:t>Orientation</a:t>
            </a:r>
            <a:endParaRPr lang="en-US" sz="1400" dirty="0"/>
          </a:p>
        </p:txBody>
      </p:sp>
      <p:sp>
        <p:nvSpPr>
          <p:cNvPr id="9" name="Text 7"/>
          <p:cNvSpPr txBox="1"/>
          <p:nvPr/>
        </p:nvSpPr>
        <p:spPr>
          <a:xfrm>
            <a:off x="2651760" y="2194560"/>
            <a:ext cx="1600200" cy="640080"/>
          </a:xfrm>
          <a:prstGeom prst="rect">
            <a:avLst/>
          </a:prstGeom>
          <a:noFill/>
          <a:ln/>
        </p:spPr>
        <p:txBody>
          <a:bodyPr wrap="square" lIns="0" tIns="0" rIns="0" bIns="0" rtlCol="0" anchor="ctr"/>
          <a:lstStyle/>
          <a:p>
            <a:pPr indent="0" marL="0">
              <a:buNone/>
            </a:pPr>
            <a:r>
              <a:rPr lang="en-US" sz="1050" dirty="0">
                <a:solidFill>
                  <a:srgbClr val="4B5563"/>
                </a:solidFill>
                <a:latin typeface="Arial" pitchFamily="34" charset="0"/>
                <a:ea typeface="Arial" pitchFamily="34" charset="-122"/>
                <a:cs typeface="Arial" pitchFamily="34" charset="-120"/>
              </a:rPr>
              <a:t>“What is today?” as a friend would ask</a:t>
            </a:r>
            <a:endParaRPr lang="en-US" sz="1050" dirty="0"/>
          </a:p>
        </p:txBody>
      </p:sp>
      <p:sp>
        <p:nvSpPr>
          <p:cNvPr id="10" name="Shape 8"/>
          <p:cNvSpPr/>
          <p:nvPr/>
        </p:nvSpPr>
        <p:spPr>
          <a:xfrm>
            <a:off x="4480560" y="1691640"/>
            <a:ext cx="1828800" cy="1188720"/>
          </a:xfrm>
          <a:prstGeom prst="roundRect">
            <a:avLst>
              <a:gd name="adj" fmla="val 11538"/>
            </a:avLst>
          </a:prstGeom>
          <a:solidFill>
            <a:srgbClr val="F3F4F6"/>
          </a:solidFill>
          <a:ln w="12700">
            <a:solidFill>
              <a:srgbClr val="4B5563"/>
            </a:solidFill>
            <a:prstDash val="solid"/>
          </a:ln>
        </p:spPr>
      </p:sp>
      <p:sp>
        <p:nvSpPr>
          <p:cNvPr id="11" name="Text 9"/>
          <p:cNvSpPr txBox="1"/>
          <p:nvPr/>
        </p:nvSpPr>
        <p:spPr>
          <a:xfrm>
            <a:off x="4617720" y="1801368"/>
            <a:ext cx="1600200" cy="365760"/>
          </a:xfrm>
          <a:prstGeom prst="rect">
            <a:avLst/>
          </a:prstGeom>
          <a:noFill/>
          <a:ln/>
        </p:spPr>
        <p:txBody>
          <a:bodyPr wrap="square" lIns="0" tIns="0" rIns="0" bIns="0" rtlCol="0" anchor="ctr"/>
          <a:lstStyle/>
          <a:p>
            <a:pPr indent="0" marL="0">
              <a:buNone/>
            </a:pPr>
            <a:r>
              <a:rPr lang="en-US" sz="1400" b="1" dirty="0">
                <a:solidFill>
                  <a:srgbClr val="111827"/>
                </a:solidFill>
                <a:latin typeface="Arial" pitchFamily="34" charset="0"/>
                <a:ea typeface="Arial" pitchFamily="34" charset="-122"/>
                <a:cs typeface="Arial" pitchFamily="34" charset="-120"/>
              </a:rPr>
              <a:t>Disorganised thinking</a:t>
            </a:r>
            <a:endParaRPr lang="en-US" sz="1400" dirty="0"/>
          </a:p>
        </p:txBody>
      </p:sp>
      <p:sp>
        <p:nvSpPr>
          <p:cNvPr id="12" name="Text 10"/>
          <p:cNvSpPr txBox="1"/>
          <p:nvPr/>
        </p:nvSpPr>
        <p:spPr>
          <a:xfrm>
            <a:off x="4617720" y="2194560"/>
            <a:ext cx="1600200" cy="640080"/>
          </a:xfrm>
          <a:prstGeom prst="rect">
            <a:avLst/>
          </a:prstGeom>
          <a:noFill/>
          <a:ln/>
        </p:spPr>
        <p:txBody>
          <a:bodyPr wrap="square" lIns="0" tIns="0" rIns="0" bIns="0" rtlCol="0" anchor="ctr"/>
          <a:lstStyle/>
          <a:p>
            <a:pPr indent="0" marL="0">
              <a:buNone/>
            </a:pPr>
            <a:r>
              <a:rPr lang="en-US" sz="1050" dirty="0">
                <a:solidFill>
                  <a:srgbClr val="4B5563"/>
                </a:solidFill>
                <a:latin typeface="Arial" pitchFamily="34" charset="0"/>
                <a:ea typeface="Arial" pitchFamily="34" charset="-122"/>
                <a:cs typeface="Arial" pitchFamily="34" charset="-120"/>
              </a:rPr>
              <a:t>coherence of her own words, order in the puzzle</a:t>
            </a:r>
            <a:endParaRPr lang="en-US" sz="1050" dirty="0"/>
          </a:p>
        </p:txBody>
      </p:sp>
      <p:sp>
        <p:nvSpPr>
          <p:cNvPr id="13" name="Shape 11"/>
          <p:cNvSpPr/>
          <p:nvPr/>
        </p:nvSpPr>
        <p:spPr>
          <a:xfrm>
            <a:off x="548640" y="3063240"/>
            <a:ext cx="1828800" cy="1188720"/>
          </a:xfrm>
          <a:prstGeom prst="roundRect">
            <a:avLst>
              <a:gd name="adj" fmla="val 11538"/>
            </a:avLst>
          </a:prstGeom>
          <a:solidFill>
            <a:srgbClr val="F3F4F6"/>
          </a:solidFill>
          <a:ln w="12700">
            <a:solidFill>
              <a:srgbClr val="4B5563"/>
            </a:solidFill>
            <a:prstDash val="solid"/>
          </a:ln>
        </p:spPr>
      </p:sp>
      <p:sp>
        <p:nvSpPr>
          <p:cNvPr id="14" name="Text 12"/>
          <p:cNvSpPr txBox="1"/>
          <p:nvPr/>
        </p:nvSpPr>
        <p:spPr>
          <a:xfrm>
            <a:off x="685800" y="3172968"/>
            <a:ext cx="1600200" cy="365760"/>
          </a:xfrm>
          <a:prstGeom prst="rect">
            <a:avLst/>
          </a:prstGeom>
          <a:noFill/>
          <a:ln/>
        </p:spPr>
        <p:txBody>
          <a:bodyPr wrap="square" lIns="0" tIns="0" rIns="0" bIns="0" rtlCol="0" anchor="ctr"/>
          <a:lstStyle/>
          <a:p>
            <a:pPr indent="0" marL="0">
              <a:buNone/>
            </a:pPr>
            <a:r>
              <a:rPr lang="en-US" sz="1400" b="1" dirty="0">
                <a:solidFill>
                  <a:srgbClr val="111827"/>
                </a:solidFill>
                <a:latin typeface="Arial" pitchFamily="34" charset="0"/>
                <a:ea typeface="Arial" pitchFamily="34" charset="-122"/>
                <a:cs typeface="Arial" pitchFamily="34" charset="-120"/>
              </a:rPr>
              <a:t>Arousal</a:t>
            </a:r>
            <a:endParaRPr lang="en-US" sz="1400" dirty="0"/>
          </a:p>
        </p:txBody>
      </p:sp>
      <p:sp>
        <p:nvSpPr>
          <p:cNvPr id="15" name="Text 13"/>
          <p:cNvSpPr txBox="1"/>
          <p:nvPr/>
        </p:nvSpPr>
        <p:spPr>
          <a:xfrm>
            <a:off x="685800" y="3566160"/>
            <a:ext cx="1600200" cy="640080"/>
          </a:xfrm>
          <a:prstGeom prst="rect">
            <a:avLst/>
          </a:prstGeom>
          <a:noFill/>
          <a:ln/>
        </p:spPr>
        <p:txBody>
          <a:bodyPr wrap="square" lIns="0" tIns="0" rIns="0" bIns="0" rtlCol="0" anchor="ctr"/>
          <a:lstStyle/>
          <a:p>
            <a:pPr indent="0" marL="0">
              <a:buNone/>
            </a:pPr>
            <a:r>
              <a:rPr lang="en-US" sz="1050" dirty="0">
                <a:solidFill>
                  <a:srgbClr val="4B5563"/>
                </a:solidFill>
                <a:latin typeface="Arial" pitchFamily="34" charset="0"/>
                <a:ea typeface="Arial" pitchFamily="34" charset="-122"/>
                <a:cs typeface="Arial" pitchFamily="34" charset="-120"/>
              </a:rPr>
              <a:t>did she open it, how fast did she start</a:t>
            </a:r>
            <a:endParaRPr lang="en-US" sz="1050" dirty="0"/>
          </a:p>
        </p:txBody>
      </p:sp>
      <p:sp>
        <p:nvSpPr>
          <p:cNvPr id="16" name="Shape 14"/>
          <p:cNvSpPr/>
          <p:nvPr/>
        </p:nvSpPr>
        <p:spPr>
          <a:xfrm>
            <a:off x="2514600" y="3063240"/>
            <a:ext cx="1828800" cy="1188720"/>
          </a:xfrm>
          <a:prstGeom prst="roundRect">
            <a:avLst>
              <a:gd name="adj" fmla="val 11538"/>
            </a:avLst>
          </a:prstGeom>
          <a:solidFill>
            <a:srgbClr val="1E40AF"/>
          </a:solidFill>
          <a:ln w="12700">
            <a:solidFill>
              <a:srgbClr val="4B5563"/>
            </a:solidFill>
            <a:prstDash val="solid"/>
          </a:ln>
        </p:spPr>
      </p:sp>
      <p:sp>
        <p:nvSpPr>
          <p:cNvPr id="17" name="Text 15"/>
          <p:cNvSpPr txBox="1"/>
          <p:nvPr/>
        </p:nvSpPr>
        <p:spPr>
          <a:xfrm>
            <a:off x="2651760" y="3172968"/>
            <a:ext cx="1600200" cy="3657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Fluctuation</a:t>
            </a:r>
            <a:endParaRPr lang="en-US" sz="1400" dirty="0"/>
          </a:p>
        </p:txBody>
      </p:sp>
      <p:sp>
        <p:nvSpPr>
          <p:cNvPr id="18" name="Text 16"/>
          <p:cNvSpPr txBox="1"/>
          <p:nvPr/>
        </p:nvSpPr>
        <p:spPr>
          <a:xfrm>
            <a:off x="2651760" y="3566160"/>
            <a:ext cx="1600200" cy="640080"/>
          </a:xfrm>
          <a:prstGeom prst="rect">
            <a:avLst/>
          </a:prstGeom>
          <a:noFill/>
          <a:ln/>
        </p:spPr>
        <p:txBody>
          <a:bodyPr wrap="square" lIns="0" tIns="0" rIns="0" bIns="0" rtlCol="0" anchor="ctr"/>
          <a:lstStyle/>
          <a:p>
            <a:pPr indent="0" marL="0">
              <a:buNone/>
            </a:pPr>
            <a:r>
              <a:rPr lang="en-US" sz="1050" dirty="0">
                <a:solidFill>
                  <a:srgbClr val="DBEAFE"/>
                </a:solidFill>
                <a:latin typeface="Arial" pitchFamily="34" charset="0"/>
                <a:ea typeface="Arial" pitchFamily="34" charset="-122"/>
                <a:cs typeface="Arial" pitchFamily="34" charset="-120"/>
              </a:rPr>
              <a:t>morning vs evening, day vs her own baseline</a:t>
            </a:r>
            <a:endParaRPr lang="en-US" sz="1050" dirty="0"/>
          </a:p>
        </p:txBody>
      </p:sp>
      <p:sp>
        <p:nvSpPr>
          <p:cNvPr id="19" name="Shape 17"/>
          <p:cNvSpPr/>
          <p:nvPr/>
        </p:nvSpPr>
        <p:spPr>
          <a:xfrm>
            <a:off x="6492240" y="1691640"/>
            <a:ext cx="2103120" cy="2560320"/>
          </a:xfrm>
          <a:prstGeom prst="roundRect">
            <a:avLst>
              <a:gd name="adj" fmla="val 6522"/>
            </a:avLst>
          </a:prstGeom>
          <a:solidFill>
            <a:srgbClr val="DBEAFE"/>
          </a:solidFill>
          <a:ln w="12700">
            <a:solidFill>
              <a:srgbClr val="4B5563"/>
            </a:solidFill>
            <a:prstDash val="solid"/>
          </a:ln>
        </p:spPr>
      </p:sp>
      <p:sp>
        <p:nvSpPr>
          <p:cNvPr id="20" name="Text 18"/>
          <p:cNvSpPr txBox="1"/>
          <p:nvPr/>
        </p:nvSpPr>
        <p:spPr>
          <a:xfrm>
            <a:off x="6629400" y="1828800"/>
            <a:ext cx="1828800" cy="731520"/>
          </a:xfrm>
          <a:prstGeom prst="rect">
            <a:avLst/>
          </a:prstGeom>
          <a:noFill/>
          <a:ln/>
        </p:spPr>
        <p:txBody>
          <a:bodyPr wrap="square" lIns="0" tIns="0" rIns="0" bIns="0" rtlCol="0" anchor="ctr"/>
          <a:lstStyle/>
          <a:p>
            <a:pPr indent="0" marL="0">
              <a:buNone/>
            </a:pPr>
            <a:r>
              <a:rPr lang="en-US" sz="4000" b="1" dirty="0">
                <a:solidFill>
                  <a:srgbClr val="1E40AF"/>
                </a:solidFill>
                <a:latin typeface="Arial" pitchFamily="34" charset="0"/>
                <a:ea typeface="Arial" pitchFamily="34" charset="-122"/>
                <a:cs typeface="Arial" pitchFamily="34" charset="-120"/>
              </a:rPr>
              <a:t>40%</a:t>
            </a:r>
            <a:endParaRPr lang="en-US" sz="4000" dirty="0"/>
          </a:p>
        </p:txBody>
      </p:sp>
      <p:sp>
        <p:nvSpPr>
          <p:cNvPr id="21" name="Text 19"/>
          <p:cNvSpPr txBox="1"/>
          <p:nvPr/>
        </p:nvSpPr>
        <p:spPr>
          <a:xfrm>
            <a:off x="6629400" y="2560320"/>
            <a:ext cx="1828800" cy="1554480"/>
          </a:xfrm>
          <a:prstGeom prst="rect">
            <a:avLst/>
          </a:prstGeom>
          <a:noFill/>
          <a:ln/>
        </p:spPr>
        <p:txBody>
          <a:bodyPr wrap="square" lIns="0" tIns="0" rIns="0" bIns="0" rtlCol="0" anchor="ctr"/>
          <a:lstStyle/>
          <a:p>
            <a:pPr indent="0" marL="0">
              <a:buNone/>
            </a:pPr>
            <a:r>
              <a:rPr lang="en-US" sz="1100" dirty="0">
                <a:solidFill>
                  <a:srgbClr val="111827"/>
                </a:solidFill>
                <a:latin typeface="Arial" pitchFamily="34" charset="0"/>
                <a:ea typeface="Arial" pitchFamily="34" charset="-122"/>
                <a:cs typeface="Arial" pitchFamily="34" charset="-120"/>
              </a:rPr>
              <a:t>of delirium is preventable with water, sleep, glasses, hearing aids and a phone call. A flag has a cheap answer.</a:t>
            </a:r>
            <a:endParaRPr lang="en-US" sz="1100" dirty="0"/>
          </a:p>
        </p:txBody>
      </p:sp>
      <p:sp>
        <p:nvSpPr>
          <p:cNvPr id="22" name="Text 20"/>
          <p:cNvSpPr txBox="1"/>
          <p:nvPr/>
        </p:nvSpPr>
        <p:spPr>
          <a:xfrm>
            <a:off x="548640" y="4434840"/>
            <a:ext cx="8046720" cy="457200"/>
          </a:xfrm>
          <a:prstGeom prst="rect">
            <a:avLst/>
          </a:prstGeom>
          <a:noFill/>
          <a:ln/>
        </p:spPr>
        <p:txBody>
          <a:bodyPr wrap="square" lIns="0" tIns="0" rIns="0" bIns="0" rtlCol="0" anchor="ctr"/>
          <a:lstStyle/>
          <a:p>
            <a:pPr indent="0" marL="0">
              <a:buNone/>
            </a:pPr>
            <a:r>
              <a:rPr lang="en-US" sz="1500" i="1" dirty="0">
                <a:solidFill>
                  <a:srgbClr val="1E40AF"/>
                </a:solidFill>
                <a:latin typeface="Arial" pitchFamily="34" charset="0"/>
                <a:ea typeface="Arial" pitchFamily="34" charset="-122"/>
                <a:cs typeface="Arial" pitchFamily="34" charset="-120"/>
              </a:rPr>
              <a:t>Delirium is a change from your own baseline. The home never had one.</a:t>
            </a:r>
            <a:endParaRPr lang="en-US" sz="1500" dirty="0"/>
          </a:p>
        </p:txBody>
      </p:sp>
      <p:pic>
        <p:nvPicPr>
          <p:cNvPr id="23" name="Image 0" descr="../shots/doodle-flower-with-no-petals-blue.png">    </p:cNvPr>
          <p:cNvPicPr>
            <a:picLocks noChangeAspect="1"/>
          </p:cNvPicPr>
          <p:nvPr/>
        </p:nvPicPr>
        <p:blipFill>
          <a:blip r:embed="rId1"/>
          <a:stretch>
            <a:fillRect/>
          </a:stretch>
        </p:blipFill>
        <p:spPr>
          <a:xfrm>
            <a:off x="7818120" y="4206240"/>
            <a:ext cx="868680" cy="8686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The visit carries the clinic’s questions.</a:t>
            </a:r>
            <a:endParaRPr lang="en-US" sz="3200" dirty="0"/>
          </a:p>
        </p:txBody>
      </p:sp>
      <p:sp>
        <p:nvSpPr>
          <p:cNvPr id="3" name="Text 1"/>
          <p:cNvSpPr txBox="1"/>
          <p:nvPr/>
        </p:nvSpPr>
        <p:spPr>
          <a:xfrm>
            <a:off x="548640" y="1005840"/>
            <a:ext cx="4023360" cy="457200"/>
          </a:xfrm>
          <a:prstGeom prst="rect">
            <a:avLst/>
          </a:prstGeom>
          <a:noFill/>
          <a:ln/>
        </p:spPr>
        <p:txBody>
          <a:bodyPr wrap="square" lIns="0" tIns="0" rIns="0" bIns="0" rtlCol="0" anchor="ctr"/>
          <a:lstStyle/>
          <a:p>
            <a:pPr indent="0" marL="0">
              <a:buNone/>
            </a:pPr>
            <a:r>
              <a:rPr lang="en-US" sz="1400" dirty="0">
                <a:solidFill>
                  <a:srgbClr val="4B5563"/>
                </a:solidFill>
                <a:latin typeface="Arial" pitchFamily="34" charset="0"/>
                <a:ea typeface="Arial" pitchFamily="34" charset="-122"/>
                <a:cs typeface="Arial" pitchFamily="34" charset="-120"/>
              </a:rPr>
              <a:t>A nurse writes the question in plain words. Ernie asks it every morning.</a:t>
            </a:r>
            <a:endParaRPr lang="en-US" sz="1400" dirty="0"/>
          </a:p>
        </p:txBody>
      </p:sp>
      <p:sp>
        <p:nvSpPr>
          <p:cNvPr id="4" name="Shape 2"/>
          <p:cNvSpPr/>
          <p:nvPr/>
        </p:nvSpPr>
        <p:spPr>
          <a:xfrm>
            <a:off x="548640" y="1554480"/>
            <a:ext cx="4023360" cy="502920"/>
          </a:xfrm>
          <a:prstGeom prst="roundRect">
            <a:avLst>
              <a:gd name="adj" fmla="val 27273"/>
            </a:avLst>
          </a:prstGeom>
          <a:solidFill>
            <a:srgbClr val="F3F4F6"/>
          </a:solidFill>
          <a:ln w="12700">
            <a:solidFill>
              <a:srgbClr val="4B5563"/>
            </a:solidFill>
            <a:prstDash val="solid"/>
          </a:ln>
        </p:spPr>
      </p:sp>
      <p:sp>
        <p:nvSpPr>
          <p:cNvPr id="5" name="Text 3"/>
          <p:cNvSpPr txBox="1"/>
          <p:nvPr/>
        </p:nvSpPr>
        <p:spPr>
          <a:xfrm>
            <a:off x="731520" y="1554480"/>
            <a:ext cx="3749040" cy="502920"/>
          </a:xfrm>
          <a:prstGeom prst="rect">
            <a:avLst/>
          </a:prstGeom>
          <a:noFill/>
          <a:ln/>
        </p:spPr>
        <p:txBody>
          <a:bodyPr wrap="square" lIns="0" tIns="0" rIns="0" bIns="0" rtlCol="0" anchor="ctr"/>
          <a:lstStyle/>
          <a:p>
            <a:pPr indent="0" marL="0">
              <a:buNone/>
            </a:pPr>
            <a:r>
              <a:rPr lang="en-US" sz="1300" dirty="0">
                <a:solidFill>
                  <a:srgbClr val="111827"/>
                </a:solidFill>
                <a:latin typeface="Arial" pitchFamily="34" charset="0"/>
                <a:ea typeface="Arial" pitchFamily="34" charset="-122"/>
                <a:cs typeface="Arial" pitchFamily="34" charset="-120"/>
              </a:rPr>
              <a:t>What does the scale say this morning?</a:t>
            </a:r>
            <a:endParaRPr lang="en-US" sz="1300" dirty="0"/>
          </a:p>
        </p:txBody>
      </p:sp>
      <p:sp>
        <p:nvSpPr>
          <p:cNvPr id="6" name="Shape 4"/>
          <p:cNvSpPr/>
          <p:nvPr/>
        </p:nvSpPr>
        <p:spPr>
          <a:xfrm>
            <a:off x="548640" y="2176272"/>
            <a:ext cx="4023360" cy="502920"/>
          </a:xfrm>
          <a:prstGeom prst="roundRect">
            <a:avLst>
              <a:gd name="adj" fmla="val 27273"/>
            </a:avLst>
          </a:prstGeom>
          <a:solidFill>
            <a:srgbClr val="F3F4F6"/>
          </a:solidFill>
          <a:ln w="12700">
            <a:solidFill>
              <a:srgbClr val="4B5563"/>
            </a:solidFill>
            <a:prstDash val="solid"/>
          </a:ln>
        </p:spPr>
      </p:sp>
      <p:sp>
        <p:nvSpPr>
          <p:cNvPr id="7" name="Text 5"/>
          <p:cNvSpPr txBox="1"/>
          <p:nvPr/>
        </p:nvSpPr>
        <p:spPr>
          <a:xfrm>
            <a:off x="731520" y="2176272"/>
            <a:ext cx="3749040" cy="502920"/>
          </a:xfrm>
          <a:prstGeom prst="rect">
            <a:avLst/>
          </a:prstGeom>
          <a:noFill/>
          <a:ln/>
        </p:spPr>
        <p:txBody>
          <a:bodyPr wrap="square" lIns="0" tIns="0" rIns="0" bIns="0" rtlCol="0" anchor="ctr"/>
          <a:lstStyle/>
          <a:p>
            <a:pPr indent="0" marL="0">
              <a:buNone/>
            </a:pPr>
            <a:r>
              <a:rPr lang="en-US" sz="1300" dirty="0">
                <a:solidFill>
                  <a:srgbClr val="111827"/>
                </a:solidFill>
                <a:latin typeface="Arial" pitchFamily="34" charset="0"/>
                <a:ea typeface="Arial" pitchFamily="34" charset="-122"/>
                <a:cs typeface="Arial" pitchFamily="34" charset="-120"/>
              </a:rPr>
              <a:t>Is it harder to breathe today than yesterday?</a:t>
            </a:r>
            <a:endParaRPr lang="en-US" sz="1300" dirty="0"/>
          </a:p>
        </p:txBody>
      </p:sp>
      <p:sp>
        <p:nvSpPr>
          <p:cNvPr id="8" name="Shape 6"/>
          <p:cNvSpPr/>
          <p:nvPr/>
        </p:nvSpPr>
        <p:spPr>
          <a:xfrm>
            <a:off x="548640" y="2798064"/>
            <a:ext cx="4023360" cy="502920"/>
          </a:xfrm>
          <a:prstGeom prst="roundRect">
            <a:avLst>
              <a:gd name="adj" fmla="val 27273"/>
            </a:avLst>
          </a:prstGeom>
          <a:solidFill>
            <a:srgbClr val="F3F4F6"/>
          </a:solidFill>
          <a:ln w="12700">
            <a:solidFill>
              <a:srgbClr val="4B5563"/>
            </a:solidFill>
            <a:prstDash val="solid"/>
          </a:ln>
        </p:spPr>
      </p:sp>
      <p:sp>
        <p:nvSpPr>
          <p:cNvPr id="9" name="Text 7"/>
          <p:cNvSpPr txBox="1"/>
          <p:nvPr/>
        </p:nvSpPr>
        <p:spPr>
          <a:xfrm>
            <a:off x="731520" y="2798064"/>
            <a:ext cx="3749040" cy="502920"/>
          </a:xfrm>
          <a:prstGeom prst="rect">
            <a:avLst/>
          </a:prstGeom>
          <a:noFill/>
          <a:ln/>
        </p:spPr>
        <p:txBody>
          <a:bodyPr wrap="square" lIns="0" tIns="0" rIns="0" bIns="0" rtlCol="0" anchor="ctr"/>
          <a:lstStyle/>
          <a:p>
            <a:pPr indent="0" marL="0">
              <a:buNone/>
            </a:pPr>
            <a:r>
              <a:rPr lang="en-US" sz="1300" dirty="0">
                <a:solidFill>
                  <a:srgbClr val="111827"/>
                </a:solidFill>
                <a:latin typeface="Arial" pitchFamily="34" charset="0"/>
                <a:ea typeface="Arial" pitchFamily="34" charset="-122"/>
                <a:cs typeface="Arial" pitchFamily="34" charset="-120"/>
              </a:rPr>
              <a:t>Can you say the days of the week backwards?</a:t>
            </a:r>
            <a:endParaRPr lang="en-US" sz="1300" dirty="0"/>
          </a:p>
        </p:txBody>
      </p:sp>
      <p:sp>
        <p:nvSpPr>
          <p:cNvPr id="10" name="Shape 8"/>
          <p:cNvSpPr/>
          <p:nvPr/>
        </p:nvSpPr>
        <p:spPr>
          <a:xfrm>
            <a:off x="548640" y="3419856"/>
            <a:ext cx="4023360" cy="502920"/>
          </a:xfrm>
          <a:prstGeom prst="roundRect">
            <a:avLst>
              <a:gd name="adj" fmla="val 27273"/>
            </a:avLst>
          </a:prstGeom>
          <a:solidFill>
            <a:srgbClr val="F3F4F6"/>
          </a:solidFill>
          <a:ln w="12700">
            <a:solidFill>
              <a:srgbClr val="4B5563"/>
            </a:solidFill>
            <a:prstDash val="solid"/>
          </a:ln>
        </p:spPr>
      </p:sp>
      <p:sp>
        <p:nvSpPr>
          <p:cNvPr id="11" name="Text 9"/>
          <p:cNvSpPr txBox="1"/>
          <p:nvPr/>
        </p:nvSpPr>
        <p:spPr>
          <a:xfrm>
            <a:off x="731520" y="3419856"/>
            <a:ext cx="3749040" cy="502920"/>
          </a:xfrm>
          <a:prstGeom prst="rect">
            <a:avLst/>
          </a:prstGeom>
          <a:noFill/>
          <a:ln/>
        </p:spPr>
        <p:txBody>
          <a:bodyPr wrap="square" lIns="0" tIns="0" rIns="0" bIns="0" rtlCol="0" anchor="ctr"/>
          <a:lstStyle/>
          <a:p>
            <a:pPr indent="0" marL="0">
              <a:buNone/>
            </a:pPr>
            <a:r>
              <a:rPr lang="en-US" sz="1300" dirty="0">
                <a:solidFill>
                  <a:srgbClr val="111827"/>
                </a:solidFill>
                <a:latin typeface="Arial" pitchFamily="34" charset="0"/>
                <a:ea typeface="Arial" pitchFamily="34" charset="-122"/>
                <a:cs typeface="Arial" pitchFamily="34" charset="-120"/>
              </a:rPr>
              <a:t>What have you been up to today?</a:t>
            </a:r>
            <a:endParaRPr lang="en-US" sz="1300" dirty="0"/>
          </a:p>
        </p:txBody>
      </p:sp>
      <p:sp>
        <p:nvSpPr>
          <p:cNvPr id="12" name="Text 10"/>
          <p:cNvSpPr txBox="1"/>
          <p:nvPr/>
        </p:nvSpPr>
        <p:spPr>
          <a:xfrm>
            <a:off x="548640" y="4114800"/>
            <a:ext cx="4023360" cy="457200"/>
          </a:xfrm>
          <a:prstGeom prst="rect">
            <a:avLst/>
          </a:prstGeom>
          <a:noFill/>
          <a:ln/>
        </p:spPr>
        <p:txBody>
          <a:bodyPr wrap="square" lIns="0" tIns="0" rIns="0" bIns="0" rtlCol="0" anchor="ctr"/>
          <a:lstStyle/>
          <a:p>
            <a:pPr indent="0" marL="0">
              <a:buNone/>
            </a:pPr>
            <a:r>
              <a:rPr lang="en-US" sz="1100" i="1" dirty="0">
                <a:solidFill>
                  <a:srgbClr val="4B5563"/>
                </a:solidFill>
                <a:latin typeface="Arial" pitchFamily="34" charset="0"/>
                <a:ea typeface="Arial" pitchFamily="34" charset="-122"/>
                <a:cs typeface="Arial" pitchFamily="34" charset="-120"/>
              </a:rPr>
              <a:t>Refused at the desk: clinical words, instructions, more than six a day.</a:t>
            </a:r>
            <a:endParaRPr lang="en-US" sz="1100" dirty="0"/>
          </a:p>
        </p:txBody>
      </p:sp>
      <p:sp>
        <p:nvSpPr>
          <p:cNvPr id="13" name="Shape 11"/>
          <p:cNvSpPr/>
          <p:nvPr/>
        </p:nvSpPr>
        <p:spPr>
          <a:xfrm>
            <a:off x="4937760" y="1005840"/>
            <a:ext cx="3657600" cy="3566160"/>
          </a:xfrm>
          <a:prstGeom prst="roundRect">
            <a:avLst>
              <a:gd name="adj" fmla="val 3846"/>
            </a:avLst>
          </a:prstGeom>
          <a:solidFill>
            <a:srgbClr val="1E40AF"/>
          </a:solidFill>
          <a:ln w="12700">
            <a:solidFill>
              <a:srgbClr val="4B5563"/>
            </a:solidFill>
            <a:prstDash val="solid"/>
          </a:ln>
        </p:spPr>
      </p:sp>
      <p:sp>
        <p:nvSpPr>
          <p:cNvPr id="14" name="Text 12"/>
          <p:cNvSpPr txBox="1"/>
          <p:nvPr/>
        </p:nvSpPr>
        <p:spPr>
          <a:xfrm>
            <a:off x="5120640" y="1143000"/>
            <a:ext cx="3291840"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When something changes, explain the loop</a:t>
            </a:r>
            <a:endParaRPr lang="en-US" sz="1500" dirty="0"/>
          </a:p>
        </p:txBody>
      </p:sp>
      <p:sp>
        <p:nvSpPr>
          <p:cNvPr id="15" name="Text 13"/>
          <p:cNvSpPr txBox="1"/>
          <p:nvPr/>
        </p:nvSpPr>
        <p:spPr>
          <a:xfrm>
            <a:off x="5120640" y="1783080"/>
            <a:ext cx="3291840" cy="274320"/>
          </a:xfrm>
          <a:prstGeom prst="rect">
            <a:avLst/>
          </a:prstGeom>
          <a:noFill/>
          <a:ln/>
        </p:spPr>
        <p:txBody>
          <a:bodyPr wrap="square" lIns="0" tIns="0" rIns="0" bIns="0" rtlCol="0" anchor="ctr"/>
          <a:lstStyle/>
          <a:p>
            <a:pPr indent="0" marL="0">
              <a:buNone/>
            </a:pPr>
            <a:r>
              <a:rPr lang="en-US" sz="1100" b="1" dirty="0">
                <a:solidFill>
                  <a:srgbClr val="C7D2FE"/>
                </a:solidFill>
                <a:latin typeface="Arial" pitchFamily="34" charset="0"/>
                <a:ea typeface="Arial" pitchFamily="34" charset="-122"/>
                <a:cs typeface="Arial" pitchFamily="34" charset="-120"/>
              </a:rPr>
              <a:t>What changed</a:t>
            </a:r>
            <a:endParaRPr lang="en-US" sz="1100" dirty="0"/>
          </a:p>
        </p:txBody>
      </p:sp>
      <p:sp>
        <p:nvSpPr>
          <p:cNvPr id="16" name="Text 14"/>
          <p:cNvSpPr txBox="1"/>
          <p:nvPr/>
        </p:nvSpPr>
        <p:spPr>
          <a:xfrm>
            <a:off x="5120640" y="2057400"/>
            <a:ext cx="3291840" cy="45720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Her signature was slower and she paused longer.</a:t>
            </a:r>
            <a:endParaRPr lang="en-US" sz="1200" dirty="0"/>
          </a:p>
        </p:txBody>
      </p:sp>
      <p:sp>
        <p:nvSpPr>
          <p:cNvPr id="17" name="Text 15"/>
          <p:cNvSpPr txBox="1"/>
          <p:nvPr/>
        </p:nvSpPr>
        <p:spPr>
          <a:xfrm>
            <a:off x="5120640" y="2560320"/>
            <a:ext cx="3291840" cy="274320"/>
          </a:xfrm>
          <a:prstGeom prst="rect">
            <a:avLst/>
          </a:prstGeom>
          <a:noFill/>
          <a:ln/>
        </p:spPr>
        <p:txBody>
          <a:bodyPr wrap="square" lIns="0" tIns="0" rIns="0" bIns="0" rtlCol="0" anchor="ctr"/>
          <a:lstStyle/>
          <a:p>
            <a:pPr indent="0" marL="0">
              <a:buNone/>
            </a:pPr>
            <a:r>
              <a:rPr lang="en-US" sz="1100" b="1" dirty="0">
                <a:solidFill>
                  <a:srgbClr val="C7D2FE"/>
                </a:solidFill>
                <a:latin typeface="Arial" pitchFamily="34" charset="0"/>
                <a:ea typeface="Arial" pitchFamily="34" charset="-122"/>
                <a:cs typeface="Arial" pitchFamily="34" charset="-120"/>
              </a:rPr>
              <a:t>What it usually means</a:t>
            </a:r>
            <a:endParaRPr lang="en-US" sz="1100" dirty="0"/>
          </a:p>
        </p:txBody>
      </p:sp>
      <p:sp>
        <p:nvSpPr>
          <p:cNvPr id="18" name="Text 16"/>
          <p:cNvSpPr txBox="1"/>
          <p:nvPr/>
        </p:nvSpPr>
        <p:spPr>
          <a:xfrm>
            <a:off x="5120640" y="2834640"/>
            <a:ext cx="3291840" cy="45720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A change in attention can be the first sign of an infection or a new tablet.</a:t>
            </a:r>
            <a:endParaRPr lang="en-US" sz="1200" dirty="0"/>
          </a:p>
        </p:txBody>
      </p:sp>
      <p:sp>
        <p:nvSpPr>
          <p:cNvPr id="19" name="Text 17"/>
          <p:cNvSpPr txBox="1"/>
          <p:nvPr/>
        </p:nvSpPr>
        <p:spPr>
          <a:xfrm>
            <a:off x="5120640" y="3337560"/>
            <a:ext cx="3291840" cy="274320"/>
          </a:xfrm>
          <a:prstGeom prst="rect">
            <a:avLst/>
          </a:prstGeom>
          <a:noFill/>
          <a:ln/>
        </p:spPr>
        <p:txBody>
          <a:bodyPr wrap="square" lIns="0" tIns="0" rIns="0" bIns="0" rtlCol="0" anchor="ctr"/>
          <a:lstStyle/>
          <a:p>
            <a:pPr indent="0" marL="0">
              <a:buNone/>
            </a:pPr>
            <a:r>
              <a:rPr lang="en-US" sz="1100" b="1" dirty="0">
                <a:solidFill>
                  <a:srgbClr val="C7D2FE"/>
                </a:solidFill>
                <a:latin typeface="Arial" pitchFamily="34" charset="0"/>
                <a:ea typeface="Arial" pitchFamily="34" charset="-122"/>
                <a:cs typeface="Arial" pitchFamily="34" charset="-120"/>
              </a:rPr>
              <a:t>Who to call</a:t>
            </a:r>
            <a:endParaRPr lang="en-US" sz="1100" dirty="0"/>
          </a:p>
        </p:txBody>
      </p:sp>
      <p:sp>
        <p:nvSpPr>
          <p:cNvPr id="20" name="Text 18"/>
          <p:cNvSpPr txBox="1"/>
          <p:nvPr/>
        </p:nvSpPr>
        <p:spPr>
          <a:xfrm>
            <a:off x="5120640" y="3611880"/>
            <a:ext cx="3291840" cy="45720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The care line today. Not 911.</a:t>
            </a:r>
            <a:endParaRPr lang="en-US" sz="1200" dirty="0"/>
          </a:p>
        </p:txBody>
      </p:sp>
      <p:sp>
        <p:nvSpPr>
          <p:cNvPr id="21" name="Text 19"/>
          <p:cNvSpPr txBox="1"/>
          <p:nvPr/>
        </p:nvSpPr>
        <p:spPr>
          <a:xfrm>
            <a:off x="5120640" y="4114800"/>
            <a:ext cx="3291840" cy="411480"/>
          </a:xfrm>
          <a:prstGeom prst="rect">
            <a:avLst/>
          </a:prstGeom>
          <a:noFill/>
          <a:ln/>
        </p:spPr>
        <p:txBody>
          <a:bodyPr wrap="square" lIns="0" tIns="0" rIns="0" bIns="0" rtlCol="0" anchor="ctr"/>
          <a:lstStyle/>
          <a:p>
            <a:pPr indent="0" marL="0">
              <a:buNone/>
            </a:pPr>
            <a:r>
              <a:rPr lang="en-US" sz="950" i="1" dirty="0">
                <a:solidFill>
                  <a:srgbClr val="C7D2FE"/>
                </a:solidFill>
                <a:latin typeface="Arial" pitchFamily="34" charset="0"/>
                <a:ea typeface="Arial" pitchFamily="34" charset="-122"/>
                <a:cs typeface="Arial" pitchFamily="34" charset="-120"/>
              </a:rPr>
              <a:t>Design, not yet built. Decision support, never a diagnosis; a human on every flag.</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6400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What’s next</a:t>
            </a:r>
            <a:endParaRPr lang="en-US" sz="3600" dirty="0"/>
          </a:p>
        </p:txBody>
      </p:sp>
      <p:sp>
        <p:nvSpPr>
          <p:cNvPr id="3" name="Shape 1"/>
          <p:cNvSpPr/>
          <p:nvPr/>
        </p:nvSpPr>
        <p:spPr>
          <a:xfrm>
            <a:off x="548640" y="1325880"/>
            <a:ext cx="502920" cy="502920"/>
          </a:xfrm>
          <a:prstGeom prst="roundRect">
            <a:avLst>
              <a:gd name="adj" fmla="val 50909"/>
            </a:avLst>
          </a:prstGeom>
          <a:solidFill>
            <a:srgbClr val="1E40AF"/>
          </a:solidFill>
          <a:ln w="12700">
            <a:solidFill>
              <a:srgbClr val="4B5563"/>
            </a:solidFill>
            <a:prstDash val="solid"/>
          </a:ln>
        </p:spPr>
      </p:sp>
      <p:sp>
        <p:nvSpPr>
          <p:cNvPr id="4" name="Text 2"/>
          <p:cNvSpPr txBox="1"/>
          <p:nvPr/>
        </p:nvSpPr>
        <p:spPr>
          <a:xfrm>
            <a:off x="548640" y="13258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5" name="Text 3"/>
          <p:cNvSpPr txBox="1"/>
          <p:nvPr/>
        </p:nvSpPr>
        <p:spPr>
          <a:xfrm>
            <a:off x="1234440" y="1307592"/>
            <a:ext cx="438912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Data leaves the phone</a:t>
            </a:r>
            <a:endParaRPr lang="en-US" sz="1600" dirty="0"/>
          </a:p>
        </p:txBody>
      </p:sp>
      <p:sp>
        <p:nvSpPr>
          <p:cNvPr id="6" name="Text 4"/>
          <p:cNvSpPr txBox="1"/>
          <p:nvPr/>
        </p:nvSpPr>
        <p:spPr>
          <a:xfrm>
            <a:off x="1234440" y="1627632"/>
            <a:ext cx="4389120" cy="457200"/>
          </a:xfrm>
          <a:prstGeom prst="rect">
            <a:avLst/>
          </a:prstGeom>
          <a:noFill/>
          <a:ln/>
        </p:spPr>
        <p:txBody>
          <a:bodyPr wrap="square" lIns="0" tIns="0" rIns="0" bIns="0" rtlCol="0" anchor="ctr"/>
          <a:lstStyle/>
          <a:p>
            <a:pPr indent="0" marL="0">
              <a:buNone/>
            </a:pPr>
            <a:r>
              <a:rPr lang="en-US" sz="1200" dirty="0">
                <a:solidFill>
                  <a:srgbClr val="C7D2FE"/>
                </a:solidFill>
                <a:latin typeface="Arial" pitchFamily="34" charset="0"/>
                <a:ea typeface="Arial" pitchFamily="34" charset="-122"/>
                <a:cs typeface="Arial" pitchFamily="34" charset="-120"/>
              </a:rPr>
              <a:t>One process, one file: events, baselines, a family link.</a:t>
            </a:r>
            <a:endParaRPr lang="en-US" sz="1200" dirty="0"/>
          </a:p>
        </p:txBody>
      </p:sp>
      <p:sp>
        <p:nvSpPr>
          <p:cNvPr id="7" name="Shape 5"/>
          <p:cNvSpPr/>
          <p:nvPr/>
        </p:nvSpPr>
        <p:spPr>
          <a:xfrm>
            <a:off x="548640" y="2240280"/>
            <a:ext cx="502920" cy="502920"/>
          </a:xfrm>
          <a:prstGeom prst="roundRect">
            <a:avLst>
              <a:gd name="adj" fmla="val 50909"/>
            </a:avLst>
          </a:prstGeom>
          <a:solidFill>
            <a:srgbClr val="1E40AF"/>
          </a:solidFill>
          <a:ln w="12700">
            <a:solidFill>
              <a:srgbClr val="4B5563"/>
            </a:solidFill>
            <a:prstDash val="solid"/>
          </a:ln>
        </p:spPr>
      </p:sp>
      <p:sp>
        <p:nvSpPr>
          <p:cNvPr id="8" name="Text 6"/>
          <p:cNvSpPr txBox="1"/>
          <p:nvPr/>
        </p:nvSpPr>
        <p:spPr>
          <a:xfrm>
            <a:off x="548640" y="22402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9" name="Text 7"/>
          <p:cNvSpPr txBox="1"/>
          <p:nvPr/>
        </p:nvSpPr>
        <p:spPr>
          <a:xfrm>
            <a:off x="1234440" y="2221992"/>
            <a:ext cx="438912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Three real people, three days</a:t>
            </a:r>
            <a:endParaRPr lang="en-US" sz="1600" dirty="0"/>
          </a:p>
        </p:txBody>
      </p:sp>
      <p:sp>
        <p:nvSpPr>
          <p:cNvPr id="10" name="Text 8"/>
          <p:cNvSpPr txBox="1"/>
          <p:nvPr/>
        </p:nvSpPr>
        <p:spPr>
          <a:xfrm>
            <a:off x="1234440" y="2542032"/>
            <a:ext cx="4389120" cy="457200"/>
          </a:xfrm>
          <a:prstGeom prst="rect">
            <a:avLst/>
          </a:prstGeom>
          <a:noFill/>
          <a:ln/>
        </p:spPr>
        <p:txBody>
          <a:bodyPr wrap="square" lIns="0" tIns="0" rIns="0" bIns="0" rtlCol="0" anchor="ctr"/>
          <a:lstStyle/>
          <a:p>
            <a:pPr indent="0" marL="0">
              <a:buNone/>
            </a:pPr>
            <a:r>
              <a:rPr lang="en-US" sz="1200" dirty="0">
                <a:solidFill>
                  <a:srgbClr val="C7D2FE"/>
                </a:solidFill>
                <a:latin typeface="Arial" pitchFamily="34" charset="0"/>
                <a:ea typeface="Arial" pitchFamily="34" charset="-122"/>
                <a:cs typeface="Arial" pitchFamily="34" charset="-120"/>
              </a:rPr>
              <a:t>Does a finger signature hold a baseline? Does the doodle beat the check-in?</a:t>
            </a:r>
            <a:endParaRPr lang="en-US" sz="1200" dirty="0"/>
          </a:p>
        </p:txBody>
      </p:sp>
      <p:sp>
        <p:nvSpPr>
          <p:cNvPr id="11" name="Shape 9"/>
          <p:cNvSpPr/>
          <p:nvPr/>
        </p:nvSpPr>
        <p:spPr>
          <a:xfrm>
            <a:off x="548640" y="3154680"/>
            <a:ext cx="502920" cy="502920"/>
          </a:xfrm>
          <a:prstGeom prst="roundRect">
            <a:avLst>
              <a:gd name="adj" fmla="val 50909"/>
            </a:avLst>
          </a:prstGeom>
          <a:solidFill>
            <a:srgbClr val="1E40AF"/>
          </a:solidFill>
          <a:ln w="12700">
            <a:solidFill>
              <a:srgbClr val="4B5563"/>
            </a:solidFill>
            <a:prstDash val="solid"/>
          </a:ln>
        </p:spPr>
      </p:sp>
      <p:sp>
        <p:nvSpPr>
          <p:cNvPr id="12" name="Text 10"/>
          <p:cNvSpPr txBox="1"/>
          <p:nvPr/>
        </p:nvSpPr>
        <p:spPr>
          <a:xfrm>
            <a:off x="548640" y="31546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3" name="Text 11"/>
          <p:cNvSpPr txBox="1"/>
          <p:nvPr/>
        </p:nvSpPr>
        <p:spPr>
          <a:xfrm>
            <a:off x="1234440" y="3136392"/>
            <a:ext cx="438912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The explanation layer</a:t>
            </a:r>
            <a:endParaRPr lang="en-US" sz="1600" dirty="0"/>
          </a:p>
        </p:txBody>
      </p:sp>
      <p:sp>
        <p:nvSpPr>
          <p:cNvPr id="14" name="Text 12"/>
          <p:cNvSpPr txBox="1"/>
          <p:nvPr/>
        </p:nvSpPr>
        <p:spPr>
          <a:xfrm>
            <a:off x="1234440" y="3456432"/>
            <a:ext cx="4389120" cy="457200"/>
          </a:xfrm>
          <a:prstGeom prst="rect">
            <a:avLst/>
          </a:prstGeom>
          <a:noFill/>
          <a:ln/>
        </p:spPr>
        <p:txBody>
          <a:bodyPr wrap="square" lIns="0" tIns="0" rIns="0" bIns="0" rtlCol="0" anchor="ctr"/>
          <a:lstStyle/>
          <a:p>
            <a:pPr indent="0" marL="0">
              <a:buNone/>
            </a:pPr>
            <a:r>
              <a:rPr lang="en-US" sz="1200" dirty="0">
                <a:solidFill>
                  <a:srgbClr val="C7D2FE"/>
                </a:solidFill>
                <a:latin typeface="Arial" pitchFamily="34" charset="0"/>
                <a:ea typeface="Arial" pitchFamily="34" charset="-122"/>
                <a:cs typeface="Arial" pitchFamily="34" charset="-120"/>
              </a:rPr>
              <a:t>A flag opens what changed, what it means, who to call.</a:t>
            </a:r>
            <a:endParaRPr lang="en-US" sz="1200" dirty="0"/>
          </a:p>
        </p:txBody>
      </p:sp>
      <p:sp>
        <p:nvSpPr>
          <p:cNvPr id="15" name="Text 13"/>
          <p:cNvSpPr txBox="1"/>
          <p:nvPr/>
        </p:nvSpPr>
        <p:spPr>
          <a:xfrm>
            <a:off x="548640" y="4114800"/>
            <a:ext cx="5303520" cy="731520"/>
          </a:xfrm>
          <a:prstGeom prst="rect">
            <a:avLst/>
          </a:prstGeom>
          <a:noFill/>
          <a:ln/>
        </p:spPr>
        <p:txBody>
          <a:bodyPr wrap="square" lIns="0" tIns="0" rIns="0" bIns="0" rtlCol="0" anchor="ctr"/>
          <a:lstStyle/>
          <a:p>
            <a:pPr indent="0" marL="0">
              <a:buNone/>
            </a:pPr>
            <a:r>
              <a:rPr lang="en-US" sz="1100" dirty="0">
                <a:solidFill>
                  <a:srgbClr val="9CA3AF"/>
                </a:solidFill>
                <a:latin typeface="Arial" pitchFamily="34" charset="0"/>
                <a:ea typeface="Arial" pitchFamily="34" charset="-122"/>
                <a:cs typeface="Arial" pitchFamily="34" charset="-120"/>
              </a:rPr>
              <a:t>How it was built: nine design docs, a component kit that bakes in the 80+ criteria, a critic that audits every screen, and Claude for the research, the reading of replies, and the code.</a:t>
            </a:r>
            <a:endParaRPr lang="en-US" sz="1100" dirty="0"/>
          </a:p>
        </p:txBody>
      </p:sp>
      <p:pic>
        <p:nvPicPr>
          <p:cNvPr id="16" name="Image 0" descr="../shots/doodle-half-a-house-white.png">    </p:cNvPr>
          <p:cNvPicPr>
            <a:picLocks noChangeAspect="1"/>
          </p:cNvPicPr>
          <p:nvPr/>
        </p:nvPicPr>
        <p:blipFill>
          <a:blip r:embed="rId1"/>
          <a:stretch>
            <a:fillRect/>
          </a:stretch>
        </p:blipFill>
        <p:spPr>
          <a:xfrm>
            <a:off x="6035040" y="457200"/>
            <a:ext cx="1463040" cy="1463040"/>
          </a:xfrm>
          <a:prstGeom prst="rect">
            <a:avLst/>
          </a:prstGeom>
        </p:spPr>
      </p:pic>
      <p:pic>
        <p:nvPicPr>
          <p:cNvPr id="17" name="Image 1" descr="../shots/doodle-cat-with-no-face-white.png">    </p:cNvPr>
          <p:cNvPicPr>
            <a:picLocks noChangeAspect="1"/>
          </p:cNvPicPr>
          <p:nvPr/>
        </p:nvPicPr>
        <p:blipFill>
          <a:blip r:embed="rId2"/>
          <a:stretch>
            <a:fillRect/>
          </a:stretch>
        </p:blipFill>
        <p:spPr>
          <a:xfrm>
            <a:off x="7315200" y="1554480"/>
            <a:ext cx="1463040" cy="1463040"/>
          </a:xfrm>
          <a:prstGeom prst="rect">
            <a:avLst/>
          </a:prstGeom>
        </p:spPr>
      </p:pic>
      <p:pic>
        <p:nvPicPr>
          <p:cNvPr id="18" name="Image 2" descr="../shots/doodle-flower-with-no-petals-white.png">    </p:cNvPr>
          <p:cNvPicPr>
            <a:picLocks noChangeAspect="1"/>
          </p:cNvPicPr>
          <p:nvPr/>
        </p:nvPicPr>
        <p:blipFill>
          <a:blip r:embed="rId3"/>
          <a:stretch>
            <a:fillRect/>
          </a:stretch>
        </p:blipFill>
        <p:spPr>
          <a:xfrm>
            <a:off x="6035040" y="2651760"/>
            <a:ext cx="1463040" cy="1463040"/>
          </a:xfrm>
          <a:prstGeom prst="rect">
            <a:avLst/>
          </a:prstGeom>
        </p:spPr>
      </p:pic>
      <p:sp>
        <p:nvSpPr>
          <p:cNvPr id="19" name="Text 14"/>
          <p:cNvSpPr txBox="1"/>
          <p:nvPr/>
        </p:nvSpPr>
        <p:spPr>
          <a:xfrm>
            <a:off x="6035040" y="4343400"/>
            <a:ext cx="2743200" cy="365760"/>
          </a:xfrm>
          <a:prstGeom prst="rect">
            <a:avLst/>
          </a:prstGeom>
          <a:noFill/>
          <a:ln/>
        </p:spPr>
        <p:txBody>
          <a:bodyPr wrap="square" lIns="0" tIns="0" rIns="0" bIns="0" rtlCol="0" anchor="ctr"/>
          <a:lstStyle/>
          <a:p>
            <a:pPr indent="0" marL="0">
              <a:buNone/>
            </a:pPr>
            <a:r>
              <a:rPr lang="en-US" sz="1000" i="1" dirty="0">
                <a:solidFill>
                  <a:srgbClr val="9CA3AF"/>
                </a:solidFill>
                <a:latin typeface="Arial" pitchFamily="34" charset="0"/>
                <a:ea typeface="Arial" pitchFamily="34" charset="-122"/>
                <a:cs typeface="Arial" pitchFamily="34" charset="-120"/>
              </a:rPr>
              <a:t>Synthetic people only. Not a medical device.</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ernie: a daily visit</dc:title>
  <dc:subject>PptxGenJS Presentation</dc:subject>
  <dc:creator>Christopher Pluntke</dc:creator>
  <cp:lastModifiedBy>Christopher Pluntke</cp:lastModifiedBy>
  <cp:revision>1</cp:revision>
  <dcterms:created xsi:type="dcterms:W3CDTF">2026-09-17T03:58:02Z</dcterms:created>
  <dcterms:modified xsi:type="dcterms:W3CDTF">2026-09-17T03:58:02Z</dcterms:modified>
</cp:coreProperties>
</file>